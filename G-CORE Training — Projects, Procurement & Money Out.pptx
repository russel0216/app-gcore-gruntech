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87858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Yesterday’s group was Sales; today is for everyone who runs a project after the sale: project engineers, technical managers, team leaders, procurement, warehouse, back support and finance. This morning we walk through every screen you will use; this afternoon you create a project end to end and we deploy it for real.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to the clock: Project Management is the longest block at 55 minutes because it is where most of today’s people work. Questions that take more than two minutes go to the parking lot and are answered in the afternoon lab. The morning has no slack: if a block runs over, skip its “On screen” slides and show the screen live instead.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idea to leave with: nobody types a budget figure by hand. Documents move money. When something looks wrong on Budget Monitoring, find the document that posted 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block. If people already sat through the sales training, go faster here and spend the saved minutes on Project Management.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live: open Projects, flip Mine/All, add a filter, show the chip, open the ⋯ menu, Save view as opening view. Then open any record and point at the button order. Show Ctrl+K.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screen from G-CORE. Point at each numbered item, then switch to the browser and do it for real.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approvals route to ROLES and to “Reports to”. If a document says it cannot be sent because nobody holds a step, it is an admin setup issue, not a bug. Stand-ins: a manager may approve for someone who reports to them, from the document page.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screen from G-CORE. Point at each numbered item, then switch to the browser and do it for real.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longest block. Order: the flow, costing, job order, the project and its tabs, scope of work, Request for Approval, accomplishment report, billing.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Purple steps happen before the project exists; green steps happen inside the project page. Everything after step 3 is a tab on the project.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 New costing, show the preloaded scope, add three lines, type a supplier, set a start date and watch the finish date, set the grand total. Submit and show the route preview with names.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screen from G-CORE. Point at each numbered item, then switch to the browser and do it for real.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question: “why was no project built?” — the quotation has no final costing behind it. The approval still stands; the requester is told why, and the project can be built by hand from Projects. In the form, the Project manager field takes the Technical Manager — at Gruntech they are the same person.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screen from G-CORE. Point at each numbered item, then switch to the browser and do it for real.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a real project and click through each tab as you read the row. Point out the Available figure on Budget Monitoring — a purchase requisition over it is blocked at submit.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screen from G-CORE. Point at each numbered item, then switch to the browser and do it for real.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Weights say how much of the phase a task is. Delivering the pumps is twice the effort of delivering the manifold, so it carries weight 2. If nobody sets weights, every task counts the same.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screen from G-CORE. Point at each numbered item, then switch to the browser and do it for real.</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RFA amount is the project’s contract value, so a project over one million goes to the CEO too. A request cannot be submitted without a file attached.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screen from G-CORE. Point at each numbered item, then switch to the browser and do it for real.</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the report page: the weighted table, “Use it” from the tasks, + Add day, attach two pictures, Modify the narrative, then Print to show the paper. Only one report may be open at a time per project.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screen from G-CORE. Point at each numbered item, then switch to the browser and do it for real.</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EWT is withheld by the customer at source; the net collectible is what we expect in the bank. A/R never reports the withheld 2% as overdue.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screen from G-CORE. Point at each numbered item, then switch to the browser and do it for real.</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Kick-off, site coordination and progress meetings all live here, linked to the project.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from a project’s Meetings &amp; Records tab: + New meeting pre-links the project. Invite two trainees, send invitations, and have them answer Going on their phones.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screen from G-CORE. Point at each numbered item, then switch to the browser and do it for real.</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an approval route: the minutes are a record signed by the people who were there. Use it for kick-off and site coordination meetings so disputes later can be traced to what was agreed.</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screen from G-CORE. Point at each numbered item, then switch to the browser and do it for real.</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Halfway point: the clock should read 10:35. If Project Management ran long, shorten the warehouse slides.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strips in G-CHAIN. Procurement buys; the warehouse receives, keeps and releases.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rule procurement must not break: the two purchase kinds stay separate, or a project is charged twice for the same material.</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from the project tab, Add from costing, untick two lines, change a quantity and watch the budget panel. Submit to show the route.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screen from G-CORE. Point at each numbered item, then switch to the browser and do it for real.</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Printed only, no email. A partial quote says “n of m lines” and is never called the lowest complete quote. After the award, “Raise order” takes only the lines the winner quoted.</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screen from G-CORE. Point at each numbered item, then switch to the browser and do it for real.</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RECEIVED goods count anywhere money looks: a supplier bill is matched to a received report only.</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screen from G-CORE. Point at each numbered item, then switch to the browser and do it for real.</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screen from G-CORE. Point at each numbered item, then switch to the browser and do it for real.</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Borrowing never charges the project: the item leaves “available” but stays owned. A pull-out from a PR reduces what is left to order, so the project takes from the shelf instead of buying.</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screen from G-CORE. Point at each numbered item, then switch to the browser and do it for real.</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screen from G-CORE. Point at each numbered item, then switch to the browser and do it for real.</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three minutes. The point: nobody keeps a spreadsheet beside G-CORE any more.</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screen from G-CORE. Point at each numbered item, then switch to the browser and do it for real.</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project team: how to get cash and account for it. For finance: how to release, check and close.</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for an example of each before showing the answer. Most confusion is between a budget request and a purchase requisition.</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Finance’s register: cards for the sum requested, approved funds, pending approval and to release. Each card opens the list it counts.</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screen from G-CORE. Point at each numbered item, then switch to the browser and do it for real.</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liquidation goes through the reimbursement route (next slide). The Budget Liquidations register shows overdue ones; chase those first.</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screen from G-CORE. Point at each numbered item, then switch to the browser and do it for real.</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five steps for every reimbursement and every budget liquidation, and for cash advances. Someone who holds two steps signs both with one Approve.</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screen from G-CORE. Point at each numbered item, then switch to the browser and do it for real.</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Older advances raised before the change keep their liquidation. Every new one is a loan.</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screen from G-CORE. Point at each numbered item, then switch to the browser and do it for real.</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Manager and Back Support are team-scoped: the one on the preparer’s own team is asked. Team Leader is the preparer’s “Reports to”, else a Team Leader on their team. The Project Manager is the Technical Manager: pick the Technical Manager in a job order’s Project manager field.</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 runs the workflow audit after setting roles; it lists every step nobody holds. Fix those before the afternoon lab, or trainees’ documents will refuse to submit.</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the project before the session: a real, small, newly won job so the data entered stays useful. [Project name / quotation number]</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1 45 min, round 2 30 min, round 3 50 min, round 4 40 min, wrap-up and go-live 15 min — 1:00 to 4:00. Round 3 is the longest because three people hand the purchase on.</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 this slide for each table. The last check, Budget Monitoring, should show the PO committed, the receipt incurred and the liquidation incurred — the whole morning in one screen.</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Agree the cut-over date in the room: [date]. From then, a document that is not in G-CORE did not happen.</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 the parking-lot questions; answer them at the start of the afternoon.</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screen from G-CORE. Point at each numbered item, then switch to the browser and do it for real.</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screen from G-CORE. Point at each numbered item, then switch to the browser and do it for real.</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70"/>
            <a:ext cx="10566400" cy="438150"/>
          </a:xfrm>
          <a:prstGeom prst="rect">
            <a:avLst/>
          </a:prstGeom>
          <a:noFill/>
          <a:ln/>
        </p:spPr>
        <p:txBody>
          <a:bodyPr wrap="square" lIns="0" tIns="0" rIns="0" bIns="0" rtlCol="0" anchor="t"/>
          <a:lstStyle>
            <a:lvl1pPr marL="0" indent="0" algn="l">
              <a:lnSpc>
                <a:spcPct val="115000"/>
              </a:lnSpc>
              <a:buNone/>
              <a:defRPr lang="en-US" sz="3000" dirty="0">
                <a:solidFill>
                  <a:srgbClr val="1B2238"/>
                </a:solidFill>
                <a:latin typeface="Domine" pitchFamily="34" charset="0"/>
                <a:ea typeface="Domine" pitchFamily="34" charset="-122"/>
                <a:cs typeface="Domine"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870720"/>
            <a:ext cx="10566400" cy="4174480"/>
          </a:xfrm>
          <a:prstGeom prst="rect">
            <a:avLst/>
          </a:prstGeom>
          <a:noFill/>
          <a:ln/>
        </p:spPr>
        <p:txBody>
          <a:bodyPr wrap="square" lIns="0" tIns="0" rIns="0" bIns="0" rtlCol="0" anchor="t"/>
          <a:lstStyle>
            <a:lvl1pPr marL="0" indent="0" algn="l">
              <a:lnSpc>
                <a:spcPct val="140000"/>
              </a:lnSpc>
              <a:buNone/>
              <a:defRPr lang="en-US" sz="1600" dirty="0">
                <a:solidFill>
                  <a:srgbClr val="1B2238"/>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70"/>
            <a:ext cx="10566400" cy="438150"/>
          </a:xfrm>
          <a:prstGeom prst="rect">
            <a:avLst/>
          </a:prstGeom>
          <a:noFill/>
          <a:ln/>
        </p:spPr>
        <p:txBody>
          <a:bodyPr wrap="square" lIns="0" tIns="0" rIns="0" bIns="0" rtlCol="0" anchor="t"/>
          <a:lstStyle>
            <a:lvl1pPr marL="0" indent="0" algn="l">
              <a:lnSpc>
                <a:spcPct val="115000"/>
              </a:lnSpc>
              <a:buNone/>
              <a:defRPr lang="en-US" sz="3000" dirty="0">
                <a:solidFill>
                  <a:srgbClr val="1B2238"/>
                </a:solidFill>
                <a:latin typeface="Domine" pitchFamily="34" charset="0"/>
                <a:ea typeface="Domine" pitchFamily="34" charset="-122"/>
                <a:cs typeface="Domine"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870720"/>
            <a:ext cx="10566400" cy="4174480"/>
          </a:xfrm>
          <a:prstGeom prst="rect">
            <a:avLst/>
          </a:prstGeom>
          <a:noFill/>
          <a:ln/>
        </p:spPr>
        <p:txBody>
          <a:bodyPr wrap="square" lIns="0" tIns="0" rIns="0" bIns="0" rtlCol="0" anchor="t"/>
          <a:lstStyle>
            <a:lvl1pPr marL="0" indent="0" algn="l">
              <a:lnSpc>
                <a:spcPct val="140000"/>
              </a:lnSpc>
              <a:buNone/>
              <a:defRPr lang="en-US" sz="1600" dirty="0">
                <a:solidFill>
                  <a:srgbClr val="1B2238"/>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0.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238"/>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2E9A4B"/>
          </a:solidFill>
          <a:ln/>
        </p:spPr>
      </p:sp>
      <p:sp>
        <p:nvSpPr>
          <p:cNvPr id="3" name="Text 1"/>
          <p:cNvSpPr/>
          <p:nvPr/>
        </p:nvSpPr>
        <p:spPr>
          <a:xfrm>
            <a:off x="812800" y="1689656"/>
            <a:ext cx="10883392" cy="274320"/>
          </a:xfrm>
          <a:prstGeom prst="rect">
            <a:avLst/>
          </a:prstGeom>
          <a:noFill/>
          <a:ln/>
        </p:spPr>
        <p:txBody>
          <a:bodyPr wrap="square" lIns="0" tIns="0" rIns="0" bIns="0" rtlCol="0" anchor="t">
            <a:normAutofit/>
          </a:bodyPr>
          <a:lstStyle/>
          <a:p>
            <a:pPr marL="0" indent="0" algn="l">
              <a:lnSpc>
                <a:spcPts val="1960"/>
              </a:lnSpc>
              <a:buNone/>
            </a:pPr>
            <a:r>
              <a:rPr lang="en-US" sz="1400" kern="0" spc="200" dirty="0">
                <a:solidFill>
                  <a:srgbClr val="9FD3AE"/>
                </a:solidFill>
                <a:latin typeface="DM Sans" pitchFamily="34" charset="0"/>
                <a:ea typeface="DM Sans" pitchFamily="34" charset="-122"/>
                <a:cs typeface="DM Sans" pitchFamily="34" charset="-120"/>
              </a:rPr>
              <a:t>G-CORE · GRUNTECHNOLOGY CORP · TRAINING DAY 2</a:t>
            </a:r>
            <a:endParaRPr lang="en-US" sz="1400" dirty="0"/>
          </a:p>
        </p:txBody>
      </p:sp>
      <p:sp>
        <p:nvSpPr>
          <p:cNvPr id="4" name="Text 2"/>
          <p:cNvSpPr>
            <a:spLocks noGrp="1"/>
          </p:cNvSpPr>
          <p:nvPr>
            <p:ph type="title"/>
          </p:nvPr>
        </p:nvSpPr>
        <p:spPr>
          <a:xfrm>
            <a:off x="812800" y="2192576"/>
            <a:ext cx="10883392" cy="1451769"/>
          </a:xfrm>
          <a:prstGeom prst="rect">
            <a:avLst/>
          </a:prstGeom>
          <a:noFill/>
          <a:ln/>
        </p:spPr>
        <p:txBody>
          <a:bodyPr wrap="square" lIns="0" tIns="0" rIns="0" bIns="0" rtlCol="0" anchor="t">
            <a:normAutofit/>
          </a:bodyPr>
          <a:lstStyle/>
          <a:p>
            <a:pPr marL="0" indent="0" algn="l">
              <a:lnSpc>
                <a:spcPts val="5616"/>
              </a:lnSpc>
              <a:buNone/>
            </a:pPr>
            <a:r>
              <a:rPr lang="en-US" sz="5200" b="1" i="0" dirty="0">
                <a:solidFill>
                  <a:srgbClr val="F7F5F0"/>
                </a:solidFill>
                <a:latin typeface="Domine" pitchFamily="18" charset="0"/>
                <a:ea typeface="Domine" pitchFamily="18" charset="-122"/>
                <a:cs typeface="Domine" pitchFamily="18" charset="-120"/>
              </a:rPr>
              <a:t>Projects, Procurement</a:t>
            </a:r>
            <a:endParaRPr lang="en-US" sz="5200" dirty="0"/>
          </a:p>
          <a:p>
            <a:pPr marL="0" indent="0" algn="l">
              <a:lnSpc>
                <a:spcPts val="5616"/>
              </a:lnSpc>
              <a:buNone/>
            </a:pPr>
            <a:r>
              <a:rPr lang="en-US" sz="5200" b="1" i="0" dirty="0">
                <a:solidFill>
                  <a:srgbClr val="F7F5F0"/>
                </a:solidFill>
                <a:latin typeface="Domine" pitchFamily="18" charset="0"/>
                <a:ea typeface="Domine" pitchFamily="18" charset="-122"/>
                <a:cs typeface="Domine" pitchFamily="18" charset="-120"/>
              </a:rPr>
              <a:t>&amp; Money Out</a:t>
            </a:r>
            <a:endParaRPr lang="en-US" sz="5200" dirty="0"/>
          </a:p>
        </p:txBody>
      </p:sp>
      <p:sp>
        <p:nvSpPr>
          <p:cNvPr id="5" name="Text 3"/>
          <p:cNvSpPr/>
          <p:nvPr/>
        </p:nvSpPr>
        <p:spPr>
          <a:xfrm>
            <a:off x="812800" y="3872945"/>
            <a:ext cx="8502650" cy="6654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C9CEDB"/>
                </a:solidFill>
                <a:latin typeface="DM Sans" pitchFamily="34" charset="0"/>
                <a:ea typeface="DM Sans" pitchFamily="34" charset="-122"/>
                <a:cs typeface="DM Sans" pitchFamily="34" charset="-120"/>
              </a:rPr>
              <a:t>Project Management · Meetings &amp; Minutes · G-CHAIN Procurement · G-FIN Budget Requests, Liquidations &amp; Reimbursements</a:t>
            </a:r>
            <a:endParaRPr lang="en-US" sz="1800" dirty="0"/>
          </a:p>
        </p:txBody>
      </p:sp>
      <p:sp>
        <p:nvSpPr>
          <p:cNvPr id="6" name="Text 4"/>
          <p:cNvSpPr/>
          <p:nvPr/>
        </p:nvSpPr>
        <p:spPr>
          <a:xfrm>
            <a:off x="812800" y="4767025"/>
            <a:ext cx="2402443" cy="401320"/>
          </a:xfrm>
          <a:prstGeom prst="roundRect">
            <a:avLst>
              <a:gd name="adj" fmla="val 50000"/>
            </a:avLst>
          </a:prstGeom>
          <a:solidFill>
            <a:srgbClr val="5B2A8C"/>
          </a:solidFill>
          <a:ln/>
        </p:spPr>
        <p:txBody>
          <a:bodyPr wrap="none" lIns="0" tIns="0" rIns="0" bIns="0" rtlCol="0" anchor="ctr">
            <a:normAutofit/>
          </a:bodyPr>
          <a:lstStyle/>
          <a:p>
            <a:pPr marL="0" indent="0" algn="ctr">
              <a:lnSpc>
                <a:spcPts val="1960"/>
              </a:lnSpc>
              <a:buNone/>
            </a:pPr>
            <a:r>
              <a:rPr lang="en-US" sz="1400" dirty="0">
                <a:solidFill>
                  <a:srgbClr val="F7F5F0"/>
                </a:solidFill>
                <a:latin typeface="DM Sans" pitchFamily="34" charset="0"/>
                <a:ea typeface="DM Sans" pitchFamily="34" charset="-122"/>
                <a:cs typeface="DM Sans" pitchFamily="34" charset="-120"/>
              </a:rPr>
              <a:t>9:00 – 12:00 · discussion</a:t>
            </a:r>
            <a:endParaRPr lang="en-US" sz="1400" dirty="0"/>
          </a:p>
        </p:txBody>
      </p:sp>
      <p:sp>
        <p:nvSpPr>
          <p:cNvPr id="7" name="Text 5"/>
          <p:cNvSpPr/>
          <p:nvPr/>
        </p:nvSpPr>
        <p:spPr>
          <a:xfrm>
            <a:off x="3367643" y="4767025"/>
            <a:ext cx="2958306" cy="401320"/>
          </a:xfrm>
          <a:prstGeom prst="roundRect">
            <a:avLst>
              <a:gd name="adj" fmla="val 50000"/>
            </a:avLst>
          </a:prstGeom>
          <a:solidFill>
            <a:srgbClr val="2E9A4B"/>
          </a:solidFill>
          <a:ln/>
        </p:spPr>
        <p:txBody>
          <a:bodyPr wrap="none" lIns="0" tIns="0" rIns="0" bIns="0" rtlCol="0" anchor="ctr">
            <a:normAutofit/>
          </a:bodyPr>
          <a:lstStyle/>
          <a:p>
            <a:pPr marL="0" indent="0" algn="ctr">
              <a:lnSpc>
                <a:spcPts val="1960"/>
              </a:lnSpc>
              <a:buNone/>
            </a:pPr>
            <a:r>
              <a:rPr lang="en-US" sz="1400" dirty="0">
                <a:solidFill>
                  <a:srgbClr val="F7F5F0"/>
                </a:solidFill>
                <a:latin typeface="DM Sans" pitchFamily="34" charset="0"/>
                <a:ea typeface="DM Sans" pitchFamily="34" charset="-122"/>
                <a:cs typeface="DM Sans" pitchFamily="34" charset="-120"/>
              </a:rPr>
              <a:t>1:00 – 4:00 · build a real project</a:t>
            </a:r>
            <a:endParaRPr lang="en-US" sz="1400" dirty="0"/>
          </a:p>
        </p:txBody>
      </p:sp>
      <p:sp>
        <p:nvSpPr>
          <p:cNvPr id="8" name="Text 6"/>
          <p:cNvSpPr/>
          <p:nvPr/>
        </p:nvSpPr>
        <p:spPr>
          <a:xfrm>
            <a:off x="812800" y="623824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3B8"/>
                </a:solidFill>
                <a:latin typeface="DM Sans" pitchFamily="34" charset="0"/>
                <a:ea typeface="DM Sans" pitchFamily="34" charset="-122"/>
                <a:cs typeface="DM Sans" pitchFamily="34" charset="-120"/>
              </a:rPr>
              <a:t>October 15, 2026 · </a:t>
            </a:r>
            <a:r>
              <a:rPr lang="en-US" sz="1200" dirty="0" err="1">
                <a:solidFill>
                  <a:srgbClr val="9AA3B8"/>
                </a:solidFill>
                <a:latin typeface="DM Sans" pitchFamily="34" charset="0"/>
                <a:ea typeface="DM Sans" pitchFamily="34" charset="-122"/>
                <a:cs typeface="DM Sans" pitchFamily="34" charset="-120"/>
              </a:rPr>
              <a:t>Gruntech</a:t>
            </a:r>
            <a:r>
              <a:rPr lang="en-US" sz="1200" dirty="0">
                <a:solidFill>
                  <a:srgbClr val="9AA3B8"/>
                </a:solidFill>
                <a:latin typeface="DM Sans" pitchFamily="34" charset="0"/>
                <a:ea typeface="DM Sans" pitchFamily="34" charset="-122"/>
                <a:cs typeface="DM Sans" pitchFamily="34" charset="-120"/>
              </a:rPr>
              <a:t> Academy · Trainer: Jhon </a:t>
            </a:r>
            <a:r>
              <a:rPr lang="en-US" sz="1200">
                <a:solidFill>
                  <a:srgbClr val="9AA3B8"/>
                </a:solidFill>
                <a:latin typeface="DM Sans" pitchFamily="34" charset="0"/>
                <a:ea typeface="DM Sans" pitchFamily="34" charset="-122"/>
                <a:cs typeface="DM Sans" pitchFamily="34" charset="-120"/>
              </a:rPr>
              <a:t>Russel Balicas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B2A8C"/>
                </a:solidFill>
                <a:latin typeface="DM Sans" pitchFamily="34" charset="0"/>
                <a:ea typeface="DM Sans" pitchFamily="34" charset="-122"/>
                <a:cs typeface="DM Sans" pitchFamily="34" charset="-120"/>
              </a:rPr>
              <a:t>THE DAY · 9:00 AM – 4:00 PM</a:t>
            </a:r>
            <a:endParaRPr lang="en-US" sz="1200" dirty="0"/>
          </a:p>
        </p:txBody>
      </p:sp>
      <p:sp>
        <p:nvSpPr>
          <p:cNvPr id="3" name="Text 1"/>
          <p:cNvSpPr>
            <a:spLocks noGrp="1"/>
          </p:cNvSpPr>
          <p:nvPr>
            <p:ph type="title"/>
          </p:nvPr>
        </p:nvSpPr>
        <p:spPr>
          <a:xfrm>
            <a:off x="812800" y="112776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B2238"/>
                </a:solidFill>
                <a:latin typeface="Domine" pitchFamily="18" charset="0"/>
                <a:ea typeface="Domine" pitchFamily="18" charset="-122"/>
                <a:cs typeface="Domine" pitchFamily="18" charset="-120"/>
              </a:rPr>
              <a:t>Today’s plan, block by block</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779270"/>
          <a:ext cx="10556240" cy="3925570"/>
        </p:xfrm>
        <a:graphic>
          <a:graphicData uri="http://schemas.openxmlformats.org/drawingml/2006/table">
            <a:tbl>
              <a:tblPr/>
              <a:tblGrid>
                <a:gridCol w="1688998">
                  <a:extLst>
                    <a:ext uri="{9D8B030D-6E8A-4147-A177-3AD203B41FA5}">
                      <a16:colId xmlns:a16="http://schemas.microsoft.com/office/drawing/2014/main" val="20000"/>
                    </a:ext>
                  </a:extLst>
                </a:gridCol>
                <a:gridCol w="3166872">
                  <a:extLst>
                    <a:ext uri="{9D8B030D-6E8A-4147-A177-3AD203B41FA5}">
                      <a16:colId xmlns:a16="http://schemas.microsoft.com/office/drawing/2014/main" val="20001"/>
                    </a:ext>
                  </a:extLst>
                </a:gridCol>
                <a:gridCol w="5700370">
                  <a:extLst>
                    <a:ext uri="{9D8B030D-6E8A-4147-A177-3AD203B41FA5}">
                      <a16:colId xmlns:a16="http://schemas.microsoft.com/office/drawing/2014/main" val="20002"/>
                    </a:ext>
                  </a:extLst>
                </a:gridCol>
              </a:tblGrid>
              <a:tr h="356870">
                <a:tc>
                  <a:txBody>
                    <a:bodyPr/>
                    <a:lstStyle/>
                    <a:p>
                      <a:pPr marL="0" indent="0">
                        <a:lnSpc>
                          <a:spcPts val="1820"/>
                        </a:lnSpc>
                        <a:buNone/>
                      </a:pPr>
                      <a:r>
                        <a:rPr lang="en-US" sz="1300" b="1" dirty="0">
                          <a:solidFill>
                            <a:srgbClr val="1B2238"/>
                          </a:solidFill>
                          <a:latin typeface="DM Sans" pitchFamily="34" charset="0"/>
                          <a:ea typeface="DM Sans" pitchFamily="34" charset="-122"/>
                          <a:cs typeface="DM Sans" pitchFamily="34" charset="-120"/>
                        </a:rPr>
                        <a:t>Time</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marL="0" indent="0">
                        <a:lnSpc>
                          <a:spcPts val="1820"/>
                        </a:lnSpc>
                        <a:buNone/>
                      </a:pPr>
                      <a:r>
                        <a:rPr lang="en-US" sz="1300" b="1" dirty="0">
                          <a:solidFill>
                            <a:srgbClr val="1B2238"/>
                          </a:solidFill>
                          <a:latin typeface="DM Sans" pitchFamily="34" charset="0"/>
                          <a:ea typeface="DM Sans" pitchFamily="34" charset="-122"/>
                          <a:cs typeface="DM Sans" pitchFamily="34" charset="-120"/>
                        </a:rPr>
                        <a:t>Block</a:t>
                      </a:r>
                      <a:endParaRPr lang="en-US" sz="1300" dirty="0">
                        <a:latin typeface="DM Sans" charset="0"/>
                        <a:ea typeface="DM Sans" charset="0"/>
                        <a:cs typeface="DM Sans" charset="0"/>
                      </a:endParaRPr>
                    </a:p>
                  </a:txBody>
                  <a:tcPr marL="57785" marR="57785" marT="57785" marB="57785">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marL="0" indent="0">
                        <a:lnSpc>
                          <a:spcPts val="1820"/>
                        </a:lnSpc>
                        <a:buNone/>
                      </a:pPr>
                      <a:r>
                        <a:rPr lang="en-US" sz="1300" b="1" dirty="0">
                          <a:solidFill>
                            <a:srgbClr val="1B2238"/>
                          </a:solidFill>
                          <a:latin typeface="DM Sans" pitchFamily="34" charset="0"/>
                          <a:ea typeface="DM Sans" pitchFamily="34" charset="-122"/>
                          <a:cs typeface="DM Sans" pitchFamily="34" charset="-120"/>
                        </a:rPr>
                        <a:t>What you will be able to do</a:t>
                      </a:r>
                      <a:endParaRPr lang="en-US" sz="1300" dirty="0">
                        <a:latin typeface="DM Sans" charset="0"/>
                        <a:ea typeface="DM Sans" charset="0"/>
                        <a:cs typeface="DM Sans" charset="0"/>
                      </a:endParaRPr>
                    </a:p>
                  </a:txBody>
                  <a:tcPr marL="57785" marR="57785" marT="57785" marB="57785">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9:00 – 9:10</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Welcome &amp; the big picture</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See how a sale becomes a project, a purchase and a payment</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1"/>
                  </a:ext>
                </a:extLst>
              </a:tr>
              <a:tr h="356870">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9:10 – 9:25</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BFBB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BC3"/>
                      </a:solidFill>
                      <a:prstDash val="solid"/>
                      <a:round/>
                      <a:headEnd type="none" w="med" len="med"/>
                      <a:tailEnd type="none" w="med" len="med"/>
                    </a:lnB>
                    <a:solidFill>
                      <a:srgbClr val="EFEAF5"/>
                    </a:solidFill>
                  </a:tcPr>
                </a:tc>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Working in G-CORE</a:t>
                      </a:r>
                      <a:endParaRPr lang="en-US" sz="1300" dirty="0">
                        <a:latin typeface="DM Sans" charset="0"/>
                        <a:ea typeface="DM Sans" charset="0"/>
                        <a:cs typeface="DM Sans" charset="0"/>
                      </a:endParaRPr>
                    </a:p>
                  </a:txBody>
                  <a:tcPr marL="57785" marR="57785" marT="57785" marB="57785">
                    <a:lnL w="12700" cap="flat" cmpd="sng" algn="ctr">
                      <a:solidFill>
                        <a:srgbClr val="BFBBC3"/>
                      </a:solidFill>
                      <a:prstDash val="solid"/>
                      <a:round/>
                      <a:headEnd type="none" w="med" len="med"/>
                      <a:tailEnd type="none" w="med" len="med"/>
                    </a:lnL>
                    <a:lnR w="12700" cap="flat" cmpd="sng" algn="ctr">
                      <a:solidFill>
                        <a:srgbClr val="BFBB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BC3"/>
                      </a:solidFill>
                      <a:prstDash val="solid"/>
                      <a:round/>
                      <a:headEnd type="none" w="med" len="med"/>
                      <a:tailEnd type="none" w="med" len="med"/>
                    </a:lnB>
                    <a:solidFill>
                      <a:srgbClr val="EFEAF5"/>
                    </a:solidFill>
                  </a:tcPr>
                </a:tc>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Lists, record pages, approvals, My Work, Print</a:t>
                      </a:r>
                      <a:endParaRPr lang="en-US" sz="1300" dirty="0">
                        <a:latin typeface="DM Sans" charset="0"/>
                        <a:ea typeface="DM Sans" charset="0"/>
                        <a:cs typeface="DM Sans" charset="0"/>
                      </a:endParaRPr>
                    </a:p>
                  </a:txBody>
                  <a:tcPr marL="57785" marR="57785" marT="57785" marB="57785">
                    <a:lnL w="12700" cap="flat" cmpd="sng" algn="ctr">
                      <a:solidFill>
                        <a:srgbClr val="BFBBC3"/>
                      </a:solidFill>
                      <a:prstDash val="solid"/>
                      <a:round/>
                      <a:headEnd type="none" w="med" len="med"/>
                      <a:tailEnd type="none" w="med" len="med"/>
                    </a:lnL>
                    <a:lnR w="12700" cap="flat" cmpd="sng" algn="ctr">
                      <a:solidFill>
                        <a:srgbClr val="BFBB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BC3"/>
                      </a:solidFill>
                      <a:prstDash val="solid"/>
                      <a:round/>
                      <a:headEnd type="none" w="med" len="med"/>
                      <a:tailEnd type="none" w="med" len="med"/>
                    </a:lnB>
                    <a:solidFill>
                      <a:srgbClr val="EFEAF5"/>
                    </a:solidFill>
                  </a:tcPr>
                </a:tc>
                <a:extLst>
                  <a:ext uri="{0D108BD9-81ED-4DB2-BD59-A6C34878D82A}">
                    <a16:rowId xmlns:a16="http://schemas.microsoft.com/office/drawing/2014/main" val="10002"/>
                  </a:ext>
                </a:extLst>
              </a:tr>
              <a:tr h="356870">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9:25 – 10:20</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B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Project Management</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B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Costing, job order, project, scope, RFA, accomplishment report, billing</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B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3"/>
                  </a:ext>
                </a:extLst>
              </a:tr>
              <a:tr h="356870">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10:20 – 10:35</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BFBB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BC3"/>
                      </a:solidFill>
                      <a:prstDash val="solid"/>
                      <a:round/>
                      <a:headEnd type="none" w="med" len="med"/>
                      <a:tailEnd type="none" w="med" len="med"/>
                    </a:lnB>
                    <a:solidFill>
                      <a:srgbClr val="EFEAF5"/>
                    </a:solidFill>
                  </a:tcPr>
                </a:tc>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Meetings &amp; minutes</a:t>
                      </a:r>
                      <a:endParaRPr lang="en-US" sz="1300" dirty="0">
                        <a:latin typeface="DM Sans" charset="0"/>
                        <a:ea typeface="DM Sans" charset="0"/>
                        <a:cs typeface="DM Sans" charset="0"/>
                      </a:endParaRPr>
                    </a:p>
                  </a:txBody>
                  <a:tcPr marL="57785" marR="57785" marT="57785" marB="57785">
                    <a:lnL w="12700" cap="flat" cmpd="sng" algn="ctr">
                      <a:solidFill>
                        <a:srgbClr val="BFBBC3"/>
                      </a:solidFill>
                      <a:prstDash val="solid"/>
                      <a:round/>
                      <a:headEnd type="none" w="med" len="med"/>
                      <a:tailEnd type="none" w="med" len="med"/>
                    </a:lnL>
                    <a:lnR w="12700" cap="flat" cmpd="sng" algn="ctr">
                      <a:solidFill>
                        <a:srgbClr val="BFBB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BC3"/>
                      </a:solidFill>
                      <a:prstDash val="solid"/>
                      <a:round/>
                      <a:headEnd type="none" w="med" len="med"/>
                      <a:tailEnd type="none" w="med" len="med"/>
                    </a:lnB>
                    <a:solidFill>
                      <a:srgbClr val="EFEAF5"/>
                    </a:solidFill>
                  </a:tcPr>
                </a:tc>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Book a meeting, record and agree the minutes</a:t>
                      </a:r>
                      <a:endParaRPr lang="en-US" sz="1300" dirty="0">
                        <a:latin typeface="DM Sans" charset="0"/>
                        <a:ea typeface="DM Sans" charset="0"/>
                        <a:cs typeface="DM Sans" charset="0"/>
                      </a:endParaRPr>
                    </a:p>
                  </a:txBody>
                  <a:tcPr marL="57785" marR="57785" marT="57785" marB="57785">
                    <a:lnL w="12700" cap="flat" cmpd="sng" algn="ctr">
                      <a:solidFill>
                        <a:srgbClr val="BFBBC3"/>
                      </a:solidFill>
                      <a:prstDash val="solid"/>
                      <a:round/>
                      <a:headEnd type="none" w="med" len="med"/>
                      <a:tailEnd type="none" w="med" len="med"/>
                    </a:lnL>
                    <a:lnR w="12700" cap="flat" cmpd="sng" algn="ctr">
                      <a:solidFill>
                        <a:srgbClr val="BFBB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BC3"/>
                      </a:solidFill>
                      <a:prstDash val="solid"/>
                      <a:round/>
                      <a:headEnd type="none" w="med" len="med"/>
                      <a:tailEnd type="none" w="med" len="med"/>
                    </a:lnB>
                    <a:solidFill>
                      <a:srgbClr val="EFEAF5"/>
                    </a:solidFill>
                  </a:tcPr>
                </a:tc>
                <a:extLst>
                  <a:ext uri="{0D108BD9-81ED-4DB2-BD59-A6C34878D82A}">
                    <a16:rowId xmlns:a16="http://schemas.microsoft.com/office/drawing/2014/main" val="10004"/>
                  </a:ext>
                </a:extLst>
              </a:tr>
              <a:tr h="356870">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10:35 – 10:45</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B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Break</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B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B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5"/>
                  </a:ext>
                </a:extLst>
              </a:tr>
              <a:tr h="356870">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10:45 – 11:25</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BFBB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BC3"/>
                      </a:solidFill>
                      <a:prstDash val="solid"/>
                      <a:round/>
                      <a:headEnd type="none" w="med" len="med"/>
                      <a:tailEnd type="none" w="med" len="med"/>
                    </a:lnB>
                    <a:solidFill>
                      <a:srgbClr val="EFEAF5"/>
                    </a:solidFill>
                  </a:tcPr>
                </a:tc>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G-CHAIN procurement</a:t>
                      </a:r>
                      <a:endParaRPr lang="en-US" sz="1300" dirty="0">
                        <a:latin typeface="DM Sans" charset="0"/>
                        <a:ea typeface="DM Sans" charset="0"/>
                        <a:cs typeface="DM Sans" charset="0"/>
                      </a:endParaRPr>
                    </a:p>
                  </a:txBody>
                  <a:tcPr marL="57785" marR="57785" marT="57785" marB="57785">
                    <a:lnL w="12700" cap="flat" cmpd="sng" algn="ctr">
                      <a:solidFill>
                        <a:srgbClr val="BFBBC3"/>
                      </a:solidFill>
                      <a:prstDash val="solid"/>
                      <a:round/>
                      <a:headEnd type="none" w="med" len="med"/>
                      <a:tailEnd type="none" w="med" len="med"/>
                    </a:lnL>
                    <a:lnR w="12700" cap="flat" cmpd="sng" algn="ctr">
                      <a:solidFill>
                        <a:srgbClr val="BFBB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BC3"/>
                      </a:solidFill>
                      <a:prstDash val="solid"/>
                      <a:round/>
                      <a:headEnd type="none" w="med" len="med"/>
                      <a:tailEnd type="none" w="med" len="med"/>
                    </a:lnB>
                    <a:solidFill>
                      <a:srgbClr val="EFEAF5"/>
                    </a:solidFill>
                  </a:tcPr>
                </a:tc>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PR, RFQ, canvass, PO, incoming, inventory, outgoing</a:t>
                      </a:r>
                      <a:endParaRPr lang="en-US" sz="1300" dirty="0">
                        <a:latin typeface="DM Sans" charset="0"/>
                        <a:ea typeface="DM Sans" charset="0"/>
                        <a:cs typeface="DM Sans" charset="0"/>
                      </a:endParaRPr>
                    </a:p>
                  </a:txBody>
                  <a:tcPr marL="57785" marR="57785" marT="57785" marB="57785">
                    <a:lnL w="12700" cap="flat" cmpd="sng" algn="ctr">
                      <a:solidFill>
                        <a:srgbClr val="BFBBC3"/>
                      </a:solidFill>
                      <a:prstDash val="solid"/>
                      <a:round/>
                      <a:headEnd type="none" w="med" len="med"/>
                      <a:tailEnd type="none" w="med" len="med"/>
                    </a:lnL>
                    <a:lnR w="12700" cap="flat" cmpd="sng" algn="ctr">
                      <a:solidFill>
                        <a:srgbClr val="BFBB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BC3"/>
                      </a:solidFill>
                      <a:prstDash val="solid"/>
                      <a:round/>
                      <a:headEnd type="none" w="med" len="med"/>
                      <a:tailEnd type="none" w="med" len="med"/>
                    </a:lnB>
                    <a:solidFill>
                      <a:srgbClr val="EFEAF5"/>
                    </a:solidFill>
                  </a:tcPr>
                </a:tc>
                <a:extLst>
                  <a:ext uri="{0D108BD9-81ED-4DB2-BD59-A6C34878D82A}">
                    <a16:rowId xmlns:a16="http://schemas.microsoft.com/office/drawing/2014/main" val="10006"/>
                  </a:ext>
                </a:extLst>
              </a:tr>
              <a:tr h="356870">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11:25 – 11:50</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B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G-FIN money out</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B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Budget request, liquidation, reimbursement, cash advance</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B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7"/>
                  </a:ext>
                </a:extLst>
              </a:tr>
              <a:tr h="356870">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11:50 – 12:00</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BFBB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BC3"/>
                      </a:solidFill>
                      <a:prstDash val="solid"/>
                      <a:round/>
                      <a:headEnd type="none" w="med" len="med"/>
                      <a:tailEnd type="none" w="med" len="med"/>
                    </a:lnB>
                    <a:solidFill>
                      <a:srgbClr val="EFEAF5"/>
                    </a:solidFill>
                  </a:tcPr>
                </a:tc>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Routes, roles &amp; the afternoon</a:t>
                      </a:r>
                      <a:endParaRPr lang="en-US" sz="1300" dirty="0">
                        <a:latin typeface="DM Sans" charset="0"/>
                        <a:ea typeface="DM Sans" charset="0"/>
                        <a:cs typeface="DM Sans" charset="0"/>
                      </a:endParaRPr>
                    </a:p>
                  </a:txBody>
                  <a:tcPr marL="57785" marR="57785" marT="57785" marB="57785">
                    <a:lnL w="12700" cap="flat" cmpd="sng" algn="ctr">
                      <a:solidFill>
                        <a:srgbClr val="BFBBC3"/>
                      </a:solidFill>
                      <a:prstDash val="solid"/>
                      <a:round/>
                      <a:headEnd type="none" w="med" len="med"/>
                      <a:tailEnd type="none" w="med" len="med"/>
                    </a:lnL>
                    <a:lnR w="12700" cap="flat" cmpd="sng" algn="ctr">
                      <a:solidFill>
                        <a:srgbClr val="BFBB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BC3"/>
                      </a:solidFill>
                      <a:prstDash val="solid"/>
                      <a:round/>
                      <a:headEnd type="none" w="med" len="med"/>
                      <a:tailEnd type="none" w="med" len="med"/>
                    </a:lnB>
                    <a:solidFill>
                      <a:srgbClr val="EFEAF5"/>
                    </a:solidFill>
                  </a:tcPr>
                </a:tc>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Who approves what, and the hands-on plan</a:t>
                      </a:r>
                      <a:endParaRPr lang="en-US" sz="1300" dirty="0">
                        <a:latin typeface="DM Sans" charset="0"/>
                        <a:ea typeface="DM Sans" charset="0"/>
                        <a:cs typeface="DM Sans" charset="0"/>
                      </a:endParaRPr>
                    </a:p>
                  </a:txBody>
                  <a:tcPr marL="57785" marR="57785" marT="57785" marB="57785">
                    <a:lnL w="12700" cap="flat" cmpd="sng" algn="ctr">
                      <a:solidFill>
                        <a:srgbClr val="BFBBC3"/>
                      </a:solidFill>
                      <a:prstDash val="solid"/>
                      <a:round/>
                      <a:headEnd type="none" w="med" len="med"/>
                      <a:tailEnd type="none" w="med" len="med"/>
                    </a:lnL>
                    <a:lnR w="12700" cap="flat" cmpd="sng" algn="ctr">
                      <a:solidFill>
                        <a:srgbClr val="BFBB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BC3"/>
                      </a:solidFill>
                      <a:prstDash val="solid"/>
                      <a:round/>
                      <a:headEnd type="none" w="med" len="med"/>
                      <a:tailEnd type="none" w="med" len="med"/>
                    </a:lnB>
                    <a:solidFill>
                      <a:srgbClr val="EFEAF5"/>
                    </a:solidFill>
                  </a:tcPr>
                </a:tc>
                <a:extLst>
                  <a:ext uri="{0D108BD9-81ED-4DB2-BD59-A6C34878D82A}">
                    <a16:rowId xmlns:a16="http://schemas.microsoft.com/office/drawing/2014/main" val="10008"/>
                  </a:ext>
                </a:extLst>
              </a:tr>
              <a:tr h="356870">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12:00 – 1:00</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B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Lunch</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B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B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9"/>
                  </a:ext>
                </a:extLst>
              </a:tr>
              <a:tr h="356870">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1:00 – 4:00</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BFBB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BC3"/>
                      </a:solidFill>
                      <a:prstDash val="solid"/>
                      <a:round/>
                      <a:headEnd type="none" w="med" len="med"/>
                      <a:tailEnd type="none" w="med" len="med"/>
                    </a:lnB>
                    <a:solidFill>
                      <a:srgbClr val="EFEAF5"/>
                    </a:solidFill>
                  </a:tcPr>
                </a:tc>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Hands-on: build a real project</a:t>
                      </a:r>
                      <a:endParaRPr lang="en-US" sz="1300" dirty="0">
                        <a:latin typeface="DM Sans" charset="0"/>
                        <a:ea typeface="DM Sans" charset="0"/>
                        <a:cs typeface="DM Sans" charset="0"/>
                      </a:endParaRPr>
                    </a:p>
                  </a:txBody>
                  <a:tcPr marL="57785" marR="57785" marT="57785" marB="57785">
                    <a:lnL w="12700" cap="flat" cmpd="sng" algn="ctr">
                      <a:solidFill>
                        <a:srgbClr val="BFBBC3"/>
                      </a:solidFill>
                      <a:prstDash val="solid"/>
                      <a:round/>
                      <a:headEnd type="none" w="med" len="med"/>
                      <a:tailEnd type="none" w="med" len="med"/>
                    </a:lnL>
                    <a:lnR w="12700" cap="flat" cmpd="sng" algn="ctr">
                      <a:solidFill>
                        <a:srgbClr val="BFBB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BC3"/>
                      </a:solidFill>
                      <a:prstDash val="solid"/>
                      <a:round/>
                      <a:headEnd type="none" w="med" len="med"/>
                      <a:tailEnd type="none" w="med" len="med"/>
                    </a:lnB>
                    <a:solidFill>
                      <a:srgbClr val="EFEAF5"/>
                    </a:solidFill>
                  </a:tcPr>
                </a:tc>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Each of you does your part, in your own login, on one live project</a:t>
                      </a:r>
                      <a:endParaRPr lang="en-US" sz="1300" dirty="0">
                        <a:latin typeface="DM Sans" charset="0"/>
                        <a:ea typeface="DM Sans" charset="0"/>
                        <a:cs typeface="DM Sans" charset="0"/>
                      </a:endParaRPr>
                    </a:p>
                  </a:txBody>
                  <a:tcPr marL="57785" marR="57785" marT="57785" marB="57785">
                    <a:lnL w="12700" cap="flat" cmpd="sng" algn="ctr">
                      <a:solidFill>
                        <a:srgbClr val="BFBBC3"/>
                      </a:solidFill>
                      <a:prstDash val="solid"/>
                      <a:round/>
                      <a:headEnd type="none" w="med" len="med"/>
                      <a:tailEnd type="none" w="med" len="med"/>
                    </a:lnL>
                    <a:lnR w="12700" cap="flat" cmpd="sng" algn="ctr">
                      <a:solidFill>
                        <a:srgbClr val="BFBB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BC3"/>
                      </a:solidFill>
                      <a:prstDash val="solid"/>
                      <a:round/>
                      <a:headEnd type="none" w="med" len="med"/>
                      <a:tailEnd type="none" w="med" len="med"/>
                    </a:lnB>
                    <a:solidFill>
                      <a:srgbClr val="EFEAF5"/>
                    </a:solidFill>
                  </a:tcPr>
                </a:tc>
                <a:extLst>
                  <a:ext uri="{0D108BD9-81ED-4DB2-BD59-A6C34878D82A}">
                    <a16:rowId xmlns:a16="http://schemas.microsoft.com/office/drawing/2014/main" val="10010"/>
                  </a:ext>
                </a:extLst>
              </a:tr>
            </a:tbl>
          </a:graphicData>
        </a:graphic>
      </p:graphicFrame>
      <p:sp>
        <p:nvSpPr>
          <p:cNvPr id="5" name="Text 2"/>
          <p:cNvSpPr/>
          <p:nvPr/>
        </p:nvSpPr>
        <p:spPr>
          <a:xfrm>
            <a:off x="812800" y="6238241"/>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DM Sans" pitchFamily="34" charset="0"/>
                <a:ea typeface="DM Sans" pitchFamily="34" charset="-122"/>
                <a:cs typeface="DM Sans" pitchFamily="34" charset="-120"/>
              </a:rPr>
              <a:t>G-CORE Training · Agenda</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B2A8C"/>
                </a:solidFill>
                <a:latin typeface="DM Sans" pitchFamily="34" charset="0"/>
                <a:ea typeface="DM Sans" pitchFamily="34" charset="-122"/>
                <a:cs typeface="DM Sans" pitchFamily="34" charset="-120"/>
              </a:rPr>
              <a:t>THE BIG PICTURE</a:t>
            </a:r>
            <a:endParaRPr lang="en-US" sz="1200" dirty="0"/>
          </a:p>
        </p:txBody>
      </p:sp>
      <p:sp>
        <p:nvSpPr>
          <p:cNvPr id="3" name="Text 1"/>
          <p:cNvSpPr>
            <a:spLocks noGrp="1"/>
          </p:cNvSpPr>
          <p:nvPr>
            <p:ph type="title"/>
          </p:nvPr>
        </p:nvSpPr>
        <p:spPr>
          <a:xfrm>
            <a:off x="812800" y="1153161"/>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B2238"/>
                </a:solidFill>
                <a:latin typeface="Domine" pitchFamily="18" charset="0"/>
                <a:ea typeface="Domine" pitchFamily="18" charset="-122"/>
                <a:cs typeface="Domine" pitchFamily="18" charset="-120"/>
              </a:rPr>
              <a:t>One sale, one project, one ledger</a:t>
            </a:r>
            <a:endParaRPr lang="en-US" sz="3000" dirty="0"/>
          </a:p>
        </p:txBody>
      </p:sp>
      <p:sp>
        <p:nvSpPr>
          <p:cNvPr id="4" name="Shape 2"/>
          <p:cNvSpPr/>
          <p:nvPr/>
        </p:nvSpPr>
        <p:spPr>
          <a:xfrm>
            <a:off x="815975" y="1823086"/>
            <a:ext cx="2540000" cy="1662430"/>
          </a:xfrm>
          <a:prstGeom prst="roundRect">
            <a:avLst>
              <a:gd name="adj" fmla="val 5921"/>
            </a:avLst>
          </a:prstGeom>
          <a:solidFill>
            <a:srgbClr val="FFFDF8"/>
          </a:solidFill>
          <a:ln w="6350">
            <a:solidFill>
              <a:srgbClr val="E4DFD3"/>
            </a:solidFill>
            <a:prstDash val="solid"/>
          </a:ln>
        </p:spPr>
      </p:sp>
      <p:sp>
        <p:nvSpPr>
          <p:cNvPr id="5" name="Text 3"/>
          <p:cNvSpPr/>
          <p:nvPr/>
        </p:nvSpPr>
        <p:spPr>
          <a:xfrm>
            <a:off x="995680" y="2002791"/>
            <a:ext cx="2246008"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B2A8C"/>
                </a:solidFill>
                <a:latin typeface="DM Sans" pitchFamily="34" charset="0"/>
                <a:ea typeface="DM Sans" pitchFamily="34" charset="-122"/>
                <a:cs typeface="DM Sans" pitchFamily="34" charset="-120"/>
              </a:rPr>
              <a:t>G-OPS · SALES</a:t>
            </a:r>
            <a:endParaRPr lang="en-US" sz="1200" dirty="0"/>
          </a:p>
        </p:txBody>
      </p:sp>
      <p:sp>
        <p:nvSpPr>
          <p:cNvPr id="6" name="Text 4"/>
          <p:cNvSpPr/>
          <p:nvPr/>
        </p:nvSpPr>
        <p:spPr>
          <a:xfrm>
            <a:off x="995680" y="2292350"/>
            <a:ext cx="2246008"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238"/>
                </a:solidFill>
                <a:latin typeface="DM Sans" pitchFamily="34" charset="0"/>
                <a:ea typeface="DM Sans" pitchFamily="34" charset="-122"/>
                <a:cs typeface="DM Sans" pitchFamily="34" charset="-120"/>
              </a:rPr>
              <a:t>Quotation won</a:t>
            </a:r>
            <a:endParaRPr lang="en-US" sz="1600" dirty="0"/>
          </a:p>
        </p:txBody>
      </p:sp>
      <p:sp>
        <p:nvSpPr>
          <p:cNvPr id="7" name="Text 5"/>
          <p:cNvSpPr/>
          <p:nvPr/>
        </p:nvSpPr>
        <p:spPr>
          <a:xfrm>
            <a:off x="995680" y="2612391"/>
            <a:ext cx="2246008"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160"/>
                </a:solidFill>
                <a:latin typeface="DM Sans" pitchFamily="34" charset="0"/>
                <a:ea typeface="DM Sans" pitchFamily="34" charset="-122"/>
                <a:cs typeface="DM Sans" pitchFamily="34" charset="-120"/>
              </a:rPr>
              <a:t>Costing behind it, sales order booked</a:t>
            </a:r>
            <a:endParaRPr lang="en-US" sz="1300" dirty="0"/>
          </a:p>
        </p:txBody>
      </p:sp>
      <p:sp>
        <p:nvSpPr>
          <p:cNvPr id="8" name="Shape 6"/>
          <p:cNvSpPr/>
          <p:nvPr/>
        </p:nvSpPr>
        <p:spPr>
          <a:xfrm>
            <a:off x="3489325" y="1823086"/>
            <a:ext cx="2540000" cy="1662430"/>
          </a:xfrm>
          <a:prstGeom prst="roundRect">
            <a:avLst>
              <a:gd name="adj" fmla="val 5921"/>
            </a:avLst>
          </a:prstGeom>
          <a:solidFill>
            <a:srgbClr val="FFFDF8"/>
          </a:solidFill>
          <a:ln w="6350">
            <a:solidFill>
              <a:srgbClr val="E4DFD3"/>
            </a:solidFill>
            <a:prstDash val="solid"/>
          </a:ln>
        </p:spPr>
      </p:sp>
      <p:sp>
        <p:nvSpPr>
          <p:cNvPr id="9" name="Text 7"/>
          <p:cNvSpPr/>
          <p:nvPr/>
        </p:nvSpPr>
        <p:spPr>
          <a:xfrm>
            <a:off x="3669030" y="2002791"/>
            <a:ext cx="2246008"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B2A8C"/>
                </a:solidFill>
                <a:latin typeface="DM Sans" pitchFamily="34" charset="0"/>
                <a:ea typeface="DM Sans" pitchFamily="34" charset="-122"/>
                <a:cs typeface="DM Sans" pitchFamily="34" charset="-120"/>
              </a:rPr>
              <a:t>G-OPS · PROJECTS</a:t>
            </a:r>
            <a:endParaRPr lang="en-US" sz="1200" dirty="0"/>
          </a:p>
        </p:txBody>
      </p:sp>
      <p:sp>
        <p:nvSpPr>
          <p:cNvPr id="10" name="Text 8"/>
          <p:cNvSpPr/>
          <p:nvPr/>
        </p:nvSpPr>
        <p:spPr>
          <a:xfrm>
            <a:off x="3669030" y="2292350"/>
            <a:ext cx="2246008"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238"/>
                </a:solidFill>
                <a:latin typeface="DM Sans" pitchFamily="34" charset="0"/>
                <a:ea typeface="DM Sans" pitchFamily="34" charset="-122"/>
                <a:cs typeface="DM Sans" pitchFamily="34" charset="-120"/>
              </a:rPr>
              <a:t>Job order → project</a:t>
            </a:r>
            <a:endParaRPr lang="en-US" sz="1600" dirty="0"/>
          </a:p>
        </p:txBody>
      </p:sp>
      <p:sp>
        <p:nvSpPr>
          <p:cNvPr id="11" name="Text 9"/>
          <p:cNvSpPr/>
          <p:nvPr/>
        </p:nvSpPr>
        <p:spPr>
          <a:xfrm>
            <a:off x="3669030" y="2612391"/>
            <a:ext cx="2246008"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160"/>
                </a:solidFill>
                <a:latin typeface="DM Sans" pitchFamily="34" charset="0"/>
                <a:ea typeface="DM Sans" pitchFamily="34" charset="-122"/>
                <a:cs typeface="DM Sans" pitchFamily="34" charset="-120"/>
              </a:rPr>
              <a:t>Budget, scope, progress, billing</a:t>
            </a:r>
            <a:endParaRPr lang="en-US" sz="1300" dirty="0"/>
          </a:p>
        </p:txBody>
      </p:sp>
      <p:sp>
        <p:nvSpPr>
          <p:cNvPr id="12" name="Shape 10"/>
          <p:cNvSpPr/>
          <p:nvPr/>
        </p:nvSpPr>
        <p:spPr>
          <a:xfrm>
            <a:off x="6162675" y="1823086"/>
            <a:ext cx="2540000" cy="1662430"/>
          </a:xfrm>
          <a:prstGeom prst="roundRect">
            <a:avLst>
              <a:gd name="adj" fmla="val 5921"/>
            </a:avLst>
          </a:prstGeom>
          <a:solidFill>
            <a:srgbClr val="FFFDF8"/>
          </a:solidFill>
          <a:ln w="6350">
            <a:solidFill>
              <a:srgbClr val="E4DFD3"/>
            </a:solidFill>
            <a:prstDash val="solid"/>
          </a:ln>
        </p:spPr>
      </p:sp>
      <p:sp>
        <p:nvSpPr>
          <p:cNvPr id="13" name="Text 11"/>
          <p:cNvSpPr/>
          <p:nvPr/>
        </p:nvSpPr>
        <p:spPr>
          <a:xfrm>
            <a:off x="6342380" y="2002791"/>
            <a:ext cx="2246008"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E7D41"/>
                </a:solidFill>
                <a:latin typeface="DM Sans" pitchFamily="34" charset="0"/>
                <a:ea typeface="DM Sans" pitchFamily="34" charset="-122"/>
                <a:cs typeface="DM Sans" pitchFamily="34" charset="-120"/>
              </a:rPr>
              <a:t>G-CHAIN</a:t>
            </a:r>
            <a:endParaRPr lang="en-US" sz="1200" dirty="0"/>
          </a:p>
        </p:txBody>
      </p:sp>
      <p:sp>
        <p:nvSpPr>
          <p:cNvPr id="14" name="Text 12"/>
          <p:cNvSpPr/>
          <p:nvPr/>
        </p:nvSpPr>
        <p:spPr>
          <a:xfrm>
            <a:off x="6342380" y="2292350"/>
            <a:ext cx="2246008"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238"/>
                </a:solidFill>
                <a:latin typeface="DM Sans" pitchFamily="34" charset="0"/>
                <a:ea typeface="DM Sans" pitchFamily="34" charset="-122"/>
                <a:cs typeface="DM Sans" pitchFamily="34" charset="-120"/>
              </a:rPr>
              <a:t>Buy &amp; deliver</a:t>
            </a:r>
            <a:endParaRPr lang="en-US" sz="1600" dirty="0"/>
          </a:p>
        </p:txBody>
      </p:sp>
      <p:sp>
        <p:nvSpPr>
          <p:cNvPr id="15" name="Text 13"/>
          <p:cNvSpPr/>
          <p:nvPr/>
        </p:nvSpPr>
        <p:spPr>
          <a:xfrm>
            <a:off x="6342380" y="2612391"/>
            <a:ext cx="2246008"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160"/>
                </a:solidFill>
                <a:latin typeface="DM Sans" pitchFamily="34" charset="0"/>
                <a:ea typeface="DM Sans" pitchFamily="34" charset="-122"/>
                <a:cs typeface="DM Sans" pitchFamily="34" charset="-120"/>
              </a:rPr>
              <a:t>PR, RFQ, canvass, PO, incoming, outgoing</a:t>
            </a:r>
            <a:endParaRPr lang="en-US" sz="1300" dirty="0"/>
          </a:p>
        </p:txBody>
      </p:sp>
      <p:sp>
        <p:nvSpPr>
          <p:cNvPr id="16" name="Shape 14"/>
          <p:cNvSpPr/>
          <p:nvPr/>
        </p:nvSpPr>
        <p:spPr>
          <a:xfrm>
            <a:off x="8836025" y="1823086"/>
            <a:ext cx="2540000" cy="1662430"/>
          </a:xfrm>
          <a:prstGeom prst="roundRect">
            <a:avLst>
              <a:gd name="adj" fmla="val 5921"/>
            </a:avLst>
          </a:prstGeom>
          <a:solidFill>
            <a:srgbClr val="FFFDF8"/>
          </a:solidFill>
          <a:ln w="6350">
            <a:solidFill>
              <a:srgbClr val="E4DFD3"/>
            </a:solidFill>
            <a:prstDash val="solid"/>
          </a:ln>
        </p:spPr>
      </p:sp>
      <p:sp>
        <p:nvSpPr>
          <p:cNvPr id="17" name="Text 15"/>
          <p:cNvSpPr/>
          <p:nvPr/>
        </p:nvSpPr>
        <p:spPr>
          <a:xfrm>
            <a:off x="9015730" y="2002791"/>
            <a:ext cx="2246008"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0560C"/>
                </a:solidFill>
                <a:latin typeface="DM Sans" pitchFamily="34" charset="0"/>
                <a:ea typeface="DM Sans" pitchFamily="34" charset="-122"/>
                <a:cs typeface="DM Sans" pitchFamily="34" charset="-120"/>
              </a:rPr>
              <a:t>G-FIN</a:t>
            </a:r>
            <a:endParaRPr lang="en-US" sz="1200" dirty="0"/>
          </a:p>
        </p:txBody>
      </p:sp>
      <p:sp>
        <p:nvSpPr>
          <p:cNvPr id="18" name="Text 16"/>
          <p:cNvSpPr/>
          <p:nvPr/>
        </p:nvSpPr>
        <p:spPr>
          <a:xfrm>
            <a:off x="9015730" y="2292350"/>
            <a:ext cx="2246008"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238"/>
                </a:solidFill>
                <a:latin typeface="DM Sans" pitchFamily="34" charset="0"/>
                <a:ea typeface="DM Sans" pitchFamily="34" charset="-122"/>
                <a:cs typeface="DM Sans" pitchFamily="34" charset="-120"/>
              </a:rPr>
              <a:t>Pay &amp; account</a:t>
            </a:r>
            <a:endParaRPr lang="en-US" sz="1600" dirty="0"/>
          </a:p>
        </p:txBody>
      </p:sp>
      <p:sp>
        <p:nvSpPr>
          <p:cNvPr id="19" name="Text 17"/>
          <p:cNvSpPr/>
          <p:nvPr/>
        </p:nvSpPr>
        <p:spPr>
          <a:xfrm>
            <a:off x="9015730" y="2612391"/>
            <a:ext cx="2246008"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160"/>
                </a:solidFill>
                <a:latin typeface="DM Sans" pitchFamily="34" charset="0"/>
                <a:ea typeface="DM Sans" pitchFamily="34" charset="-122"/>
                <a:cs typeface="DM Sans" pitchFamily="34" charset="-120"/>
              </a:rPr>
              <a:t>Budget requests, liquidations, reimbursements</a:t>
            </a:r>
            <a:endParaRPr lang="en-US" sz="1300" dirty="0"/>
          </a:p>
        </p:txBody>
      </p:sp>
      <p:sp>
        <p:nvSpPr>
          <p:cNvPr id="20" name="Shape 18"/>
          <p:cNvSpPr/>
          <p:nvPr/>
        </p:nvSpPr>
        <p:spPr>
          <a:xfrm>
            <a:off x="812800" y="3717291"/>
            <a:ext cx="10566400" cy="939800"/>
          </a:xfrm>
          <a:prstGeom prst="roundRect">
            <a:avLst>
              <a:gd name="adj" fmla="val 10811"/>
            </a:avLst>
          </a:prstGeom>
          <a:solidFill>
            <a:srgbClr val="1B2238"/>
          </a:solidFill>
          <a:ln/>
        </p:spPr>
      </p:sp>
      <p:pic>
        <p:nvPicPr>
          <p:cNvPr id="21" name="Image 0" descr="Database"/>
          <p:cNvPicPr>
            <a:picLocks noChangeAspect="1"/>
          </p:cNvPicPr>
          <p:nvPr/>
        </p:nvPicPr>
        <p:blipFill>
          <a:blip r:embed="rId3"/>
          <a:srcRect t="-352" b="-352"/>
          <a:stretch/>
        </p:blipFill>
        <p:spPr>
          <a:xfrm>
            <a:off x="1066800" y="4009391"/>
            <a:ext cx="214392" cy="355600"/>
          </a:xfrm>
          <a:prstGeom prst="rect">
            <a:avLst/>
          </a:prstGeom>
        </p:spPr>
      </p:pic>
      <p:sp>
        <p:nvSpPr>
          <p:cNvPr id="22" name="Text 19"/>
          <p:cNvSpPr/>
          <p:nvPr/>
        </p:nvSpPr>
        <p:spPr>
          <a:xfrm>
            <a:off x="1433592" y="3920491"/>
            <a:ext cx="9982357"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7F5F0"/>
                </a:solidFill>
                <a:latin typeface="DM Sans" pitchFamily="34" charset="0"/>
                <a:ea typeface="DM Sans" pitchFamily="34" charset="-122"/>
                <a:cs typeface="DM Sans" pitchFamily="34" charset="-120"/>
              </a:rPr>
              <a:t>Every peso reaches the project through one ledger.</a:t>
            </a:r>
            <a:r>
              <a:rPr lang="en-US" sz="1500" dirty="0">
                <a:solidFill>
                  <a:srgbClr val="F7F5F0"/>
                </a:solidFill>
                <a:latin typeface="DM Sans" pitchFamily="34" charset="0"/>
                <a:ea typeface="DM Sans" pitchFamily="34" charset="-122"/>
                <a:cs typeface="DM Sans" pitchFamily="34" charset="-120"/>
              </a:rPr>
              <a:t> Budget Monitoring shows Budgeted − Committed − Incurred = Available. Approved PRs commit, receipts incur, liquidations incur.</a:t>
            </a:r>
            <a:endParaRPr lang="en-US" sz="1500" dirty="0"/>
          </a:p>
        </p:txBody>
      </p:sp>
      <p:sp>
        <p:nvSpPr>
          <p:cNvPr id="23" name="Text 20"/>
          <p:cNvSpPr/>
          <p:nvPr/>
        </p:nvSpPr>
        <p:spPr>
          <a:xfrm>
            <a:off x="812800" y="6238241"/>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DM Sans" pitchFamily="34" charset="0"/>
                <a:ea typeface="DM Sans" pitchFamily="34" charset="-122"/>
                <a:cs typeface="DM Sans" pitchFamily="34" charset="-120"/>
              </a:rPr>
              <a:t>G-CORE Training · Big picture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5B2A8C"/>
        </a:solidFill>
        <a:effectLst/>
      </p:bgPr>
    </p:bg>
    <p:spTree>
      <p:nvGrpSpPr>
        <p:cNvPr id="1" name=""/>
        <p:cNvGrpSpPr/>
        <p:nvPr/>
      </p:nvGrpSpPr>
      <p:grpSpPr>
        <a:xfrm>
          <a:off x="0" y="0"/>
          <a:ext cx="0" cy="0"/>
          <a:chOff x="0" y="0"/>
          <a:chExt cx="0" cy="0"/>
        </a:xfrm>
      </p:grpSpPr>
      <p:sp>
        <p:nvSpPr>
          <p:cNvPr id="2" name="Text 0"/>
          <p:cNvSpPr/>
          <p:nvPr/>
        </p:nvSpPr>
        <p:spPr>
          <a:xfrm>
            <a:off x="812800" y="2584689"/>
            <a:ext cx="10883392" cy="274320"/>
          </a:xfrm>
          <a:prstGeom prst="rect">
            <a:avLst/>
          </a:prstGeom>
          <a:noFill/>
          <a:ln/>
        </p:spPr>
        <p:txBody>
          <a:bodyPr wrap="square" lIns="0" tIns="0" rIns="0" bIns="0" rtlCol="0" anchor="t">
            <a:normAutofit/>
          </a:bodyPr>
          <a:lstStyle/>
          <a:p>
            <a:pPr marL="0" indent="0" algn="l">
              <a:lnSpc>
                <a:spcPts val="1960"/>
              </a:lnSpc>
              <a:buNone/>
            </a:pPr>
            <a:r>
              <a:rPr lang="en-US" sz="1400" kern="0" spc="200" dirty="0">
                <a:solidFill>
                  <a:srgbClr val="E4D6F2"/>
                </a:solidFill>
                <a:latin typeface="DM Sans" pitchFamily="34" charset="0"/>
                <a:ea typeface="DM Sans" pitchFamily="34" charset="-122"/>
                <a:cs typeface="DM Sans" pitchFamily="34" charset="-120"/>
              </a:rPr>
              <a:t>PART 1 · 15 MINUTES · 9:10</a:t>
            </a:r>
            <a:endParaRPr lang="en-US" sz="1400" dirty="0"/>
          </a:p>
        </p:txBody>
      </p:sp>
      <p:sp>
        <p:nvSpPr>
          <p:cNvPr id="3" name="Text 1"/>
          <p:cNvSpPr>
            <a:spLocks noGrp="1"/>
          </p:cNvSpPr>
          <p:nvPr>
            <p:ph type="title"/>
          </p:nvPr>
        </p:nvSpPr>
        <p:spPr>
          <a:xfrm>
            <a:off x="812800" y="3036808"/>
            <a:ext cx="10883392" cy="738584"/>
          </a:xfrm>
          <a:prstGeom prst="rect">
            <a:avLst/>
          </a:prstGeom>
          <a:noFill/>
          <a:ln/>
        </p:spPr>
        <p:txBody>
          <a:bodyPr wrap="square" lIns="0" tIns="0" rIns="0" bIns="0" rtlCol="0" anchor="t">
            <a:normAutofit/>
          </a:bodyPr>
          <a:lstStyle/>
          <a:p>
            <a:pPr marL="0" indent="0" algn="l">
              <a:lnSpc>
                <a:spcPts val="5616"/>
              </a:lnSpc>
              <a:buNone/>
            </a:pPr>
            <a:r>
              <a:rPr lang="en-US" sz="5200" b="1" i="0" dirty="0">
                <a:solidFill>
                  <a:srgbClr val="F7F5F0"/>
                </a:solidFill>
                <a:latin typeface="Domine" pitchFamily="18" charset="0"/>
                <a:ea typeface="Domine" pitchFamily="18" charset="-122"/>
                <a:cs typeface="Domine" pitchFamily="18" charset="-120"/>
              </a:rPr>
              <a:t>Working in G-CORE</a:t>
            </a:r>
            <a:endParaRPr lang="en-US" sz="5200" dirty="0"/>
          </a:p>
        </p:txBody>
      </p:sp>
      <p:sp>
        <p:nvSpPr>
          <p:cNvPr id="4" name="Text 2"/>
          <p:cNvSpPr/>
          <p:nvPr/>
        </p:nvSpPr>
        <p:spPr>
          <a:xfrm>
            <a:off x="812800" y="3953193"/>
            <a:ext cx="9156700" cy="34544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E4D6F2"/>
                </a:solidFill>
                <a:latin typeface="DM Sans" pitchFamily="34" charset="0"/>
                <a:ea typeface="DM Sans" pitchFamily="34" charset="-122"/>
                <a:cs typeface="DM Sans" pitchFamily="34" charset="-120"/>
              </a:rPr>
              <a:t>The same buttons in the same places, on every screen you will touch today.</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B2A8C"/>
                </a:solidFill>
                <a:latin typeface="DM Sans" pitchFamily="34" charset="0"/>
                <a:ea typeface="DM Sans" pitchFamily="34" charset="-122"/>
                <a:cs typeface="DM Sans" pitchFamily="34" charset="-120"/>
              </a:rPr>
              <a:t>WORKING IN G-CORE</a:t>
            </a:r>
            <a:endParaRPr lang="en-US" sz="1200" dirty="0"/>
          </a:p>
        </p:txBody>
      </p:sp>
      <p:sp>
        <p:nvSpPr>
          <p:cNvPr id="3" name="Text 1"/>
          <p:cNvSpPr>
            <a:spLocks noGrp="1"/>
          </p:cNvSpPr>
          <p:nvPr>
            <p:ph type="title"/>
          </p:nvPr>
        </p:nvSpPr>
        <p:spPr>
          <a:xfrm>
            <a:off x="812800" y="1153161"/>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B2238"/>
                </a:solidFill>
                <a:latin typeface="Domine" pitchFamily="18" charset="0"/>
                <a:ea typeface="Domine" pitchFamily="18" charset="-122"/>
                <a:cs typeface="Domine" pitchFamily="18" charset="-120"/>
              </a:rPr>
              <a:t>Three screens you will meet everywhere</a:t>
            </a:r>
            <a:endParaRPr lang="en-US" sz="3000" dirty="0"/>
          </a:p>
        </p:txBody>
      </p:sp>
      <p:sp>
        <p:nvSpPr>
          <p:cNvPr id="4" name="Shape 2"/>
          <p:cNvSpPr/>
          <p:nvPr/>
        </p:nvSpPr>
        <p:spPr>
          <a:xfrm>
            <a:off x="815975" y="1823086"/>
            <a:ext cx="3414157" cy="2348865"/>
          </a:xfrm>
          <a:prstGeom prst="roundRect">
            <a:avLst>
              <a:gd name="adj" fmla="val 4190"/>
            </a:avLst>
          </a:prstGeom>
          <a:solidFill>
            <a:srgbClr val="FFFDF8"/>
          </a:solidFill>
          <a:ln w="6350">
            <a:solidFill>
              <a:srgbClr val="E4DFD3"/>
            </a:solidFill>
            <a:prstDash val="solid"/>
          </a:ln>
        </p:spPr>
      </p:sp>
      <p:pic>
        <p:nvPicPr>
          <p:cNvPr id="5" name="Image 0" descr="Search"/>
          <p:cNvPicPr>
            <a:picLocks noChangeAspect="1"/>
          </p:cNvPicPr>
          <p:nvPr/>
        </p:nvPicPr>
        <p:blipFill>
          <a:blip r:embed="rId3"/>
          <a:srcRect/>
          <a:stretch/>
        </p:blipFill>
        <p:spPr>
          <a:xfrm>
            <a:off x="1021080" y="2028189"/>
            <a:ext cx="304800" cy="304800"/>
          </a:xfrm>
          <a:prstGeom prst="rect">
            <a:avLst/>
          </a:prstGeom>
        </p:spPr>
      </p:pic>
      <p:sp>
        <p:nvSpPr>
          <p:cNvPr id="6" name="Text 3"/>
          <p:cNvSpPr/>
          <p:nvPr/>
        </p:nvSpPr>
        <p:spPr>
          <a:xfrm>
            <a:off x="1021080" y="2421889"/>
            <a:ext cx="3094065"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B2238"/>
                </a:solidFill>
                <a:latin typeface="DM Sans" pitchFamily="34" charset="0"/>
                <a:ea typeface="DM Sans" pitchFamily="34" charset="-122"/>
                <a:cs typeface="DM Sans" pitchFamily="34" charset="-120"/>
              </a:rPr>
              <a:t>The list</a:t>
            </a:r>
            <a:endParaRPr lang="en-US" sz="1700" dirty="0"/>
          </a:p>
        </p:txBody>
      </p:sp>
      <p:sp>
        <p:nvSpPr>
          <p:cNvPr id="7" name="Text 4"/>
          <p:cNvSpPr/>
          <p:nvPr/>
        </p:nvSpPr>
        <p:spPr>
          <a:xfrm>
            <a:off x="1021080" y="2769871"/>
            <a:ext cx="3094065" cy="1222375"/>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160"/>
                </a:solidFill>
                <a:latin typeface="DM Sans" pitchFamily="34" charset="0"/>
                <a:ea typeface="DM Sans" pitchFamily="34" charset="-122"/>
                <a:cs typeface="DM Sans" pitchFamily="34" charset="-120"/>
              </a:rPr>
              <a:t>Summary cards on top. Search, </a:t>
            </a:r>
            <a:r>
              <a:rPr lang="en-US" sz="1300" b="1" dirty="0">
                <a:solidFill>
                  <a:srgbClr val="4A5160"/>
                </a:solidFill>
                <a:latin typeface="DM Sans" pitchFamily="34" charset="0"/>
                <a:ea typeface="DM Sans" pitchFamily="34" charset="-122"/>
                <a:cs typeface="DM Sans" pitchFamily="34" charset="-120"/>
              </a:rPr>
              <a:t>Mine · Team · All</a:t>
            </a:r>
            <a:r>
              <a:rPr lang="en-US" sz="1300" dirty="0">
                <a:solidFill>
                  <a:srgbClr val="4A5160"/>
                </a:solidFill>
                <a:latin typeface="DM Sans" pitchFamily="34" charset="0"/>
                <a:ea typeface="DM Sans" pitchFamily="34" charset="-122"/>
                <a:cs typeface="DM Sans" pitchFamily="34" charset="-120"/>
              </a:rPr>
              <a:t>, Filters (chips you can remove). The </a:t>
            </a:r>
            <a:r>
              <a:rPr lang="en-US" sz="1300" b="1" dirty="0">
                <a:solidFill>
                  <a:srgbClr val="4A5160"/>
                </a:solidFill>
                <a:latin typeface="DM Sans" pitchFamily="34" charset="0"/>
                <a:ea typeface="DM Sans" pitchFamily="34" charset="-122"/>
                <a:cs typeface="DM Sans" pitchFamily="34" charset="-120"/>
              </a:rPr>
              <a:t>⋯ menu</a:t>
            </a:r>
            <a:r>
              <a:rPr lang="en-US" sz="1300" dirty="0">
                <a:solidFill>
                  <a:srgbClr val="4A5160"/>
                </a:solidFill>
                <a:latin typeface="DM Sans" pitchFamily="34" charset="0"/>
                <a:ea typeface="DM Sans" pitchFamily="34" charset="-122"/>
                <a:cs typeface="DM Sans" pitchFamily="34" charset="-120"/>
              </a:rPr>
              <a:t>: Columns, Export CSV, Print, Save view. Tick rows to print or export only those.</a:t>
            </a:r>
            <a:endParaRPr lang="en-US" sz="1300" dirty="0"/>
          </a:p>
        </p:txBody>
      </p:sp>
      <p:sp>
        <p:nvSpPr>
          <p:cNvPr id="8" name="Shape 5"/>
          <p:cNvSpPr/>
          <p:nvPr/>
        </p:nvSpPr>
        <p:spPr>
          <a:xfrm>
            <a:off x="4388882" y="1823086"/>
            <a:ext cx="3414236" cy="2348865"/>
          </a:xfrm>
          <a:prstGeom prst="roundRect">
            <a:avLst>
              <a:gd name="adj" fmla="val 4190"/>
            </a:avLst>
          </a:prstGeom>
          <a:solidFill>
            <a:srgbClr val="FFFDF8"/>
          </a:solidFill>
          <a:ln w="6350">
            <a:solidFill>
              <a:srgbClr val="E4DFD3"/>
            </a:solidFill>
            <a:prstDash val="solid"/>
          </a:ln>
        </p:spPr>
      </p:sp>
      <p:pic>
        <p:nvPicPr>
          <p:cNvPr id="9" name="Image 1" descr="Book"/>
          <p:cNvPicPr>
            <a:picLocks noChangeAspect="1"/>
          </p:cNvPicPr>
          <p:nvPr/>
        </p:nvPicPr>
        <p:blipFill>
          <a:blip r:embed="rId4"/>
          <a:srcRect/>
          <a:stretch/>
        </p:blipFill>
        <p:spPr>
          <a:xfrm>
            <a:off x="4593987" y="2028189"/>
            <a:ext cx="304800" cy="304800"/>
          </a:xfrm>
          <a:prstGeom prst="rect">
            <a:avLst/>
          </a:prstGeom>
        </p:spPr>
      </p:pic>
      <p:sp>
        <p:nvSpPr>
          <p:cNvPr id="10" name="Text 6"/>
          <p:cNvSpPr/>
          <p:nvPr/>
        </p:nvSpPr>
        <p:spPr>
          <a:xfrm>
            <a:off x="4593987" y="2421889"/>
            <a:ext cx="3094147"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B2238"/>
                </a:solidFill>
                <a:latin typeface="DM Sans" pitchFamily="34" charset="0"/>
                <a:ea typeface="DM Sans" pitchFamily="34" charset="-122"/>
                <a:cs typeface="DM Sans" pitchFamily="34" charset="-120"/>
              </a:rPr>
              <a:t>The record page</a:t>
            </a:r>
            <a:endParaRPr lang="en-US" sz="1700" dirty="0"/>
          </a:p>
        </p:txBody>
      </p:sp>
      <p:sp>
        <p:nvSpPr>
          <p:cNvPr id="11" name="Text 7"/>
          <p:cNvSpPr/>
          <p:nvPr/>
        </p:nvSpPr>
        <p:spPr>
          <a:xfrm>
            <a:off x="4593987" y="2769871"/>
            <a:ext cx="3094147" cy="1222375"/>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160"/>
                </a:solidFill>
                <a:latin typeface="DM Sans" pitchFamily="34" charset="0"/>
                <a:ea typeface="DM Sans" pitchFamily="34" charset="-122"/>
                <a:cs typeface="DM Sans" pitchFamily="34" charset="-120"/>
              </a:rPr>
              <a:t>Buttons always in this order: </a:t>
            </a:r>
            <a:r>
              <a:rPr lang="en-US" sz="1300" b="1" dirty="0">
                <a:solidFill>
                  <a:srgbClr val="4A5160"/>
                </a:solidFill>
                <a:latin typeface="DM Sans" pitchFamily="34" charset="0"/>
                <a:ea typeface="DM Sans" pitchFamily="34" charset="-122"/>
                <a:cs typeface="DM Sans" pitchFamily="34" charset="-120"/>
              </a:rPr>
              <a:t>[next step] [Print] [⋯] [Modify]</a:t>
            </a:r>
            <a:r>
              <a:rPr lang="en-US" sz="1300" dirty="0">
                <a:solidFill>
                  <a:srgbClr val="4A5160"/>
                </a:solidFill>
                <a:latin typeface="DM Sans" pitchFamily="34" charset="0"/>
                <a:ea typeface="DM Sans" pitchFamily="34" charset="-122"/>
                <a:cs typeface="DM Sans" pitchFamily="34" charset="-120"/>
              </a:rPr>
              <a:t>. Rare and destructive actions (Cancel, Delete) live in ⋯ and always ask first in the bar under the header.</a:t>
            </a:r>
            <a:endParaRPr lang="en-US" sz="1300" dirty="0"/>
          </a:p>
        </p:txBody>
      </p:sp>
      <p:sp>
        <p:nvSpPr>
          <p:cNvPr id="12" name="Shape 8"/>
          <p:cNvSpPr/>
          <p:nvPr/>
        </p:nvSpPr>
        <p:spPr>
          <a:xfrm>
            <a:off x="7961868" y="1823086"/>
            <a:ext cx="3414157" cy="2348865"/>
          </a:xfrm>
          <a:prstGeom prst="roundRect">
            <a:avLst>
              <a:gd name="adj" fmla="val 4190"/>
            </a:avLst>
          </a:prstGeom>
          <a:solidFill>
            <a:srgbClr val="FFFDF8"/>
          </a:solidFill>
          <a:ln w="6350">
            <a:solidFill>
              <a:srgbClr val="E4DFD3"/>
            </a:solidFill>
            <a:prstDash val="solid"/>
          </a:ln>
        </p:spPr>
      </p:sp>
      <p:pic>
        <p:nvPicPr>
          <p:cNvPr id="13" name="Image 2" descr="CheckCircle"/>
          <p:cNvPicPr>
            <a:picLocks noChangeAspect="1"/>
          </p:cNvPicPr>
          <p:nvPr/>
        </p:nvPicPr>
        <p:blipFill>
          <a:blip r:embed="rId5"/>
          <a:srcRect/>
          <a:stretch/>
        </p:blipFill>
        <p:spPr>
          <a:xfrm>
            <a:off x="8166974" y="2028189"/>
            <a:ext cx="304800" cy="304800"/>
          </a:xfrm>
          <a:prstGeom prst="rect">
            <a:avLst/>
          </a:prstGeom>
        </p:spPr>
      </p:pic>
      <p:sp>
        <p:nvSpPr>
          <p:cNvPr id="14" name="Text 9"/>
          <p:cNvSpPr/>
          <p:nvPr/>
        </p:nvSpPr>
        <p:spPr>
          <a:xfrm>
            <a:off x="8166974" y="2421889"/>
            <a:ext cx="3094065"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B2238"/>
                </a:solidFill>
                <a:latin typeface="DM Sans" pitchFamily="34" charset="0"/>
                <a:ea typeface="DM Sans" pitchFamily="34" charset="-122"/>
                <a:cs typeface="DM Sans" pitchFamily="34" charset="-120"/>
              </a:rPr>
              <a:t>My Work</a:t>
            </a:r>
            <a:endParaRPr lang="en-US" sz="1700" dirty="0"/>
          </a:p>
        </p:txBody>
      </p:sp>
      <p:sp>
        <p:nvSpPr>
          <p:cNvPr id="15" name="Text 10"/>
          <p:cNvSpPr/>
          <p:nvPr/>
        </p:nvSpPr>
        <p:spPr>
          <a:xfrm>
            <a:off x="8166974" y="2769871"/>
            <a:ext cx="3094065" cy="98298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160"/>
                </a:solidFill>
                <a:latin typeface="DM Sans" pitchFamily="34" charset="0"/>
                <a:ea typeface="DM Sans" pitchFamily="34" charset="-122"/>
                <a:cs typeface="DM Sans" pitchFamily="34" charset="-120"/>
              </a:rPr>
              <a:t>Your queue: documents waiting for your approval, your open items, today’s meetings. The bell links straight to the document.</a:t>
            </a:r>
            <a:endParaRPr lang="en-US" sz="1300" dirty="0"/>
          </a:p>
        </p:txBody>
      </p:sp>
      <p:sp>
        <p:nvSpPr>
          <p:cNvPr id="16" name="Text 11"/>
          <p:cNvSpPr/>
          <p:nvPr/>
        </p:nvSpPr>
        <p:spPr>
          <a:xfrm>
            <a:off x="812800" y="4403725"/>
            <a:ext cx="10566400" cy="502920"/>
          </a:xfrm>
          <a:prstGeom prst="roundRect">
            <a:avLst>
              <a:gd name="adj" fmla="val 15152"/>
            </a:avLst>
          </a:prstGeom>
          <a:solidFill>
            <a:srgbClr val="EFEAF5"/>
          </a:solidFill>
          <a:ln/>
        </p:spPr>
        <p:txBody>
          <a:bodyPr wrap="square" lIns="155482" tIns="104682" rIns="0" bIns="79282" rtlCol="0" anchor="t">
            <a:normAutofit/>
          </a:bodyPr>
          <a:lstStyle/>
          <a:p>
            <a:pPr marL="0" indent="0" algn="l">
              <a:lnSpc>
                <a:spcPts val="1960"/>
              </a:lnSpc>
              <a:buNone/>
            </a:pPr>
            <a:r>
              <a:rPr lang="en-US" sz="1400" dirty="0">
                <a:solidFill>
                  <a:srgbClr val="1B2238"/>
                </a:solidFill>
                <a:latin typeface="DM Sans" pitchFamily="34" charset="0"/>
                <a:ea typeface="DM Sans" pitchFamily="34" charset="-122"/>
                <a:cs typeface="DM Sans" pitchFamily="34" charset="-120"/>
              </a:rPr>
              <a:t>Tip: </a:t>
            </a:r>
            <a:r>
              <a:rPr lang="en-US" sz="1400" b="1" dirty="0">
                <a:solidFill>
                  <a:srgbClr val="1B2238"/>
                </a:solidFill>
                <a:latin typeface="DM Sans" pitchFamily="34" charset="0"/>
                <a:ea typeface="DM Sans" pitchFamily="34" charset="-122"/>
                <a:cs typeface="DM Sans" pitchFamily="34" charset="-120"/>
              </a:rPr>
              <a:t>Ctrl + K</a:t>
            </a:r>
            <a:r>
              <a:rPr lang="en-US" sz="1400" dirty="0">
                <a:solidFill>
                  <a:srgbClr val="1B2238"/>
                </a:solidFill>
                <a:latin typeface="DM Sans" pitchFamily="34" charset="0"/>
                <a:ea typeface="DM Sans" pitchFamily="34" charset="-122"/>
                <a:cs typeface="DM Sans" pitchFamily="34" charset="-120"/>
              </a:rPr>
              <a:t> finds any record by number or name. The </a:t>
            </a:r>
            <a:r>
              <a:rPr lang="en-US" sz="1400" b="1" dirty="0">
                <a:solidFill>
                  <a:srgbClr val="1B2238"/>
                </a:solidFill>
                <a:latin typeface="DM Sans" pitchFamily="34" charset="0"/>
                <a:ea typeface="DM Sans" pitchFamily="34" charset="-122"/>
                <a:cs typeface="DM Sans" pitchFamily="34" charset="-120"/>
              </a:rPr>
              <a:t>? Help</a:t>
            </a:r>
            <a:r>
              <a:rPr lang="en-US" sz="1400" dirty="0">
                <a:solidFill>
                  <a:srgbClr val="1B2238"/>
                </a:solidFill>
                <a:latin typeface="DM Sans" pitchFamily="34" charset="0"/>
                <a:ea typeface="DM Sans" pitchFamily="34" charset="-122"/>
                <a:cs typeface="DM Sans" pitchFamily="34" charset="-120"/>
              </a:rPr>
              <a:t> button in the top bar sends a ticket with a screenshot.</a:t>
            </a:r>
            <a:endParaRPr lang="en-US" sz="1400" dirty="0"/>
          </a:p>
        </p:txBody>
      </p:sp>
      <p:sp>
        <p:nvSpPr>
          <p:cNvPr id="17" name="Text 12"/>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DM Sans" pitchFamily="34" charset="0"/>
                <a:ea typeface="DM Sans" pitchFamily="34" charset="-122"/>
                <a:cs typeface="DM Sans" pitchFamily="34" charset="-120"/>
              </a:rPr>
              <a:t>G-CORE Training · Working in G-CORE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2238"/>
        </a:solidFill>
        <a:effectLst/>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9CEDB"/>
                </a:solidFill>
                <a:latin typeface="DM Sans" pitchFamily="34" charset="0"/>
                <a:ea typeface="DM Sans" pitchFamily="34" charset="-122"/>
                <a:cs typeface="DM Sans" pitchFamily="34" charset="-120"/>
              </a:rPr>
              <a:t>ON SCREEN · BASICS</a:t>
            </a:r>
            <a:endParaRPr lang="en-US" sz="1200" dirty="0"/>
          </a:p>
        </p:txBody>
      </p:sp>
      <p:sp>
        <p:nvSpPr>
          <p:cNvPr id="3" name="Text 1"/>
          <p:cNvSpPr>
            <a:spLocks noGrp="1"/>
          </p:cNvSpPr>
          <p:nvPr>
            <p:ph type="title"/>
          </p:nvPr>
        </p:nvSpPr>
        <p:spPr>
          <a:xfrm>
            <a:off x="609600" y="746761"/>
            <a:ext cx="11301984"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F7F5F0"/>
                </a:solidFill>
                <a:latin typeface="Domine" pitchFamily="18" charset="0"/>
                <a:ea typeface="Domine" pitchFamily="18" charset="-122"/>
                <a:cs typeface="Domine" pitchFamily="18" charset="-120"/>
              </a:rPr>
              <a:t>The launcher: four divisions and My Work</a:t>
            </a:r>
            <a:endParaRPr lang="en-US" sz="2400" dirty="0"/>
          </a:p>
        </p:txBody>
      </p:sp>
      <p:sp>
        <p:nvSpPr>
          <p:cNvPr id="4" name="Shape 2"/>
          <p:cNvSpPr/>
          <p:nvPr/>
        </p:nvSpPr>
        <p:spPr>
          <a:xfrm>
            <a:off x="609600" y="1173482"/>
            <a:ext cx="8001000" cy="4502150"/>
          </a:xfrm>
          <a:prstGeom prst="roundRect">
            <a:avLst>
              <a:gd name="adj" fmla="val 1693"/>
            </a:avLst>
          </a:prstGeom>
          <a:solidFill>
            <a:srgbClr val="F7F5F0"/>
          </a:solidFill>
          <a:ln/>
        </p:spPr>
      </p:sp>
      <p:pic>
        <p:nvPicPr>
          <p:cNvPr id="5" name="Image 0" descr="G-CORE screen: The launcher: four divisions and My Work"/>
          <p:cNvPicPr>
            <a:picLocks noChangeAspect="1"/>
          </p:cNvPicPr>
          <p:nvPr/>
        </p:nvPicPr>
        <p:blipFill>
          <a:blip r:embed="rId3"/>
          <a:srcRect l="-106" r="-106"/>
          <a:stretch/>
        </p:blipFill>
        <p:spPr>
          <a:xfrm>
            <a:off x="622300" y="1186182"/>
            <a:ext cx="7975600" cy="4476750"/>
          </a:xfrm>
          <a:prstGeom prst="roundRect">
            <a:avLst>
              <a:gd name="adj" fmla="val 1418"/>
            </a:avLst>
          </a:prstGeom>
        </p:spPr>
      </p:pic>
      <p:sp>
        <p:nvSpPr>
          <p:cNvPr id="6" name="Shape 3"/>
          <p:cNvSpPr/>
          <p:nvPr/>
        </p:nvSpPr>
        <p:spPr>
          <a:xfrm>
            <a:off x="615950" y="1179832"/>
            <a:ext cx="7988300" cy="4489450"/>
          </a:xfrm>
          <a:prstGeom prst="roundRect">
            <a:avLst>
              <a:gd name="adj" fmla="val 1556"/>
            </a:avLst>
          </a:prstGeom>
          <a:noFill/>
          <a:ln w="12700">
            <a:solidFill>
              <a:srgbClr val="3A4466"/>
            </a:solidFill>
            <a:prstDash val="solid"/>
          </a:ln>
        </p:spPr>
      </p:sp>
      <p:sp>
        <p:nvSpPr>
          <p:cNvPr id="7" name="Text 4"/>
          <p:cNvSpPr/>
          <p:nvPr/>
        </p:nvSpPr>
        <p:spPr>
          <a:xfrm>
            <a:off x="8864600" y="1275082"/>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C9CEDB"/>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1</a:t>
            </a:r>
            <a:endParaRPr lang="en-US" sz="1300" dirty="0"/>
          </a:p>
        </p:txBody>
      </p:sp>
      <p:sp>
        <p:nvSpPr>
          <p:cNvPr id="8" name="Text 5"/>
          <p:cNvSpPr/>
          <p:nvPr/>
        </p:nvSpPr>
        <p:spPr>
          <a:xfrm>
            <a:off x="9283700" y="1275082"/>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Pick a division — G-OPS, G-CHAIN, G-FIN, G-HR.</a:t>
            </a:r>
            <a:endParaRPr lang="en-US" sz="1400" dirty="0"/>
          </a:p>
        </p:txBody>
      </p:sp>
      <p:sp>
        <p:nvSpPr>
          <p:cNvPr id="9" name="Text 6"/>
          <p:cNvSpPr/>
          <p:nvPr/>
        </p:nvSpPr>
        <p:spPr>
          <a:xfrm>
            <a:off x="8864600" y="1976121"/>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C9CEDB"/>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2</a:t>
            </a:r>
            <a:endParaRPr lang="en-US" sz="1300" dirty="0"/>
          </a:p>
        </p:txBody>
      </p:sp>
      <p:sp>
        <p:nvSpPr>
          <p:cNvPr id="10" name="Text 7"/>
          <p:cNvSpPr/>
          <p:nvPr/>
        </p:nvSpPr>
        <p:spPr>
          <a:xfrm>
            <a:off x="9283700" y="1976121"/>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My Work strip: what waits on you, in flight, today.</a:t>
            </a:r>
            <a:endParaRPr lang="en-US" sz="1400" dirty="0"/>
          </a:p>
        </p:txBody>
      </p:sp>
      <p:sp>
        <p:nvSpPr>
          <p:cNvPr id="11" name="Text 8"/>
          <p:cNvSpPr/>
          <p:nvPr/>
        </p:nvSpPr>
        <p:spPr>
          <a:xfrm>
            <a:off x="8864600" y="2677161"/>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C9CEDB"/>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3</a:t>
            </a:r>
            <a:endParaRPr lang="en-US" sz="1300" dirty="0"/>
          </a:p>
        </p:txBody>
      </p:sp>
      <p:sp>
        <p:nvSpPr>
          <p:cNvPr id="12" name="Text 9"/>
          <p:cNvSpPr/>
          <p:nvPr/>
        </p:nvSpPr>
        <p:spPr>
          <a:xfrm>
            <a:off x="9283700" y="2677161"/>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 Help (top right) raises a ticket with a screenshot.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B2A8C"/>
                </a:solidFill>
                <a:latin typeface="DM Sans" pitchFamily="34" charset="0"/>
                <a:ea typeface="DM Sans" pitchFamily="34" charset="-122"/>
                <a:cs typeface="DM Sans" pitchFamily="34" charset="-120"/>
              </a:rPr>
              <a:t>WORKING IN G-CORE</a:t>
            </a:r>
            <a:endParaRPr lang="en-US" sz="1200" dirty="0"/>
          </a:p>
        </p:txBody>
      </p:sp>
      <p:sp>
        <p:nvSpPr>
          <p:cNvPr id="3" name="Text 1"/>
          <p:cNvSpPr>
            <a:spLocks noGrp="1"/>
          </p:cNvSpPr>
          <p:nvPr>
            <p:ph type="title"/>
          </p:nvPr>
        </p:nvSpPr>
        <p:spPr>
          <a:xfrm>
            <a:off x="812800" y="1153161"/>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B2238"/>
                </a:solidFill>
                <a:latin typeface="Domine" pitchFamily="18" charset="0"/>
                <a:ea typeface="Domine" pitchFamily="18" charset="-122"/>
                <a:cs typeface="Domine" pitchFamily="18" charset="-120"/>
              </a:rPr>
              <a:t>One approval path for every document</a:t>
            </a:r>
            <a:endParaRPr lang="en-US" sz="3000" dirty="0"/>
          </a:p>
        </p:txBody>
      </p:sp>
      <p:sp>
        <p:nvSpPr>
          <p:cNvPr id="4" name="Shape 2"/>
          <p:cNvSpPr/>
          <p:nvPr/>
        </p:nvSpPr>
        <p:spPr>
          <a:xfrm>
            <a:off x="815975" y="1823086"/>
            <a:ext cx="5200650" cy="1145540"/>
          </a:xfrm>
          <a:prstGeom prst="roundRect">
            <a:avLst>
              <a:gd name="adj" fmla="val 8592"/>
            </a:avLst>
          </a:prstGeom>
          <a:solidFill>
            <a:srgbClr val="FFFDF8"/>
          </a:solidFill>
          <a:ln w="6350">
            <a:solidFill>
              <a:srgbClr val="E4DFD3"/>
            </a:solidFill>
            <a:prstDash val="solid"/>
          </a:ln>
        </p:spPr>
      </p:sp>
      <p:sp>
        <p:nvSpPr>
          <p:cNvPr id="5" name="Text 3"/>
          <p:cNvSpPr/>
          <p:nvPr/>
        </p:nvSpPr>
        <p:spPr>
          <a:xfrm>
            <a:off x="995680" y="2002789"/>
            <a:ext cx="498647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238"/>
                </a:solidFill>
                <a:latin typeface="DM Sans" pitchFamily="34" charset="0"/>
                <a:ea typeface="DM Sans" pitchFamily="34" charset="-122"/>
                <a:cs typeface="DM Sans" pitchFamily="34" charset="-120"/>
              </a:rPr>
              <a:t>1 · Draft → Submit for approval</a:t>
            </a:r>
            <a:endParaRPr lang="en-US" sz="1600" dirty="0"/>
          </a:p>
        </p:txBody>
      </p:sp>
      <p:sp>
        <p:nvSpPr>
          <p:cNvPr id="6" name="Text 4"/>
          <p:cNvSpPr/>
          <p:nvPr/>
        </p:nvSpPr>
        <p:spPr>
          <a:xfrm>
            <a:off x="995680" y="2310132"/>
            <a:ext cx="4986477" cy="50419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160"/>
                </a:solidFill>
                <a:latin typeface="DM Sans" pitchFamily="34" charset="0"/>
                <a:ea typeface="DM Sans" pitchFamily="34" charset="-122"/>
                <a:cs typeface="DM Sans" pitchFamily="34" charset="-120"/>
              </a:rPr>
              <a:t>Before you send, the page shows </a:t>
            </a:r>
            <a:r>
              <a:rPr lang="en-US" sz="1300" b="1" dirty="0">
                <a:solidFill>
                  <a:srgbClr val="4A5160"/>
                </a:solidFill>
                <a:latin typeface="DM Sans" pitchFamily="34" charset="0"/>
                <a:ea typeface="DM Sans" pitchFamily="34" charset="-122"/>
                <a:cs typeface="DM Sans" pitchFamily="34" charset="-120"/>
              </a:rPr>
              <a:t>“Submit for approval sends it to …”</a:t>
            </a:r>
            <a:r>
              <a:rPr lang="en-US" sz="1300" dirty="0">
                <a:solidFill>
                  <a:srgbClr val="4A5160"/>
                </a:solidFill>
                <a:latin typeface="DM Sans" pitchFamily="34" charset="0"/>
                <a:ea typeface="DM Sans" pitchFamily="34" charset="-122"/>
                <a:cs typeface="DM Sans" pitchFamily="34" charset="-120"/>
              </a:rPr>
              <a:t> with each step and the person’s name.</a:t>
            </a:r>
            <a:endParaRPr lang="en-US" sz="1300" dirty="0"/>
          </a:p>
        </p:txBody>
      </p:sp>
      <p:sp>
        <p:nvSpPr>
          <p:cNvPr id="7" name="Shape 5"/>
          <p:cNvSpPr/>
          <p:nvPr/>
        </p:nvSpPr>
        <p:spPr>
          <a:xfrm>
            <a:off x="6175375" y="1823086"/>
            <a:ext cx="5200650" cy="1145540"/>
          </a:xfrm>
          <a:prstGeom prst="roundRect">
            <a:avLst>
              <a:gd name="adj" fmla="val 8592"/>
            </a:avLst>
          </a:prstGeom>
          <a:solidFill>
            <a:srgbClr val="FFFDF8"/>
          </a:solidFill>
          <a:ln w="6350">
            <a:solidFill>
              <a:srgbClr val="E4DFD3"/>
            </a:solidFill>
            <a:prstDash val="solid"/>
          </a:ln>
        </p:spPr>
      </p:sp>
      <p:sp>
        <p:nvSpPr>
          <p:cNvPr id="8" name="Text 6"/>
          <p:cNvSpPr/>
          <p:nvPr/>
        </p:nvSpPr>
        <p:spPr>
          <a:xfrm>
            <a:off x="6355080" y="2002789"/>
            <a:ext cx="498647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238"/>
                </a:solidFill>
                <a:latin typeface="DM Sans" pitchFamily="34" charset="0"/>
                <a:ea typeface="DM Sans" pitchFamily="34" charset="-122"/>
                <a:cs typeface="DM Sans" pitchFamily="34" charset="-120"/>
              </a:rPr>
              <a:t>2 · Approvers decide on the page</a:t>
            </a:r>
            <a:endParaRPr lang="en-US" sz="1600" dirty="0"/>
          </a:p>
        </p:txBody>
      </p:sp>
      <p:sp>
        <p:nvSpPr>
          <p:cNvPr id="9" name="Text 7"/>
          <p:cNvSpPr/>
          <p:nvPr/>
        </p:nvSpPr>
        <p:spPr>
          <a:xfrm>
            <a:off x="6355080" y="2310132"/>
            <a:ext cx="4986477" cy="50419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160"/>
                </a:solidFill>
                <a:latin typeface="DM Sans" pitchFamily="34" charset="0"/>
                <a:ea typeface="DM Sans" pitchFamily="34" charset="-122"/>
                <a:cs typeface="DM Sans" pitchFamily="34" charset="-120"/>
              </a:rPr>
              <a:t>The </a:t>
            </a:r>
            <a:r>
              <a:rPr lang="en-US" sz="1300" b="1" dirty="0">
                <a:solidFill>
                  <a:srgbClr val="4A5160"/>
                </a:solidFill>
                <a:latin typeface="DM Sans" pitchFamily="34" charset="0"/>
                <a:ea typeface="DM Sans" pitchFamily="34" charset="-122"/>
                <a:cs typeface="DM Sans" pitchFamily="34" charset="-120"/>
              </a:rPr>
              <a:t>Approval panel</a:t>
            </a:r>
            <a:r>
              <a:rPr lang="en-US" sz="1300" dirty="0">
                <a:solidFill>
                  <a:srgbClr val="4A5160"/>
                </a:solidFill>
                <a:latin typeface="DM Sans" pitchFamily="34" charset="0"/>
                <a:ea typeface="DM Sans" pitchFamily="34" charset="-122"/>
                <a:cs typeface="DM Sans" pitchFamily="34" charset="-120"/>
              </a:rPr>
              <a:t> offers Approve, Return or Reject — also from My Work. Nobody approves their own document.</a:t>
            </a:r>
            <a:endParaRPr lang="en-US" sz="1300" dirty="0"/>
          </a:p>
        </p:txBody>
      </p:sp>
      <p:sp>
        <p:nvSpPr>
          <p:cNvPr id="10" name="Shape 8"/>
          <p:cNvSpPr/>
          <p:nvPr/>
        </p:nvSpPr>
        <p:spPr>
          <a:xfrm>
            <a:off x="815975" y="3127375"/>
            <a:ext cx="5200650" cy="1145540"/>
          </a:xfrm>
          <a:prstGeom prst="roundRect">
            <a:avLst>
              <a:gd name="adj" fmla="val 8592"/>
            </a:avLst>
          </a:prstGeom>
          <a:solidFill>
            <a:srgbClr val="FFFDF8"/>
          </a:solidFill>
          <a:ln w="6350">
            <a:solidFill>
              <a:srgbClr val="E4DFD3"/>
            </a:solidFill>
            <a:prstDash val="solid"/>
          </a:ln>
        </p:spPr>
      </p:sp>
      <p:sp>
        <p:nvSpPr>
          <p:cNvPr id="11" name="Text 9"/>
          <p:cNvSpPr/>
          <p:nvPr/>
        </p:nvSpPr>
        <p:spPr>
          <a:xfrm>
            <a:off x="995680" y="3307082"/>
            <a:ext cx="498647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238"/>
                </a:solidFill>
                <a:latin typeface="DM Sans" pitchFamily="34" charset="0"/>
                <a:ea typeface="DM Sans" pitchFamily="34" charset="-122"/>
                <a:cs typeface="DM Sans" pitchFamily="34" charset="-120"/>
              </a:rPr>
              <a:t>3 · Pull back, change, resend</a:t>
            </a:r>
            <a:endParaRPr lang="en-US" sz="1600" dirty="0"/>
          </a:p>
        </p:txBody>
      </p:sp>
      <p:sp>
        <p:nvSpPr>
          <p:cNvPr id="12" name="Text 10"/>
          <p:cNvSpPr/>
          <p:nvPr/>
        </p:nvSpPr>
        <p:spPr>
          <a:xfrm>
            <a:off x="995680" y="3614421"/>
            <a:ext cx="4986477" cy="50419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160"/>
                </a:solidFill>
                <a:latin typeface="DM Sans" pitchFamily="34" charset="0"/>
                <a:ea typeface="DM Sans" pitchFamily="34" charset="-122"/>
                <a:cs typeface="DM Sans" pitchFamily="34" charset="-120"/>
              </a:rPr>
              <a:t>A pending document is never edited behind the approver: ⋯ › </a:t>
            </a:r>
            <a:r>
              <a:rPr lang="en-US" sz="1300" b="1" dirty="0">
                <a:solidFill>
                  <a:srgbClr val="4A5160"/>
                </a:solidFill>
                <a:latin typeface="DM Sans" pitchFamily="34" charset="0"/>
                <a:ea typeface="DM Sans" pitchFamily="34" charset="-122"/>
                <a:cs typeface="DM Sans" pitchFamily="34" charset="-120"/>
              </a:rPr>
              <a:t>Pull back to draft</a:t>
            </a:r>
            <a:r>
              <a:rPr lang="en-US" sz="1300" dirty="0">
                <a:solidFill>
                  <a:srgbClr val="4A5160"/>
                </a:solidFill>
                <a:latin typeface="DM Sans" pitchFamily="34" charset="0"/>
                <a:ea typeface="DM Sans" pitchFamily="34" charset="-122"/>
                <a:cs typeface="DM Sans" pitchFamily="34" charset="-120"/>
              </a:rPr>
              <a:t>, Modify, submit again.</a:t>
            </a:r>
            <a:endParaRPr lang="en-US" sz="1300" dirty="0"/>
          </a:p>
        </p:txBody>
      </p:sp>
      <p:sp>
        <p:nvSpPr>
          <p:cNvPr id="13" name="Shape 11"/>
          <p:cNvSpPr/>
          <p:nvPr/>
        </p:nvSpPr>
        <p:spPr>
          <a:xfrm>
            <a:off x="6175375" y="3127375"/>
            <a:ext cx="5200650" cy="1145540"/>
          </a:xfrm>
          <a:prstGeom prst="roundRect">
            <a:avLst>
              <a:gd name="adj" fmla="val 8592"/>
            </a:avLst>
          </a:prstGeom>
          <a:solidFill>
            <a:srgbClr val="FFFDF8"/>
          </a:solidFill>
          <a:ln w="6350">
            <a:solidFill>
              <a:srgbClr val="E4DFD3"/>
            </a:solidFill>
            <a:prstDash val="solid"/>
          </a:ln>
        </p:spPr>
      </p:sp>
      <p:sp>
        <p:nvSpPr>
          <p:cNvPr id="14" name="Text 12"/>
          <p:cNvSpPr/>
          <p:nvPr/>
        </p:nvSpPr>
        <p:spPr>
          <a:xfrm>
            <a:off x="6355080" y="3307082"/>
            <a:ext cx="498647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238"/>
                </a:solidFill>
                <a:latin typeface="DM Sans" pitchFamily="34" charset="0"/>
                <a:ea typeface="DM Sans" pitchFamily="34" charset="-122"/>
                <a:cs typeface="DM Sans" pitchFamily="34" charset="-120"/>
              </a:rPr>
              <a:t>4 · One signature per person</a:t>
            </a:r>
            <a:endParaRPr lang="en-US" sz="1600" dirty="0"/>
          </a:p>
        </p:txBody>
      </p:sp>
      <p:sp>
        <p:nvSpPr>
          <p:cNvPr id="15" name="Text 13"/>
          <p:cNvSpPr/>
          <p:nvPr/>
        </p:nvSpPr>
        <p:spPr>
          <a:xfrm>
            <a:off x="6355080" y="3614421"/>
            <a:ext cx="4986477" cy="50419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160"/>
                </a:solidFill>
                <a:latin typeface="DM Sans" pitchFamily="34" charset="0"/>
                <a:ea typeface="DM Sans" pitchFamily="34" charset="-122"/>
                <a:cs typeface="DM Sans" pitchFamily="34" charset="-120"/>
              </a:rPr>
              <a:t>If you hold a step yourself, it is signed when you submit. Someone holding two steps signs both with one Approve.</a:t>
            </a:r>
            <a:endParaRPr lang="en-US" sz="1300" dirty="0"/>
          </a:p>
        </p:txBody>
      </p:sp>
      <p:sp>
        <p:nvSpPr>
          <p:cNvPr id="16" name="Text 14"/>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DM Sans" pitchFamily="34" charset="0"/>
                <a:ea typeface="DM Sans" pitchFamily="34" charset="-122"/>
                <a:cs typeface="DM Sans" pitchFamily="34" charset="-120"/>
              </a:rPr>
              <a:t>G-CORE Training · Approvals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2238"/>
        </a:solidFill>
        <a:effectLst/>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9CEDB"/>
                </a:solidFill>
                <a:latin typeface="DM Sans" pitchFamily="34" charset="0"/>
                <a:ea typeface="DM Sans" pitchFamily="34" charset="-122"/>
                <a:cs typeface="DM Sans" pitchFamily="34" charset="-120"/>
              </a:rPr>
              <a:t>ON SCREEN · BASICS</a:t>
            </a:r>
            <a:endParaRPr lang="en-US" sz="1200" dirty="0"/>
          </a:p>
        </p:txBody>
      </p:sp>
      <p:sp>
        <p:nvSpPr>
          <p:cNvPr id="3" name="Text 1"/>
          <p:cNvSpPr>
            <a:spLocks noGrp="1"/>
          </p:cNvSpPr>
          <p:nvPr>
            <p:ph type="title"/>
          </p:nvPr>
        </p:nvSpPr>
        <p:spPr>
          <a:xfrm>
            <a:off x="609600" y="746761"/>
            <a:ext cx="11301984"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F7F5F0"/>
                </a:solidFill>
                <a:latin typeface="Domine" pitchFamily="18" charset="0"/>
                <a:ea typeface="Domine" pitchFamily="18" charset="-122"/>
                <a:cs typeface="Domine" pitchFamily="18" charset="-120"/>
              </a:rPr>
              <a:t>My Work: every approval in one queue</a:t>
            </a:r>
            <a:endParaRPr lang="en-US" sz="2400" dirty="0"/>
          </a:p>
        </p:txBody>
      </p:sp>
      <p:sp>
        <p:nvSpPr>
          <p:cNvPr id="4" name="Shape 2"/>
          <p:cNvSpPr/>
          <p:nvPr/>
        </p:nvSpPr>
        <p:spPr>
          <a:xfrm>
            <a:off x="609600" y="1173482"/>
            <a:ext cx="8001000" cy="4502150"/>
          </a:xfrm>
          <a:prstGeom prst="roundRect">
            <a:avLst>
              <a:gd name="adj" fmla="val 1693"/>
            </a:avLst>
          </a:prstGeom>
          <a:solidFill>
            <a:srgbClr val="F7F5F0"/>
          </a:solidFill>
          <a:ln/>
        </p:spPr>
      </p:sp>
      <p:pic>
        <p:nvPicPr>
          <p:cNvPr id="5" name="Image 0" descr="G-CORE screen: My Work: every approval in one queue"/>
          <p:cNvPicPr>
            <a:picLocks noChangeAspect="1"/>
          </p:cNvPicPr>
          <p:nvPr/>
        </p:nvPicPr>
        <p:blipFill>
          <a:blip r:embed="rId3"/>
          <a:srcRect l="-106" r="-106"/>
          <a:stretch/>
        </p:blipFill>
        <p:spPr>
          <a:xfrm>
            <a:off x="622300" y="1186182"/>
            <a:ext cx="7975600" cy="4476750"/>
          </a:xfrm>
          <a:prstGeom prst="roundRect">
            <a:avLst>
              <a:gd name="adj" fmla="val 1418"/>
            </a:avLst>
          </a:prstGeom>
        </p:spPr>
      </p:pic>
      <p:sp>
        <p:nvSpPr>
          <p:cNvPr id="6" name="Shape 3"/>
          <p:cNvSpPr/>
          <p:nvPr/>
        </p:nvSpPr>
        <p:spPr>
          <a:xfrm>
            <a:off x="615950" y="1179832"/>
            <a:ext cx="7988300" cy="4489450"/>
          </a:xfrm>
          <a:prstGeom prst="roundRect">
            <a:avLst>
              <a:gd name="adj" fmla="val 1556"/>
            </a:avLst>
          </a:prstGeom>
          <a:noFill/>
          <a:ln w="12700">
            <a:solidFill>
              <a:srgbClr val="3A4466"/>
            </a:solidFill>
            <a:prstDash val="solid"/>
          </a:ln>
        </p:spPr>
      </p:sp>
      <p:sp>
        <p:nvSpPr>
          <p:cNvPr id="7" name="Text 4"/>
          <p:cNvSpPr/>
          <p:nvPr/>
        </p:nvSpPr>
        <p:spPr>
          <a:xfrm>
            <a:off x="8864600" y="1275082"/>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C9CEDB"/>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1</a:t>
            </a:r>
            <a:endParaRPr lang="en-US" sz="1300" dirty="0"/>
          </a:p>
        </p:txBody>
      </p:sp>
      <p:sp>
        <p:nvSpPr>
          <p:cNvPr id="8" name="Text 5"/>
          <p:cNvSpPr/>
          <p:nvPr/>
        </p:nvSpPr>
        <p:spPr>
          <a:xfrm>
            <a:off x="9283700" y="1275082"/>
            <a:ext cx="2367661"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Awaiting my approval — Approve, Return or Reject right here.</a:t>
            </a:r>
            <a:endParaRPr lang="en-US" sz="1400" dirty="0"/>
          </a:p>
        </p:txBody>
      </p:sp>
      <p:sp>
        <p:nvSpPr>
          <p:cNvPr id="9" name="Text 6"/>
          <p:cNvSpPr/>
          <p:nvPr/>
        </p:nvSpPr>
        <p:spPr>
          <a:xfrm>
            <a:off x="8864600" y="2225039"/>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C9CEDB"/>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2</a:t>
            </a:r>
            <a:endParaRPr lang="en-US" sz="1300" dirty="0"/>
          </a:p>
        </p:txBody>
      </p:sp>
      <p:sp>
        <p:nvSpPr>
          <p:cNvPr id="10" name="Text 7"/>
          <p:cNvSpPr/>
          <p:nvPr/>
        </p:nvSpPr>
        <p:spPr>
          <a:xfrm>
            <a:off x="9283700" y="2225039"/>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Today: meetings and activities.</a:t>
            </a:r>
            <a:endParaRPr lang="en-US" sz="1400" dirty="0"/>
          </a:p>
        </p:txBody>
      </p:sp>
      <p:sp>
        <p:nvSpPr>
          <p:cNvPr id="11" name="Text 8"/>
          <p:cNvSpPr/>
          <p:nvPr/>
        </p:nvSpPr>
        <p:spPr>
          <a:xfrm>
            <a:off x="8864600" y="2926082"/>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C9CEDB"/>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3</a:t>
            </a:r>
            <a:endParaRPr lang="en-US" sz="1300" dirty="0"/>
          </a:p>
        </p:txBody>
      </p:sp>
      <p:sp>
        <p:nvSpPr>
          <p:cNvPr id="12" name="Text 9"/>
          <p:cNvSpPr/>
          <p:nvPr/>
        </p:nvSpPr>
        <p:spPr>
          <a:xfrm>
            <a:off x="9283700" y="2926082"/>
            <a:ext cx="2367661"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Assigned to me: tasks, onboarding, receipts to confirm.</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5B2A8C"/>
        </a:solidFill>
        <a:effectLst/>
      </p:bgPr>
    </p:bg>
    <p:spTree>
      <p:nvGrpSpPr>
        <p:cNvPr id="1" name=""/>
        <p:cNvGrpSpPr/>
        <p:nvPr/>
      </p:nvGrpSpPr>
      <p:grpSpPr>
        <a:xfrm>
          <a:off x="0" y="0"/>
          <a:ext cx="0" cy="0"/>
          <a:chOff x="0" y="0"/>
          <a:chExt cx="0" cy="0"/>
        </a:xfrm>
      </p:grpSpPr>
      <p:sp>
        <p:nvSpPr>
          <p:cNvPr id="2" name="Text 0"/>
          <p:cNvSpPr/>
          <p:nvPr/>
        </p:nvSpPr>
        <p:spPr>
          <a:xfrm>
            <a:off x="812800" y="2584692"/>
            <a:ext cx="10883392" cy="274320"/>
          </a:xfrm>
          <a:prstGeom prst="rect">
            <a:avLst/>
          </a:prstGeom>
          <a:noFill/>
          <a:ln/>
        </p:spPr>
        <p:txBody>
          <a:bodyPr wrap="square" lIns="0" tIns="0" rIns="0" bIns="0" rtlCol="0" anchor="t">
            <a:normAutofit/>
          </a:bodyPr>
          <a:lstStyle/>
          <a:p>
            <a:pPr marL="0" indent="0" algn="l">
              <a:lnSpc>
                <a:spcPts val="1960"/>
              </a:lnSpc>
              <a:buNone/>
            </a:pPr>
            <a:r>
              <a:rPr lang="en-US" sz="1400" kern="0" spc="200" dirty="0">
                <a:solidFill>
                  <a:srgbClr val="E4D6F2"/>
                </a:solidFill>
                <a:latin typeface="DM Sans" pitchFamily="34" charset="0"/>
                <a:ea typeface="DM Sans" pitchFamily="34" charset="-122"/>
                <a:cs typeface="DM Sans" pitchFamily="34" charset="-120"/>
              </a:rPr>
              <a:t>PART 2 · 55 MINUTES · 9:25</a:t>
            </a:r>
            <a:endParaRPr lang="en-US" sz="1400" dirty="0"/>
          </a:p>
        </p:txBody>
      </p:sp>
      <p:sp>
        <p:nvSpPr>
          <p:cNvPr id="3" name="Text 1"/>
          <p:cNvSpPr>
            <a:spLocks noGrp="1"/>
          </p:cNvSpPr>
          <p:nvPr>
            <p:ph type="title"/>
          </p:nvPr>
        </p:nvSpPr>
        <p:spPr>
          <a:xfrm>
            <a:off x="812800" y="3036807"/>
            <a:ext cx="10883392" cy="738584"/>
          </a:xfrm>
          <a:prstGeom prst="rect">
            <a:avLst/>
          </a:prstGeom>
          <a:noFill/>
          <a:ln/>
        </p:spPr>
        <p:txBody>
          <a:bodyPr wrap="square" lIns="0" tIns="0" rIns="0" bIns="0" rtlCol="0" anchor="t">
            <a:normAutofit/>
          </a:bodyPr>
          <a:lstStyle/>
          <a:p>
            <a:pPr marL="0" indent="0" algn="l">
              <a:lnSpc>
                <a:spcPts val="5616"/>
              </a:lnSpc>
              <a:buNone/>
            </a:pPr>
            <a:r>
              <a:rPr lang="en-US" sz="5200" b="1" i="0" dirty="0">
                <a:solidFill>
                  <a:srgbClr val="F7F5F0"/>
                </a:solidFill>
                <a:latin typeface="Domine" pitchFamily="18" charset="0"/>
                <a:ea typeface="Domine" pitchFamily="18" charset="-122"/>
                <a:cs typeface="Domine" pitchFamily="18" charset="-120"/>
              </a:rPr>
              <a:t>Project Management</a:t>
            </a:r>
            <a:endParaRPr lang="en-US" sz="5200" dirty="0"/>
          </a:p>
        </p:txBody>
      </p:sp>
      <p:sp>
        <p:nvSpPr>
          <p:cNvPr id="4" name="Text 2"/>
          <p:cNvSpPr/>
          <p:nvPr/>
        </p:nvSpPr>
        <p:spPr>
          <a:xfrm>
            <a:off x="812800" y="3953191"/>
            <a:ext cx="9156700" cy="34544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E4D6F2"/>
                </a:solidFill>
                <a:latin typeface="DM Sans" pitchFamily="34" charset="0"/>
                <a:ea typeface="DM Sans" pitchFamily="34" charset="-122"/>
                <a:cs typeface="DM Sans" pitchFamily="34" charset="-120"/>
              </a:rPr>
              <a:t>G-OPS › Project Management: Costing · Projects · Job Orders · CAD J.O.</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B2A8C"/>
                </a:solidFill>
                <a:latin typeface="DM Sans" pitchFamily="34" charset="0"/>
                <a:ea typeface="DM Sans" pitchFamily="34" charset="-122"/>
                <a:cs typeface="DM Sans" pitchFamily="34" charset="-120"/>
              </a:rPr>
              <a:t>PROJECT MANAGEMENT</a:t>
            </a:r>
            <a:endParaRPr lang="en-US" sz="1200" dirty="0"/>
          </a:p>
        </p:txBody>
      </p:sp>
      <p:sp>
        <p:nvSpPr>
          <p:cNvPr id="3" name="Text 1"/>
          <p:cNvSpPr>
            <a:spLocks noGrp="1"/>
          </p:cNvSpPr>
          <p:nvPr>
            <p:ph type="title"/>
          </p:nvPr>
        </p:nvSpPr>
        <p:spPr>
          <a:xfrm>
            <a:off x="812800" y="1153164"/>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B2238"/>
                </a:solidFill>
                <a:latin typeface="Domine" pitchFamily="18" charset="0"/>
                <a:ea typeface="Domine" pitchFamily="18" charset="-122"/>
                <a:cs typeface="Domine" pitchFamily="18" charset="-120"/>
              </a:rPr>
              <a:t>The project’s life in six steps</a:t>
            </a:r>
            <a:endParaRPr lang="en-US" sz="3000" dirty="0"/>
          </a:p>
        </p:txBody>
      </p:sp>
      <p:sp>
        <p:nvSpPr>
          <p:cNvPr id="4" name="Shape 2"/>
          <p:cNvSpPr/>
          <p:nvPr/>
        </p:nvSpPr>
        <p:spPr>
          <a:xfrm>
            <a:off x="815975" y="1823089"/>
            <a:ext cx="3414157" cy="1583690"/>
          </a:xfrm>
          <a:prstGeom prst="roundRect">
            <a:avLst>
              <a:gd name="adj" fmla="val 6215"/>
            </a:avLst>
          </a:prstGeom>
          <a:solidFill>
            <a:srgbClr val="FFFDF8"/>
          </a:solidFill>
          <a:ln w="6350">
            <a:solidFill>
              <a:srgbClr val="E4DFD3"/>
            </a:solidFill>
            <a:prstDash val="solid"/>
          </a:ln>
        </p:spPr>
      </p:sp>
      <p:sp>
        <p:nvSpPr>
          <p:cNvPr id="5" name="Text 3"/>
          <p:cNvSpPr/>
          <p:nvPr/>
        </p:nvSpPr>
        <p:spPr>
          <a:xfrm>
            <a:off x="995680" y="2002792"/>
            <a:ext cx="3146389"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5B2A8C"/>
                </a:solidFill>
                <a:latin typeface="Domine" pitchFamily="18" charset="0"/>
                <a:ea typeface="Domine" pitchFamily="18" charset="-122"/>
                <a:cs typeface="Domine" pitchFamily="18" charset="-120"/>
              </a:rPr>
              <a:t>1</a:t>
            </a:r>
            <a:endParaRPr lang="en-US" sz="2200" dirty="0"/>
          </a:p>
        </p:txBody>
      </p:sp>
      <p:sp>
        <p:nvSpPr>
          <p:cNvPr id="6" name="Text 4"/>
          <p:cNvSpPr/>
          <p:nvPr/>
        </p:nvSpPr>
        <p:spPr>
          <a:xfrm>
            <a:off x="995680" y="2457450"/>
            <a:ext cx="314638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238"/>
                </a:solidFill>
                <a:latin typeface="DM Sans" pitchFamily="34" charset="0"/>
                <a:ea typeface="DM Sans" pitchFamily="34" charset="-122"/>
                <a:cs typeface="DM Sans" pitchFamily="34" charset="-120"/>
              </a:rPr>
              <a:t>Costing</a:t>
            </a:r>
            <a:endParaRPr lang="en-US" sz="1600" dirty="0"/>
          </a:p>
        </p:txBody>
      </p:sp>
      <p:sp>
        <p:nvSpPr>
          <p:cNvPr id="7" name="Text 5"/>
          <p:cNvSpPr/>
          <p:nvPr/>
        </p:nvSpPr>
        <p:spPr>
          <a:xfrm>
            <a:off x="995680" y="2764792"/>
            <a:ext cx="3146389"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160"/>
                </a:solidFill>
                <a:latin typeface="DM Sans" pitchFamily="34" charset="0"/>
                <a:ea typeface="DM Sans" pitchFamily="34" charset="-122"/>
                <a:cs typeface="DM Sans" pitchFamily="34" charset="-120"/>
              </a:rPr>
              <a:t>Engineer prices the work; TM › TL approve; it becomes FINAL</a:t>
            </a:r>
            <a:endParaRPr lang="en-US" sz="1300" dirty="0"/>
          </a:p>
        </p:txBody>
      </p:sp>
      <p:sp>
        <p:nvSpPr>
          <p:cNvPr id="8" name="Shape 6"/>
          <p:cNvSpPr/>
          <p:nvPr/>
        </p:nvSpPr>
        <p:spPr>
          <a:xfrm>
            <a:off x="4388882" y="1823089"/>
            <a:ext cx="3414157" cy="1583690"/>
          </a:xfrm>
          <a:prstGeom prst="roundRect">
            <a:avLst>
              <a:gd name="adj" fmla="val 6215"/>
            </a:avLst>
          </a:prstGeom>
          <a:solidFill>
            <a:srgbClr val="FFFDF8"/>
          </a:solidFill>
          <a:ln w="6350">
            <a:solidFill>
              <a:srgbClr val="E4DFD3"/>
            </a:solidFill>
            <a:prstDash val="solid"/>
          </a:ln>
        </p:spPr>
      </p:sp>
      <p:sp>
        <p:nvSpPr>
          <p:cNvPr id="9" name="Text 7"/>
          <p:cNvSpPr/>
          <p:nvPr/>
        </p:nvSpPr>
        <p:spPr>
          <a:xfrm>
            <a:off x="4568587" y="2002792"/>
            <a:ext cx="3146389"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5B2A8C"/>
                </a:solidFill>
                <a:latin typeface="Domine" pitchFamily="18" charset="0"/>
                <a:ea typeface="Domine" pitchFamily="18" charset="-122"/>
                <a:cs typeface="Domine" pitchFamily="18" charset="-120"/>
              </a:rPr>
              <a:t>2</a:t>
            </a:r>
            <a:endParaRPr lang="en-US" sz="2200" dirty="0"/>
          </a:p>
        </p:txBody>
      </p:sp>
      <p:sp>
        <p:nvSpPr>
          <p:cNvPr id="10" name="Text 8"/>
          <p:cNvSpPr/>
          <p:nvPr/>
        </p:nvSpPr>
        <p:spPr>
          <a:xfrm>
            <a:off x="4568587" y="2457450"/>
            <a:ext cx="314638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238"/>
                </a:solidFill>
                <a:latin typeface="DM Sans" pitchFamily="34" charset="0"/>
                <a:ea typeface="DM Sans" pitchFamily="34" charset="-122"/>
                <a:cs typeface="DM Sans" pitchFamily="34" charset="-120"/>
              </a:rPr>
              <a:t>Job order</a:t>
            </a:r>
            <a:endParaRPr lang="en-US" sz="1600" dirty="0"/>
          </a:p>
        </p:txBody>
      </p:sp>
      <p:sp>
        <p:nvSpPr>
          <p:cNvPr id="11" name="Text 9"/>
          <p:cNvSpPr/>
          <p:nvPr/>
        </p:nvSpPr>
        <p:spPr>
          <a:xfrm>
            <a:off x="4568587" y="2764792"/>
            <a:ext cx="3146389"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160"/>
                </a:solidFill>
                <a:latin typeface="DM Sans" pitchFamily="34" charset="0"/>
                <a:ea typeface="DM Sans" pitchFamily="34" charset="-122"/>
                <a:cs typeface="DM Sans" pitchFamily="34" charset="-120"/>
              </a:rPr>
              <a:t>Sales or TL requests the work on the won quotation</a:t>
            </a:r>
            <a:endParaRPr lang="en-US" sz="1300" dirty="0"/>
          </a:p>
        </p:txBody>
      </p:sp>
      <p:sp>
        <p:nvSpPr>
          <p:cNvPr id="12" name="Shape 10"/>
          <p:cNvSpPr/>
          <p:nvPr/>
        </p:nvSpPr>
        <p:spPr>
          <a:xfrm>
            <a:off x="7961789" y="1823089"/>
            <a:ext cx="3414157" cy="1583690"/>
          </a:xfrm>
          <a:prstGeom prst="roundRect">
            <a:avLst>
              <a:gd name="adj" fmla="val 6215"/>
            </a:avLst>
          </a:prstGeom>
          <a:solidFill>
            <a:srgbClr val="FFFDF8"/>
          </a:solidFill>
          <a:ln w="6350">
            <a:solidFill>
              <a:srgbClr val="E4DFD3"/>
            </a:solidFill>
            <a:prstDash val="solid"/>
          </a:ln>
        </p:spPr>
      </p:sp>
      <p:sp>
        <p:nvSpPr>
          <p:cNvPr id="13" name="Text 11"/>
          <p:cNvSpPr/>
          <p:nvPr/>
        </p:nvSpPr>
        <p:spPr>
          <a:xfrm>
            <a:off x="8141494" y="2002792"/>
            <a:ext cx="3146389"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5B2A8C"/>
                </a:solidFill>
                <a:latin typeface="Domine" pitchFamily="18" charset="0"/>
                <a:ea typeface="Domine" pitchFamily="18" charset="-122"/>
                <a:cs typeface="Domine" pitchFamily="18" charset="-120"/>
              </a:rPr>
              <a:t>3</a:t>
            </a:r>
            <a:endParaRPr lang="en-US" sz="2200" dirty="0"/>
          </a:p>
        </p:txBody>
      </p:sp>
      <p:sp>
        <p:nvSpPr>
          <p:cNvPr id="14" name="Text 12"/>
          <p:cNvSpPr/>
          <p:nvPr/>
        </p:nvSpPr>
        <p:spPr>
          <a:xfrm>
            <a:off x="8141494" y="2457450"/>
            <a:ext cx="314638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238"/>
                </a:solidFill>
                <a:latin typeface="DM Sans" pitchFamily="34" charset="0"/>
                <a:ea typeface="DM Sans" pitchFamily="34" charset="-122"/>
                <a:cs typeface="DM Sans" pitchFamily="34" charset="-120"/>
              </a:rPr>
              <a:t>Project built</a:t>
            </a:r>
            <a:endParaRPr lang="en-US" sz="1600" dirty="0"/>
          </a:p>
        </p:txBody>
      </p:sp>
      <p:sp>
        <p:nvSpPr>
          <p:cNvPr id="15" name="Text 13"/>
          <p:cNvSpPr/>
          <p:nvPr/>
        </p:nvSpPr>
        <p:spPr>
          <a:xfrm>
            <a:off x="8141494" y="2764792"/>
            <a:ext cx="3146389"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160"/>
                </a:solidFill>
                <a:latin typeface="DM Sans" pitchFamily="34" charset="0"/>
                <a:ea typeface="DM Sans" pitchFamily="34" charset="-122"/>
                <a:cs typeface="DM Sans" pitchFamily="34" charset="-120"/>
              </a:rPr>
              <a:t>Approval by Technical Manager › TL creates the project, budget and scope</a:t>
            </a:r>
            <a:endParaRPr lang="en-US" sz="1300" dirty="0"/>
          </a:p>
        </p:txBody>
      </p:sp>
      <p:sp>
        <p:nvSpPr>
          <p:cNvPr id="16" name="Shape 14"/>
          <p:cNvSpPr/>
          <p:nvPr/>
        </p:nvSpPr>
        <p:spPr>
          <a:xfrm>
            <a:off x="815975" y="3565525"/>
            <a:ext cx="3414157" cy="1583690"/>
          </a:xfrm>
          <a:prstGeom prst="roundRect">
            <a:avLst>
              <a:gd name="adj" fmla="val 6215"/>
            </a:avLst>
          </a:prstGeom>
          <a:solidFill>
            <a:srgbClr val="FFFDF8"/>
          </a:solidFill>
          <a:ln w="6350">
            <a:solidFill>
              <a:srgbClr val="E4DFD3"/>
            </a:solidFill>
            <a:prstDash val="solid"/>
          </a:ln>
        </p:spPr>
      </p:sp>
      <p:sp>
        <p:nvSpPr>
          <p:cNvPr id="17" name="Text 15"/>
          <p:cNvSpPr/>
          <p:nvPr/>
        </p:nvSpPr>
        <p:spPr>
          <a:xfrm>
            <a:off x="995680" y="3745229"/>
            <a:ext cx="3146389"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E7D41"/>
                </a:solidFill>
                <a:latin typeface="Domine" pitchFamily="18" charset="0"/>
                <a:ea typeface="Domine" pitchFamily="18" charset="-122"/>
                <a:cs typeface="Domine" pitchFamily="18" charset="-120"/>
              </a:rPr>
              <a:t>4</a:t>
            </a:r>
            <a:endParaRPr lang="en-US" sz="2200" dirty="0"/>
          </a:p>
        </p:txBody>
      </p:sp>
      <p:sp>
        <p:nvSpPr>
          <p:cNvPr id="18" name="Text 16"/>
          <p:cNvSpPr/>
          <p:nvPr/>
        </p:nvSpPr>
        <p:spPr>
          <a:xfrm>
            <a:off x="995680" y="4199892"/>
            <a:ext cx="314638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238"/>
                </a:solidFill>
                <a:latin typeface="DM Sans" pitchFamily="34" charset="0"/>
                <a:ea typeface="DM Sans" pitchFamily="34" charset="-122"/>
                <a:cs typeface="DM Sans" pitchFamily="34" charset="-120"/>
              </a:rPr>
              <a:t>Plan &amp; drawings</a:t>
            </a:r>
            <a:endParaRPr lang="en-US" sz="1600" dirty="0"/>
          </a:p>
        </p:txBody>
      </p:sp>
      <p:sp>
        <p:nvSpPr>
          <p:cNvPr id="19" name="Text 17"/>
          <p:cNvSpPr/>
          <p:nvPr/>
        </p:nvSpPr>
        <p:spPr>
          <a:xfrm>
            <a:off x="995680" y="4507229"/>
            <a:ext cx="3146389"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160"/>
                </a:solidFill>
                <a:latin typeface="DM Sans" pitchFamily="34" charset="0"/>
                <a:ea typeface="DM Sans" pitchFamily="34" charset="-122"/>
                <a:cs typeface="DM Sans" pitchFamily="34" charset="-120"/>
              </a:rPr>
              <a:t>Gantt from the costing; CAD J.O. and Request for Approval</a:t>
            </a:r>
            <a:endParaRPr lang="en-US" sz="1300" dirty="0"/>
          </a:p>
        </p:txBody>
      </p:sp>
      <p:sp>
        <p:nvSpPr>
          <p:cNvPr id="20" name="Shape 18"/>
          <p:cNvSpPr/>
          <p:nvPr/>
        </p:nvSpPr>
        <p:spPr>
          <a:xfrm>
            <a:off x="4388882" y="3565525"/>
            <a:ext cx="3414157" cy="1583690"/>
          </a:xfrm>
          <a:prstGeom prst="roundRect">
            <a:avLst>
              <a:gd name="adj" fmla="val 6215"/>
            </a:avLst>
          </a:prstGeom>
          <a:solidFill>
            <a:srgbClr val="FFFDF8"/>
          </a:solidFill>
          <a:ln w="6350">
            <a:solidFill>
              <a:srgbClr val="E4DFD3"/>
            </a:solidFill>
            <a:prstDash val="solid"/>
          </a:ln>
        </p:spPr>
      </p:sp>
      <p:sp>
        <p:nvSpPr>
          <p:cNvPr id="21" name="Text 19"/>
          <p:cNvSpPr/>
          <p:nvPr/>
        </p:nvSpPr>
        <p:spPr>
          <a:xfrm>
            <a:off x="4568587" y="3745229"/>
            <a:ext cx="3146389"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E7D41"/>
                </a:solidFill>
                <a:latin typeface="Domine" pitchFamily="18" charset="0"/>
                <a:ea typeface="Domine" pitchFamily="18" charset="-122"/>
                <a:cs typeface="Domine" pitchFamily="18" charset="-120"/>
              </a:rPr>
              <a:t>5</a:t>
            </a:r>
            <a:endParaRPr lang="en-US" sz="2200" dirty="0"/>
          </a:p>
        </p:txBody>
      </p:sp>
      <p:sp>
        <p:nvSpPr>
          <p:cNvPr id="22" name="Text 20"/>
          <p:cNvSpPr/>
          <p:nvPr/>
        </p:nvSpPr>
        <p:spPr>
          <a:xfrm>
            <a:off x="4568587" y="4199892"/>
            <a:ext cx="314638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238"/>
                </a:solidFill>
                <a:latin typeface="DM Sans" pitchFamily="34" charset="0"/>
                <a:ea typeface="DM Sans" pitchFamily="34" charset="-122"/>
                <a:cs typeface="DM Sans" pitchFamily="34" charset="-120"/>
              </a:rPr>
              <a:t>Accomplishment</a:t>
            </a:r>
            <a:endParaRPr lang="en-US" sz="1600" dirty="0"/>
          </a:p>
        </p:txBody>
      </p:sp>
      <p:sp>
        <p:nvSpPr>
          <p:cNvPr id="23" name="Text 21"/>
          <p:cNvSpPr/>
          <p:nvPr/>
        </p:nvSpPr>
        <p:spPr>
          <a:xfrm>
            <a:off x="4568587" y="4507229"/>
            <a:ext cx="3146389"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160"/>
                </a:solidFill>
                <a:latin typeface="DM Sans" pitchFamily="34" charset="0"/>
                <a:ea typeface="DM Sans" pitchFamily="34" charset="-122"/>
                <a:cs typeface="DM Sans" pitchFamily="34" charset="-120"/>
              </a:rPr>
              <a:t>Report per period: weights, daily entries, pictures</a:t>
            </a:r>
            <a:endParaRPr lang="en-US" sz="1300" dirty="0"/>
          </a:p>
        </p:txBody>
      </p:sp>
      <p:sp>
        <p:nvSpPr>
          <p:cNvPr id="24" name="Shape 22"/>
          <p:cNvSpPr/>
          <p:nvPr/>
        </p:nvSpPr>
        <p:spPr>
          <a:xfrm>
            <a:off x="7961789" y="3565525"/>
            <a:ext cx="3414157" cy="1583690"/>
          </a:xfrm>
          <a:prstGeom prst="roundRect">
            <a:avLst>
              <a:gd name="adj" fmla="val 6215"/>
            </a:avLst>
          </a:prstGeom>
          <a:solidFill>
            <a:srgbClr val="FFFDF8"/>
          </a:solidFill>
          <a:ln w="6350">
            <a:solidFill>
              <a:srgbClr val="E4DFD3"/>
            </a:solidFill>
            <a:prstDash val="solid"/>
          </a:ln>
        </p:spPr>
      </p:sp>
      <p:sp>
        <p:nvSpPr>
          <p:cNvPr id="25" name="Text 23"/>
          <p:cNvSpPr/>
          <p:nvPr/>
        </p:nvSpPr>
        <p:spPr>
          <a:xfrm>
            <a:off x="8141494" y="3745229"/>
            <a:ext cx="3146389"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E7D41"/>
                </a:solidFill>
                <a:latin typeface="Domine" pitchFamily="18" charset="0"/>
                <a:ea typeface="Domine" pitchFamily="18" charset="-122"/>
                <a:cs typeface="Domine" pitchFamily="18" charset="-120"/>
              </a:rPr>
              <a:t>6</a:t>
            </a:r>
            <a:endParaRPr lang="en-US" sz="2200" dirty="0"/>
          </a:p>
        </p:txBody>
      </p:sp>
      <p:sp>
        <p:nvSpPr>
          <p:cNvPr id="26" name="Text 24"/>
          <p:cNvSpPr/>
          <p:nvPr/>
        </p:nvSpPr>
        <p:spPr>
          <a:xfrm>
            <a:off x="8141494" y="4199892"/>
            <a:ext cx="314638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238"/>
                </a:solidFill>
                <a:latin typeface="DM Sans" pitchFamily="34" charset="0"/>
                <a:ea typeface="DM Sans" pitchFamily="34" charset="-122"/>
                <a:cs typeface="DM Sans" pitchFamily="34" charset="-120"/>
              </a:rPr>
              <a:t>Billing</a:t>
            </a:r>
            <a:endParaRPr lang="en-US" sz="1600" dirty="0"/>
          </a:p>
        </p:txBody>
      </p:sp>
      <p:sp>
        <p:nvSpPr>
          <p:cNvPr id="27" name="Text 25"/>
          <p:cNvSpPr/>
          <p:nvPr/>
        </p:nvSpPr>
        <p:spPr>
          <a:xfrm>
            <a:off x="8141494" y="4507229"/>
            <a:ext cx="3146389"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160"/>
                </a:solidFill>
                <a:latin typeface="DM Sans" pitchFamily="34" charset="0"/>
                <a:ea typeface="DM Sans" pitchFamily="34" charset="-122"/>
                <a:cs typeface="DM Sans" pitchFamily="34" charset="-120"/>
              </a:rPr>
              <a:t>Bills only what was added; finance raises the invoice</a:t>
            </a:r>
            <a:endParaRPr lang="en-US" sz="1300" dirty="0"/>
          </a:p>
        </p:txBody>
      </p:sp>
      <p:sp>
        <p:nvSpPr>
          <p:cNvPr id="28" name="Text 26"/>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DM Sans" pitchFamily="34" charset="0"/>
                <a:ea typeface="DM Sans" pitchFamily="34" charset="-122"/>
                <a:cs typeface="DM Sans" pitchFamily="34" charset="-120"/>
              </a:rPr>
              <a:t>G-CORE Training · Project Management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B2A8C"/>
                </a:solidFill>
                <a:latin typeface="DM Sans" pitchFamily="34" charset="0"/>
                <a:ea typeface="DM Sans" pitchFamily="34" charset="-122"/>
                <a:cs typeface="DM Sans" pitchFamily="34" charset="-120"/>
              </a:rPr>
              <a:t>STEP 1 · COSTING</a:t>
            </a:r>
            <a:endParaRPr lang="en-US" sz="1200" dirty="0"/>
          </a:p>
        </p:txBody>
      </p:sp>
      <p:sp>
        <p:nvSpPr>
          <p:cNvPr id="3" name="Text 1"/>
          <p:cNvSpPr>
            <a:spLocks noGrp="1"/>
          </p:cNvSpPr>
          <p:nvPr>
            <p:ph type="title"/>
          </p:nvPr>
        </p:nvSpPr>
        <p:spPr>
          <a:xfrm>
            <a:off x="812800" y="1127764"/>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B2238"/>
                </a:solidFill>
                <a:latin typeface="Domine" pitchFamily="18" charset="0"/>
                <a:ea typeface="Domine" pitchFamily="18" charset="-122"/>
                <a:cs typeface="Domine" pitchFamily="18" charset="-120"/>
              </a:rPr>
              <a:t>The costing sheet: cost, margin, scope</a:t>
            </a:r>
            <a:endParaRPr lang="en-US" sz="3000" dirty="0"/>
          </a:p>
        </p:txBody>
      </p:sp>
      <p:sp>
        <p:nvSpPr>
          <p:cNvPr id="4" name="Text 2"/>
          <p:cNvSpPr/>
          <p:nvPr/>
        </p:nvSpPr>
        <p:spPr>
          <a:xfrm>
            <a:off x="812800" y="1769114"/>
            <a:ext cx="6121908" cy="541020"/>
          </a:xfrm>
          <a:prstGeom prst="rect">
            <a:avLst/>
          </a:prstGeom>
          <a:noFill/>
          <a:ln/>
        </p:spPr>
        <p:txBody>
          <a:bodyPr wrap="square" lIns="0" tIns="0" rIns="0" bIns="0" rtlCol="0" anchor="t">
            <a:normAutofit/>
          </a:bodyPr>
          <a:lstStyle/>
          <a:p>
            <a:pPr marL="0" indent="0" algn="l">
              <a:lnSpc>
                <a:spcPts val="2030"/>
              </a:lnSpc>
              <a:buNone/>
            </a:pPr>
            <a:r>
              <a:rPr lang="en-US" sz="1400" b="1" dirty="0">
                <a:solidFill>
                  <a:srgbClr val="1B2238"/>
                </a:solidFill>
                <a:latin typeface="DM Sans" pitchFamily="34" charset="0"/>
                <a:ea typeface="DM Sans" pitchFamily="34" charset="-122"/>
                <a:cs typeface="DM Sans" pitchFamily="34" charset="-120"/>
              </a:rPr>
              <a:t>Lines in six buckets</a:t>
            </a:r>
            <a:r>
              <a:rPr lang="en-US" sz="1400" dirty="0">
                <a:solidFill>
                  <a:srgbClr val="1B2238"/>
                </a:solidFill>
                <a:latin typeface="DM Sans" pitchFamily="34" charset="0"/>
                <a:ea typeface="DM Sans" pitchFamily="34" charset="-122"/>
                <a:cs typeface="DM Sans" pitchFamily="34" charset="-120"/>
              </a:rPr>
              <a:t> — Materials, Equipment, Labor, Subcon, Indirect, Contingency. Each line can name its </a:t>
            </a:r>
            <a:r>
              <a:rPr lang="en-US" sz="1400" b="1" dirty="0">
                <a:solidFill>
                  <a:srgbClr val="1B2238"/>
                </a:solidFill>
                <a:latin typeface="DM Sans" pitchFamily="34" charset="0"/>
                <a:ea typeface="DM Sans" pitchFamily="34" charset="-122"/>
                <a:cs typeface="DM Sans" pitchFamily="34" charset="-120"/>
              </a:rPr>
              <a:t>supplier and a note</a:t>
            </a:r>
            <a:r>
              <a:rPr lang="en-US" sz="1400" dirty="0">
                <a:solidFill>
                  <a:srgbClr val="1B2238"/>
                </a:solidFill>
                <a:latin typeface="DM Sans" pitchFamily="34" charset="0"/>
                <a:ea typeface="DM Sans" pitchFamily="34" charset="-122"/>
                <a:cs typeface="DM Sans" pitchFamily="34" charset="-120"/>
              </a:rPr>
              <a:t>.</a:t>
            </a:r>
            <a:endParaRPr lang="en-US" sz="1400" dirty="0"/>
          </a:p>
        </p:txBody>
      </p:sp>
      <p:sp>
        <p:nvSpPr>
          <p:cNvPr id="5" name="Text 3"/>
          <p:cNvSpPr/>
          <p:nvPr/>
        </p:nvSpPr>
        <p:spPr>
          <a:xfrm>
            <a:off x="812800" y="2399029"/>
            <a:ext cx="6121908" cy="541020"/>
          </a:xfrm>
          <a:prstGeom prst="rect">
            <a:avLst/>
          </a:prstGeom>
          <a:noFill/>
          <a:ln/>
        </p:spPr>
        <p:txBody>
          <a:bodyPr wrap="square" lIns="0" tIns="0" rIns="0" bIns="0" rtlCol="0" anchor="t">
            <a:normAutofit/>
          </a:bodyPr>
          <a:lstStyle/>
          <a:p>
            <a:pPr marL="0" indent="0" algn="l">
              <a:lnSpc>
                <a:spcPts val="2030"/>
              </a:lnSpc>
              <a:buNone/>
            </a:pPr>
            <a:r>
              <a:rPr lang="en-US" sz="1400" b="1" dirty="0">
                <a:solidFill>
                  <a:srgbClr val="1B2238"/>
                </a:solidFill>
                <a:latin typeface="DM Sans" pitchFamily="34" charset="0"/>
                <a:ea typeface="DM Sans" pitchFamily="34" charset="-122"/>
                <a:cs typeface="DM Sans" pitchFamily="34" charset="-120"/>
              </a:rPr>
              <a:t>Margin, not markup.</a:t>
            </a:r>
            <a:r>
              <a:rPr lang="en-US" sz="1400" dirty="0">
                <a:solidFill>
                  <a:srgbClr val="1B2238"/>
                </a:solidFill>
                <a:latin typeface="DM Sans" pitchFamily="34" charset="0"/>
                <a:ea typeface="DM Sans" pitchFamily="34" charset="-122"/>
                <a:cs typeface="DM Sans" pitchFamily="34" charset="-120"/>
              </a:rPr>
              <a:t> Contract value = cost ÷ (1 − margin). Or </a:t>
            </a:r>
            <a:r>
              <a:rPr lang="en-US" sz="1400" b="1" dirty="0">
                <a:solidFill>
                  <a:srgbClr val="1B2238"/>
                </a:solidFill>
                <a:latin typeface="DM Sans" pitchFamily="34" charset="0"/>
                <a:ea typeface="DM Sans" pitchFamily="34" charset="-122"/>
                <a:cs typeface="DM Sans" pitchFamily="34" charset="-120"/>
              </a:rPr>
              <a:t>set the grand total</a:t>
            </a:r>
            <a:r>
              <a:rPr lang="en-US" sz="1400" dirty="0">
                <a:solidFill>
                  <a:srgbClr val="1B2238"/>
                </a:solidFill>
                <a:latin typeface="DM Sans" pitchFamily="34" charset="0"/>
                <a:ea typeface="DM Sans" pitchFamily="34" charset="-122"/>
                <a:cs typeface="DM Sans" pitchFamily="34" charset="-120"/>
              </a:rPr>
              <a:t> and the margin follows (fixed price; Release to go back).</a:t>
            </a:r>
            <a:endParaRPr lang="en-US" sz="1400" dirty="0"/>
          </a:p>
        </p:txBody>
      </p:sp>
      <p:sp>
        <p:nvSpPr>
          <p:cNvPr id="6" name="Text 4"/>
          <p:cNvSpPr/>
          <p:nvPr/>
        </p:nvSpPr>
        <p:spPr>
          <a:xfrm>
            <a:off x="812800" y="3028950"/>
            <a:ext cx="6121908" cy="798830"/>
          </a:xfrm>
          <a:prstGeom prst="rect">
            <a:avLst/>
          </a:prstGeom>
          <a:noFill/>
          <a:ln/>
        </p:spPr>
        <p:txBody>
          <a:bodyPr wrap="square" lIns="0" tIns="0" rIns="0" bIns="0" rtlCol="0" anchor="t">
            <a:normAutofit/>
          </a:bodyPr>
          <a:lstStyle/>
          <a:p>
            <a:pPr marL="0" indent="0" algn="l">
              <a:lnSpc>
                <a:spcPts val="2030"/>
              </a:lnSpc>
              <a:buNone/>
            </a:pPr>
            <a:r>
              <a:rPr lang="en-US" sz="1400" b="1" dirty="0">
                <a:solidFill>
                  <a:srgbClr val="1B2238"/>
                </a:solidFill>
                <a:latin typeface="DM Sans" pitchFamily="34" charset="0"/>
                <a:ea typeface="DM Sans" pitchFamily="34" charset="-122"/>
                <a:cs typeface="DM Sans" pitchFamily="34" charset="-120"/>
              </a:rPr>
              <a:t>Scope of work preloaded</a:t>
            </a:r>
            <a:r>
              <a:rPr lang="en-US" sz="1400" dirty="0">
                <a:solidFill>
                  <a:srgbClr val="1B2238"/>
                </a:solidFill>
                <a:latin typeface="DM Sans" pitchFamily="34" charset="0"/>
                <a:ea typeface="DM Sans" pitchFamily="34" charset="-122"/>
                <a:cs typeface="DM Sans" pitchFamily="34" charset="-120"/>
              </a:rPr>
              <a:t> — Planning &amp; Engineering … Hand Over &amp; Closure. Tasks in working days, </a:t>
            </a:r>
            <a:r>
              <a:rPr lang="en-US" sz="1400" b="1" dirty="0">
                <a:solidFill>
                  <a:srgbClr val="1B2238"/>
                </a:solidFill>
                <a:latin typeface="DM Sans" pitchFamily="34" charset="0"/>
                <a:ea typeface="DM Sans" pitchFamily="34" charset="-122"/>
                <a:cs typeface="DM Sans" pitchFamily="34" charset="-120"/>
              </a:rPr>
              <a:t>Mon–Sat</a:t>
            </a:r>
            <a:r>
              <a:rPr lang="en-US" sz="1400" dirty="0">
                <a:solidFill>
                  <a:srgbClr val="1B2238"/>
                </a:solidFill>
                <a:latin typeface="DM Sans" pitchFamily="34" charset="0"/>
                <a:ea typeface="DM Sans" pitchFamily="34" charset="-122"/>
                <a:cs typeface="DM Sans" pitchFamily="34" charset="-120"/>
              </a:rPr>
              <a:t>; a start date gives the finish date.</a:t>
            </a:r>
            <a:endParaRPr lang="en-US" sz="1400" dirty="0"/>
          </a:p>
        </p:txBody>
      </p:sp>
      <p:sp>
        <p:nvSpPr>
          <p:cNvPr id="7" name="Text 5"/>
          <p:cNvSpPr/>
          <p:nvPr/>
        </p:nvSpPr>
        <p:spPr>
          <a:xfrm>
            <a:off x="812800" y="3916679"/>
            <a:ext cx="6121908" cy="283210"/>
          </a:xfrm>
          <a:prstGeom prst="rect">
            <a:avLst/>
          </a:prstGeom>
          <a:noFill/>
          <a:ln/>
        </p:spPr>
        <p:txBody>
          <a:bodyPr wrap="square" lIns="0" tIns="0" rIns="0" bIns="0" rtlCol="0" anchor="t">
            <a:normAutofit/>
          </a:bodyPr>
          <a:lstStyle/>
          <a:p>
            <a:pPr marL="0" indent="0" algn="l">
              <a:lnSpc>
                <a:spcPts val="2030"/>
              </a:lnSpc>
              <a:buNone/>
            </a:pPr>
            <a:r>
              <a:rPr lang="en-US" sz="1400" b="1" dirty="0">
                <a:solidFill>
                  <a:srgbClr val="1B2238"/>
                </a:solidFill>
                <a:latin typeface="DM Sans" pitchFamily="34" charset="0"/>
                <a:ea typeface="DM Sans" pitchFamily="34" charset="-122"/>
                <a:cs typeface="DM Sans" pitchFamily="34" charset="-120"/>
              </a:rPr>
              <a:t>Phase value:</a:t>
            </a:r>
            <a:r>
              <a:rPr lang="en-US" sz="1400" dirty="0">
                <a:solidFill>
                  <a:srgbClr val="1B2238"/>
                </a:solidFill>
                <a:latin typeface="DM Sans" pitchFamily="34" charset="0"/>
                <a:ea typeface="DM Sans" pitchFamily="34" charset="-122"/>
                <a:cs typeface="DM Sans" pitchFamily="34" charset="-120"/>
              </a:rPr>
              <a:t> Spread, Declared, or From cost buckets.</a:t>
            </a:r>
            <a:endParaRPr lang="en-US" sz="1400" dirty="0"/>
          </a:p>
        </p:txBody>
      </p:sp>
      <p:sp>
        <p:nvSpPr>
          <p:cNvPr id="8" name="Shape 6"/>
          <p:cNvSpPr/>
          <p:nvPr/>
        </p:nvSpPr>
        <p:spPr>
          <a:xfrm>
            <a:off x="6959600" y="1769114"/>
            <a:ext cx="4419600" cy="2578100"/>
          </a:xfrm>
          <a:prstGeom prst="roundRect">
            <a:avLst>
              <a:gd name="adj" fmla="val 3941"/>
            </a:avLst>
          </a:prstGeom>
          <a:solidFill>
            <a:srgbClr val="1B2238"/>
          </a:solidFill>
          <a:ln/>
        </p:spPr>
      </p:sp>
      <p:sp>
        <p:nvSpPr>
          <p:cNvPr id="9" name="Text 7"/>
          <p:cNvSpPr/>
          <p:nvPr/>
        </p:nvSpPr>
        <p:spPr>
          <a:xfrm>
            <a:off x="7188200" y="1997714"/>
            <a:ext cx="408127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FD3AE"/>
                </a:solidFill>
                <a:latin typeface="DM Sans" pitchFamily="34" charset="0"/>
                <a:ea typeface="DM Sans" pitchFamily="34" charset="-122"/>
                <a:cs typeface="DM Sans" pitchFamily="34" charset="-120"/>
              </a:rPr>
              <a:t>ROUTE</a:t>
            </a:r>
            <a:endParaRPr lang="en-US" sz="1200" dirty="0"/>
          </a:p>
        </p:txBody>
      </p:sp>
      <p:sp>
        <p:nvSpPr>
          <p:cNvPr id="10" name="Text 8"/>
          <p:cNvSpPr/>
          <p:nvPr/>
        </p:nvSpPr>
        <p:spPr>
          <a:xfrm>
            <a:off x="7188200" y="2312671"/>
            <a:ext cx="4081272"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7F5F0"/>
                </a:solidFill>
                <a:latin typeface="DM Sans" pitchFamily="34" charset="0"/>
                <a:ea typeface="DM Sans" pitchFamily="34" charset="-122"/>
                <a:cs typeface="DM Sans" pitchFamily="34" charset="-120"/>
              </a:rPr>
              <a:t>Engineer prepares › </a:t>
            </a:r>
            <a:r>
              <a:rPr lang="en-US" sz="1500" b="1" dirty="0">
                <a:solidFill>
                  <a:srgbClr val="F7F5F0"/>
                </a:solidFill>
                <a:latin typeface="DM Sans" pitchFamily="34" charset="0"/>
                <a:ea typeface="DM Sans" pitchFamily="34" charset="-122"/>
                <a:cs typeface="DM Sans" pitchFamily="34" charset="-120"/>
              </a:rPr>
              <a:t>Technical Manager</a:t>
            </a:r>
            <a:r>
              <a:rPr lang="en-US" sz="1500" dirty="0">
                <a:solidFill>
                  <a:srgbClr val="F7F5F0"/>
                </a:solidFill>
                <a:latin typeface="DM Sans" pitchFamily="34" charset="0"/>
                <a:ea typeface="DM Sans" pitchFamily="34" charset="-122"/>
                <a:cs typeface="DM Sans" pitchFamily="34" charset="-120"/>
              </a:rPr>
              <a:t> (of the team) › </a:t>
            </a:r>
            <a:r>
              <a:rPr lang="en-US" sz="1500" b="1" dirty="0">
                <a:solidFill>
                  <a:srgbClr val="F7F5F0"/>
                </a:solidFill>
                <a:latin typeface="DM Sans" pitchFamily="34" charset="0"/>
                <a:ea typeface="DM Sans" pitchFamily="34" charset="-122"/>
                <a:cs typeface="DM Sans" pitchFamily="34" charset="-120"/>
              </a:rPr>
              <a:t>Team Leader</a:t>
            </a:r>
            <a:endParaRPr lang="en-US" sz="1500" dirty="0"/>
          </a:p>
        </p:txBody>
      </p:sp>
      <p:pic>
        <p:nvPicPr>
          <p:cNvPr id="11" name="Image 0" descr="line"/>
          <p:cNvPicPr>
            <a:picLocks noChangeAspect="1"/>
          </p:cNvPicPr>
          <p:nvPr/>
        </p:nvPicPr>
        <p:blipFill>
          <a:blip r:embed="rId3"/>
          <a:srcRect l="-12500" r="-12500"/>
          <a:stretch/>
        </p:blipFill>
        <p:spPr>
          <a:xfrm>
            <a:off x="7188200" y="2947671"/>
            <a:ext cx="3962400" cy="10160"/>
          </a:xfrm>
          <a:prstGeom prst="rect">
            <a:avLst/>
          </a:prstGeom>
        </p:spPr>
      </p:pic>
      <p:sp>
        <p:nvSpPr>
          <p:cNvPr id="12" name="Text 9"/>
          <p:cNvSpPr/>
          <p:nvPr/>
        </p:nvSpPr>
        <p:spPr>
          <a:xfrm>
            <a:off x="7188200" y="3059429"/>
            <a:ext cx="4081272" cy="50419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C9CEDB"/>
                </a:solidFill>
                <a:latin typeface="DM Sans" pitchFamily="34" charset="0"/>
                <a:ea typeface="DM Sans" pitchFamily="34" charset="-122"/>
                <a:cs typeface="DM Sans" pitchFamily="34" charset="-120"/>
              </a:rPr>
              <a:t>Approved → </a:t>
            </a:r>
            <a:r>
              <a:rPr lang="en-US" sz="1300" b="1" dirty="0">
                <a:solidFill>
                  <a:srgbClr val="C9CEDB"/>
                </a:solidFill>
                <a:latin typeface="DM Sans" pitchFamily="34" charset="0"/>
                <a:ea typeface="DM Sans" pitchFamily="34" charset="-122"/>
                <a:cs typeface="DM Sans" pitchFamily="34" charset="-120"/>
              </a:rPr>
              <a:t>FINAL</a:t>
            </a:r>
            <a:r>
              <a:rPr lang="en-US" sz="1300" dirty="0">
                <a:solidFill>
                  <a:srgbClr val="C9CEDB"/>
                </a:solidFill>
                <a:latin typeface="DM Sans" pitchFamily="34" charset="0"/>
                <a:ea typeface="DM Sans" pitchFamily="34" charset="-122"/>
                <a:cs typeface="DM Sans" pitchFamily="34" charset="-120"/>
              </a:rPr>
              <a:t>. A final costing is locked; Reopen needs a new approval.</a:t>
            </a:r>
            <a:endParaRPr lang="en-US" sz="1300" dirty="0"/>
          </a:p>
        </p:txBody>
      </p:sp>
      <p:sp>
        <p:nvSpPr>
          <p:cNvPr id="13" name="Text 10"/>
          <p:cNvSpPr/>
          <p:nvPr/>
        </p:nvSpPr>
        <p:spPr>
          <a:xfrm>
            <a:off x="7188200" y="3639821"/>
            <a:ext cx="4081272" cy="50419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C9CEDB"/>
                </a:solidFill>
                <a:latin typeface="DM Sans" pitchFamily="34" charset="0"/>
                <a:ea typeface="DM Sans" pitchFamily="34" charset="-122"/>
                <a:cs typeface="DM Sans" pitchFamily="34" charset="-120"/>
              </a:rPr>
              <a:t>Print = “Project Costing” with the Gantt chart as its last page.</a:t>
            </a:r>
            <a:endParaRPr lang="en-US" sz="1300" dirty="0"/>
          </a:p>
        </p:txBody>
      </p:sp>
      <p:sp>
        <p:nvSpPr>
          <p:cNvPr id="14" name="Text 11"/>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DM Sans" pitchFamily="34" charset="0"/>
                <a:ea typeface="DM Sans" pitchFamily="34" charset="-122"/>
                <a:cs typeface="DM Sans" pitchFamily="34" charset="-120"/>
              </a:rPr>
              <a:t>G-CORE Training · Project Management · G-OPS › Costing</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238"/>
        </a:solidFill>
        <a:effectLst/>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9A6EE"/>
                </a:solidFill>
                <a:latin typeface="DM Sans" pitchFamily="34" charset="0"/>
                <a:ea typeface="DM Sans" pitchFamily="34" charset="-122"/>
                <a:cs typeface="DM Sans" pitchFamily="34" charset="-120"/>
              </a:rPr>
              <a:t>ON SCREEN · PROJECT MANAGEMENT</a:t>
            </a:r>
            <a:endParaRPr lang="en-US" sz="1200" dirty="0"/>
          </a:p>
        </p:txBody>
      </p:sp>
      <p:sp>
        <p:nvSpPr>
          <p:cNvPr id="3" name="Text 1"/>
          <p:cNvSpPr>
            <a:spLocks noGrp="1"/>
          </p:cNvSpPr>
          <p:nvPr>
            <p:ph type="title"/>
          </p:nvPr>
        </p:nvSpPr>
        <p:spPr>
          <a:xfrm>
            <a:off x="609600" y="746764"/>
            <a:ext cx="11301984"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F7F5F0"/>
                </a:solidFill>
                <a:latin typeface="Domine" pitchFamily="18" charset="0"/>
                <a:ea typeface="Domine" pitchFamily="18" charset="-122"/>
                <a:cs typeface="Domine" pitchFamily="18" charset="-120"/>
              </a:rPr>
              <a:t>The costing sheet</a:t>
            </a:r>
            <a:endParaRPr lang="en-US" sz="2400" dirty="0"/>
          </a:p>
        </p:txBody>
      </p:sp>
      <p:sp>
        <p:nvSpPr>
          <p:cNvPr id="4" name="Shape 2"/>
          <p:cNvSpPr/>
          <p:nvPr/>
        </p:nvSpPr>
        <p:spPr>
          <a:xfrm>
            <a:off x="609600" y="1173479"/>
            <a:ext cx="8001000" cy="4502150"/>
          </a:xfrm>
          <a:prstGeom prst="roundRect">
            <a:avLst>
              <a:gd name="adj" fmla="val 1693"/>
            </a:avLst>
          </a:prstGeom>
          <a:solidFill>
            <a:srgbClr val="F7F5F0"/>
          </a:solidFill>
          <a:ln/>
        </p:spPr>
      </p:sp>
      <p:pic>
        <p:nvPicPr>
          <p:cNvPr id="5" name="Image 0" descr="G-CORE screen: The costing sheet"/>
          <p:cNvPicPr>
            <a:picLocks noChangeAspect="1"/>
          </p:cNvPicPr>
          <p:nvPr/>
        </p:nvPicPr>
        <p:blipFill>
          <a:blip r:embed="rId3"/>
          <a:srcRect l="-106" r="-106"/>
          <a:stretch/>
        </p:blipFill>
        <p:spPr>
          <a:xfrm>
            <a:off x="622300" y="1186179"/>
            <a:ext cx="7975600" cy="4476750"/>
          </a:xfrm>
          <a:prstGeom prst="roundRect">
            <a:avLst>
              <a:gd name="adj" fmla="val 1418"/>
            </a:avLst>
          </a:prstGeom>
        </p:spPr>
      </p:pic>
      <p:sp>
        <p:nvSpPr>
          <p:cNvPr id="6" name="Shape 3"/>
          <p:cNvSpPr/>
          <p:nvPr/>
        </p:nvSpPr>
        <p:spPr>
          <a:xfrm>
            <a:off x="615950" y="1179829"/>
            <a:ext cx="7988300" cy="4489450"/>
          </a:xfrm>
          <a:prstGeom prst="roundRect">
            <a:avLst>
              <a:gd name="adj" fmla="val 1556"/>
            </a:avLst>
          </a:prstGeom>
          <a:noFill/>
          <a:ln w="12700">
            <a:solidFill>
              <a:srgbClr val="3A4466"/>
            </a:solidFill>
            <a:prstDash val="solid"/>
          </a:ln>
        </p:spPr>
      </p:sp>
      <p:sp>
        <p:nvSpPr>
          <p:cNvPr id="7" name="Text 4"/>
          <p:cNvSpPr/>
          <p:nvPr/>
        </p:nvSpPr>
        <p:spPr>
          <a:xfrm>
            <a:off x="8864600" y="1275079"/>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C9A6E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1</a:t>
            </a:r>
            <a:endParaRPr lang="en-US" sz="1300" dirty="0"/>
          </a:p>
        </p:txBody>
      </p:sp>
      <p:sp>
        <p:nvSpPr>
          <p:cNvPr id="8" name="Text 5"/>
          <p:cNvSpPr/>
          <p:nvPr/>
        </p:nvSpPr>
        <p:spPr>
          <a:xfrm>
            <a:off x="9283700" y="1275079"/>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Header: project, customer, valid until, start date.</a:t>
            </a:r>
            <a:endParaRPr lang="en-US" sz="1400" dirty="0"/>
          </a:p>
        </p:txBody>
      </p:sp>
      <p:sp>
        <p:nvSpPr>
          <p:cNvPr id="9" name="Text 6"/>
          <p:cNvSpPr/>
          <p:nvPr/>
        </p:nvSpPr>
        <p:spPr>
          <a:xfrm>
            <a:off x="8864600" y="1976121"/>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C9A6E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2</a:t>
            </a:r>
            <a:endParaRPr lang="en-US" sz="1300" dirty="0"/>
          </a:p>
        </p:txBody>
      </p:sp>
      <p:sp>
        <p:nvSpPr>
          <p:cNvPr id="10" name="Text 7"/>
          <p:cNvSpPr/>
          <p:nvPr/>
        </p:nvSpPr>
        <p:spPr>
          <a:xfrm>
            <a:off x="9283700" y="1976121"/>
            <a:ext cx="2367661"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Lines by bucket: name, description, unit, qty, unit cost.</a:t>
            </a:r>
            <a:endParaRPr lang="en-US" sz="1400" dirty="0"/>
          </a:p>
        </p:txBody>
      </p:sp>
      <p:sp>
        <p:nvSpPr>
          <p:cNvPr id="11" name="Text 8"/>
          <p:cNvSpPr/>
          <p:nvPr/>
        </p:nvSpPr>
        <p:spPr>
          <a:xfrm>
            <a:off x="8864600" y="2926079"/>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C9A6E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3</a:t>
            </a:r>
            <a:endParaRPr lang="en-US" sz="1300" dirty="0"/>
          </a:p>
        </p:txBody>
      </p:sp>
      <p:sp>
        <p:nvSpPr>
          <p:cNvPr id="12" name="Text 9"/>
          <p:cNvSpPr/>
          <p:nvPr/>
        </p:nvSpPr>
        <p:spPr>
          <a:xfrm>
            <a:off x="9283700" y="2926079"/>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Supplier and Note under each unit cost.</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B2A8C"/>
                </a:solidFill>
                <a:latin typeface="DM Sans" pitchFamily="34" charset="0"/>
                <a:ea typeface="DM Sans" pitchFamily="34" charset="-122"/>
                <a:cs typeface="DM Sans" pitchFamily="34" charset="-120"/>
              </a:rPr>
              <a:t>STEP 2 · JOB ORDER</a:t>
            </a:r>
            <a:endParaRPr lang="en-US" sz="1200" dirty="0"/>
          </a:p>
        </p:txBody>
      </p:sp>
      <p:sp>
        <p:nvSpPr>
          <p:cNvPr id="3" name="Text 1"/>
          <p:cNvSpPr>
            <a:spLocks noGrp="1"/>
          </p:cNvSpPr>
          <p:nvPr>
            <p:ph type="title"/>
          </p:nvPr>
        </p:nvSpPr>
        <p:spPr>
          <a:xfrm>
            <a:off x="812800" y="1127764"/>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B2238"/>
                </a:solidFill>
                <a:latin typeface="Domine" pitchFamily="18" charset="0"/>
                <a:ea typeface="Domine" pitchFamily="18" charset="-122"/>
                <a:cs typeface="Domine" pitchFamily="18" charset="-120"/>
              </a:rPr>
              <a:t>The job order is the project work order</a:t>
            </a:r>
            <a:endParaRPr lang="en-US" sz="3000" dirty="0"/>
          </a:p>
        </p:txBody>
      </p:sp>
      <p:sp>
        <p:nvSpPr>
          <p:cNvPr id="4" name="Shape 2"/>
          <p:cNvSpPr/>
          <p:nvPr/>
        </p:nvSpPr>
        <p:spPr>
          <a:xfrm>
            <a:off x="815975" y="1772289"/>
            <a:ext cx="3417570" cy="2721610"/>
          </a:xfrm>
          <a:prstGeom prst="roundRect">
            <a:avLst>
              <a:gd name="adj" fmla="val 3616"/>
            </a:avLst>
          </a:prstGeom>
          <a:solidFill>
            <a:srgbClr val="FFFDF8"/>
          </a:solidFill>
          <a:ln w="6350">
            <a:solidFill>
              <a:srgbClr val="E4DFD3"/>
            </a:solidFill>
            <a:prstDash val="solid"/>
          </a:ln>
        </p:spPr>
      </p:sp>
      <p:sp>
        <p:nvSpPr>
          <p:cNvPr id="5" name="Text 3"/>
          <p:cNvSpPr/>
          <p:nvPr/>
        </p:nvSpPr>
        <p:spPr>
          <a:xfrm>
            <a:off x="1021080" y="1977392"/>
            <a:ext cx="3097581"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238"/>
                </a:solidFill>
                <a:latin typeface="DM Sans" pitchFamily="34" charset="0"/>
                <a:ea typeface="DM Sans" pitchFamily="34" charset="-122"/>
                <a:cs typeface="DM Sans" pitchFamily="34" charset="-120"/>
              </a:rPr>
              <a:t>What it carries</a:t>
            </a:r>
            <a:endParaRPr lang="en-US" sz="1600" dirty="0"/>
          </a:p>
        </p:txBody>
      </p:sp>
      <p:sp>
        <p:nvSpPr>
          <p:cNvPr id="6" name="Text 4"/>
          <p:cNvSpPr/>
          <p:nvPr/>
        </p:nvSpPr>
        <p:spPr>
          <a:xfrm>
            <a:off x="1112774" y="2297429"/>
            <a:ext cx="2998267" cy="1758950"/>
          </a:xfrm>
          <a:prstGeom prst="rect">
            <a:avLst/>
          </a:prstGeom>
          <a:noFill/>
          <a:ln/>
        </p:spPr>
        <p:txBody>
          <a:bodyPr wrap="square" lIns="0" tIns="0" rIns="0" bIns="0" rtlCol="0" anchor="t">
            <a:normAutofit/>
          </a:bodyPr>
          <a:lstStyle/>
          <a:p>
            <a:pPr marL="162306" indent="-162306" algn="l">
              <a:lnSpc>
                <a:spcPts val="1950"/>
              </a:lnSpc>
              <a:buSzPct val="100000"/>
              <a:buChar char="•"/>
            </a:pPr>
            <a:r>
              <a:rPr lang="en-US" sz="1300" dirty="0">
                <a:solidFill>
                  <a:srgbClr val="4A5160"/>
                </a:solidFill>
                <a:latin typeface="DM Sans" pitchFamily="34" charset="0"/>
                <a:ea typeface="DM Sans" pitchFamily="34" charset="-122"/>
                <a:cs typeface="DM Sans" pitchFamily="34" charset="-120"/>
              </a:rPr>
              <a:t>Links: quotation, sales order, project</a:t>
            </a:r>
            <a:endParaRPr lang="en-US" sz="1300" dirty="0"/>
          </a:p>
          <a:p>
            <a:pPr marL="162306" indent="-162306" algn="l">
              <a:lnSpc>
                <a:spcPts val="1950"/>
              </a:lnSpc>
              <a:buSzPct val="100000"/>
              <a:buChar char="•"/>
            </a:pPr>
            <a:r>
              <a:rPr lang="en-US" sz="1300" dirty="0">
                <a:solidFill>
                  <a:srgbClr val="4A5160"/>
                </a:solidFill>
                <a:latin typeface="DM Sans" pitchFamily="34" charset="0"/>
                <a:ea typeface="DM Sans" pitchFamily="34" charset="-122"/>
                <a:cs typeface="DM Sans" pitchFamily="34" charset="-120"/>
              </a:rPr>
              <a:t>Target start and finish (working days counted)</a:t>
            </a:r>
            <a:endParaRPr lang="en-US" sz="1300" dirty="0"/>
          </a:p>
          <a:p>
            <a:pPr marL="162306" indent="-162306" algn="l">
              <a:lnSpc>
                <a:spcPts val="1950"/>
              </a:lnSpc>
              <a:buSzPct val="100000"/>
              <a:buChar char="•"/>
            </a:pPr>
            <a:r>
              <a:rPr lang="en-US" sz="1300" dirty="0">
                <a:solidFill>
                  <a:srgbClr val="4A5160"/>
                </a:solidFill>
                <a:latin typeface="DM Sans" pitchFamily="34" charset="0"/>
                <a:ea typeface="DM Sans" pitchFamily="34" charset="-122"/>
                <a:cs typeface="DM Sans" pitchFamily="34" charset="-120"/>
              </a:rPr>
              <a:t>Scope of work, amount, customer PO</a:t>
            </a:r>
            <a:endParaRPr lang="en-US" sz="1300" dirty="0"/>
          </a:p>
          <a:p>
            <a:pPr marL="162306" indent="-162306" algn="l">
              <a:lnSpc>
                <a:spcPts val="1950"/>
              </a:lnSpc>
              <a:buSzPct val="100000"/>
              <a:buChar char="•"/>
            </a:pPr>
            <a:r>
              <a:rPr lang="en-US" sz="1300" dirty="0">
                <a:solidFill>
                  <a:srgbClr val="4A5160"/>
                </a:solidFill>
                <a:latin typeface="DM Sans" pitchFamily="34" charset="0"/>
                <a:ea typeface="DM Sans" pitchFamily="34" charset="-122"/>
                <a:cs typeface="DM Sans" pitchFamily="34" charset="-120"/>
              </a:rPr>
              <a:t>People: Technical Manager (as PM), engineer, lead, support</a:t>
            </a:r>
            <a:endParaRPr lang="en-US" sz="1300" dirty="0"/>
          </a:p>
        </p:txBody>
      </p:sp>
      <p:sp>
        <p:nvSpPr>
          <p:cNvPr id="7" name="Shape 5"/>
          <p:cNvSpPr/>
          <p:nvPr/>
        </p:nvSpPr>
        <p:spPr>
          <a:xfrm>
            <a:off x="4392295" y="1772289"/>
            <a:ext cx="3417570" cy="2721610"/>
          </a:xfrm>
          <a:prstGeom prst="roundRect">
            <a:avLst>
              <a:gd name="adj" fmla="val 3616"/>
            </a:avLst>
          </a:prstGeom>
          <a:solidFill>
            <a:srgbClr val="FFFDF8"/>
          </a:solidFill>
          <a:ln w="6350">
            <a:solidFill>
              <a:srgbClr val="E4DFD3"/>
            </a:solidFill>
            <a:prstDash val="solid"/>
          </a:ln>
        </p:spPr>
      </p:sp>
      <p:sp>
        <p:nvSpPr>
          <p:cNvPr id="8" name="Text 6"/>
          <p:cNvSpPr/>
          <p:nvPr/>
        </p:nvSpPr>
        <p:spPr>
          <a:xfrm>
            <a:off x="4597400" y="1977392"/>
            <a:ext cx="3097581"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238"/>
                </a:solidFill>
                <a:latin typeface="DM Sans" pitchFamily="34" charset="0"/>
                <a:ea typeface="DM Sans" pitchFamily="34" charset="-122"/>
                <a:cs typeface="DM Sans" pitchFamily="34" charset="-120"/>
              </a:rPr>
              <a:t>How it is approved</a:t>
            </a:r>
            <a:endParaRPr lang="en-US" sz="1600" dirty="0"/>
          </a:p>
        </p:txBody>
      </p:sp>
      <p:sp>
        <p:nvSpPr>
          <p:cNvPr id="9" name="Text 7"/>
          <p:cNvSpPr/>
          <p:nvPr/>
        </p:nvSpPr>
        <p:spPr>
          <a:xfrm>
            <a:off x="4597400" y="2297429"/>
            <a:ext cx="3097581" cy="98298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160"/>
                </a:solidFill>
                <a:latin typeface="DM Sans" pitchFamily="34" charset="0"/>
                <a:ea typeface="DM Sans" pitchFamily="34" charset="-122"/>
                <a:cs typeface="DM Sans" pitchFamily="34" charset="-120"/>
              </a:rPr>
              <a:t>Raised by Sales or the Team Leader. Route: the </a:t>
            </a:r>
            <a:r>
              <a:rPr lang="en-US" sz="1300" b="1" dirty="0">
                <a:solidFill>
                  <a:srgbClr val="4A5160"/>
                </a:solidFill>
                <a:latin typeface="DM Sans" pitchFamily="34" charset="0"/>
                <a:ea typeface="DM Sans" pitchFamily="34" charset="-122"/>
                <a:cs typeface="DM Sans" pitchFamily="34" charset="-120"/>
              </a:rPr>
              <a:t>Technical Manager</a:t>
            </a:r>
            <a:r>
              <a:rPr lang="en-US" sz="1300" dirty="0">
                <a:solidFill>
                  <a:srgbClr val="4A5160"/>
                </a:solidFill>
                <a:latin typeface="DM Sans" pitchFamily="34" charset="0"/>
                <a:ea typeface="DM Sans" pitchFamily="34" charset="-122"/>
                <a:cs typeface="DM Sans" pitchFamily="34" charset="-120"/>
              </a:rPr>
              <a:t> named on it as Project Manager › the salesperson’s </a:t>
            </a:r>
            <a:r>
              <a:rPr lang="en-US" sz="1300" b="1" dirty="0">
                <a:solidFill>
                  <a:srgbClr val="4A5160"/>
                </a:solidFill>
                <a:latin typeface="DM Sans" pitchFamily="34" charset="0"/>
                <a:ea typeface="DM Sans" pitchFamily="34" charset="-122"/>
                <a:cs typeface="DM Sans" pitchFamily="34" charset="-120"/>
              </a:rPr>
              <a:t>Team Leader</a:t>
            </a:r>
            <a:r>
              <a:rPr lang="en-US" sz="1300" dirty="0">
                <a:solidFill>
                  <a:srgbClr val="4A5160"/>
                </a:solidFill>
                <a:latin typeface="DM Sans" pitchFamily="34" charset="0"/>
                <a:ea typeface="DM Sans" pitchFamily="34" charset="-122"/>
                <a:cs typeface="DM Sans" pitchFamily="34" charset="-120"/>
              </a:rPr>
              <a:t>.</a:t>
            </a:r>
            <a:endParaRPr lang="en-US" sz="1300" dirty="0"/>
          </a:p>
        </p:txBody>
      </p:sp>
      <p:sp>
        <p:nvSpPr>
          <p:cNvPr id="10" name="Text 8"/>
          <p:cNvSpPr/>
          <p:nvPr/>
        </p:nvSpPr>
        <p:spPr>
          <a:xfrm>
            <a:off x="4597400" y="3331214"/>
            <a:ext cx="3097581" cy="982980"/>
          </a:xfrm>
          <a:prstGeom prst="rect">
            <a:avLst/>
          </a:prstGeom>
          <a:noFill/>
          <a:ln/>
        </p:spPr>
        <p:txBody>
          <a:bodyPr wrap="square" lIns="0" tIns="0" rIns="0" bIns="0" rtlCol="0" anchor="t">
            <a:normAutofit/>
          </a:bodyPr>
          <a:lstStyle/>
          <a:p>
            <a:pPr marL="0" indent="0" algn="l">
              <a:lnSpc>
                <a:spcPts val="1885"/>
              </a:lnSpc>
              <a:buNone/>
            </a:pPr>
            <a:r>
              <a:rPr lang="en-US" sz="1300" b="1" dirty="0">
                <a:solidFill>
                  <a:srgbClr val="4A5160"/>
                </a:solidFill>
                <a:latin typeface="DM Sans" pitchFamily="34" charset="0"/>
                <a:ea typeface="DM Sans" pitchFamily="34" charset="-122"/>
                <a:cs typeface="DM Sans" pitchFamily="34" charset="-120"/>
              </a:rPr>
              <a:t>Approval builds the project</a:t>
            </a:r>
            <a:r>
              <a:rPr lang="en-US" sz="1300" dirty="0">
                <a:solidFill>
                  <a:srgbClr val="4A5160"/>
                </a:solidFill>
                <a:latin typeface="DM Sans" pitchFamily="34" charset="0"/>
                <a:ea typeface="DM Sans" pitchFamily="34" charset="-122"/>
                <a:cs typeface="DM Sans" pitchFamily="34" charset="-120"/>
              </a:rPr>
              <a:t> from the quotation’s costing — name, dates, Technical Manager as its PM, budget, scope.</a:t>
            </a:r>
            <a:endParaRPr lang="en-US" sz="1300" dirty="0"/>
          </a:p>
        </p:txBody>
      </p:sp>
      <p:sp>
        <p:nvSpPr>
          <p:cNvPr id="11" name="Shape 9"/>
          <p:cNvSpPr/>
          <p:nvPr/>
        </p:nvSpPr>
        <p:spPr>
          <a:xfrm>
            <a:off x="7965440" y="1769114"/>
            <a:ext cx="3413760" cy="2727960"/>
          </a:xfrm>
          <a:prstGeom prst="roundRect">
            <a:avLst>
              <a:gd name="adj" fmla="val 3724"/>
            </a:avLst>
          </a:prstGeom>
          <a:solidFill>
            <a:srgbClr val="EFEAF5"/>
          </a:solidFill>
          <a:ln/>
        </p:spPr>
      </p:sp>
      <p:sp>
        <p:nvSpPr>
          <p:cNvPr id="12" name="Text 10"/>
          <p:cNvSpPr/>
          <p:nvPr/>
        </p:nvSpPr>
        <p:spPr>
          <a:xfrm>
            <a:off x="8168640" y="1972314"/>
            <a:ext cx="3097581"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238"/>
                </a:solidFill>
                <a:latin typeface="DM Sans" pitchFamily="34" charset="0"/>
                <a:ea typeface="DM Sans" pitchFamily="34" charset="-122"/>
                <a:cs typeface="DM Sans" pitchFamily="34" charset="-120"/>
              </a:rPr>
              <a:t>Where you see it</a:t>
            </a:r>
            <a:endParaRPr lang="en-US" sz="1600" dirty="0"/>
          </a:p>
        </p:txBody>
      </p:sp>
      <p:sp>
        <p:nvSpPr>
          <p:cNvPr id="13" name="Text 11"/>
          <p:cNvSpPr/>
          <p:nvPr/>
        </p:nvSpPr>
        <p:spPr>
          <a:xfrm>
            <a:off x="8168640" y="2292350"/>
            <a:ext cx="3097581" cy="743585"/>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3B2A55"/>
                </a:solidFill>
                <a:latin typeface="DM Sans" pitchFamily="34" charset="0"/>
                <a:ea typeface="DM Sans" pitchFamily="34" charset="-122"/>
                <a:cs typeface="DM Sans" pitchFamily="34" charset="-120"/>
              </a:rPr>
              <a:t>The Job Orders list says </a:t>
            </a:r>
            <a:r>
              <a:rPr lang="en-US" sz="1300" b="1" dirty="0">
                <a:solidFill>
                  <a:srgbClr val="3B2A55"/>
                </a:solidFill>
                <a:latin typeface="DM Sans" pitchFamily="34" charset="0"/>
                <a:ea typeface="DM Sans" pitchFamily="34" charset="-122"/>
                <a:cs typeface="DM Sans" pitchFamily="34" charset="-120"/>
              </a:rPr>
              <a:t>Project built: Converted</a:t>
            </a:r>
            <a:r>
              <a:rPr lang="en-US" sz="1300" dirty="0">
                <a:solidFill>
                  <a:srgbClr val="3B2A55"/>
                </a:solidFill>
                <a:latin typeface="DM Sans" pitchFamily="34" charset="0"/>
                <a:ea typeface="DM Sans" pitchFamily="34" charset="-122"/>
                <a:cs typeface="DM Sans" pitchFamily="34" charset="-120"/>
              </a:rPr>
              <a:t> once approved. The project page has its own </a:t>
            </a:r>
            <a:r>
              <a:rPr lang="en-US" sz="1300" b="1" dirty="0">
                <a:solidFill>
                  <a:srgbClr val="3B2A55"/>
                </a:solidFill>
                <a:latin typeface="DM Sans" pitchFamily="34" charset="0"/>
                <a:ea typeface="DM Sans" pitchFamily="34" charset="-122"/>
                <a:cs typeface="DM Sans" pitchFamily="34" charset="-120"/>
              </a:rPr>
              <a:t>Job Orders</a:t>
            </a:r>
            <a:r>
              <a:rPr lang="en-US" sz="1300" dirty="0">
                <a:solidFill>
                  <a:srgbClr val="3B2A55"/>
                </a:solidFill>
                <a:latin typeface="DM Sans" pitchFamily="34" charset="0"/>
                <a:ea typeface="DM Sans" pitchFamily="34" charset="-122"/>
                <a:cs typeface="DM Sans" pitchFamily="34" charset="-120"/>
              </a:rPr>
              <a:t> tab.</a:t>
            </a:r>
            <a:endParaRPr lang="en-US" sz="1300" dirty="0"/>
          </a:p>
        </p:txBody>
      </p:sp>
      <p:sp>
        <p:nvSpPr>
          <p:cNvPr id="14" name="Text 12"/>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DM Sans" pitchFamily="34" charset="0"/>
                <a:ea typeface="DM Sans" pitchFamily="34" charset="-122"/>
                <a:cs typeface="DM Sans" pitchFamily="34" charset="-120"/>
              </a:rPr>
              <a:t>G-CORE Training · Project Management · G-OPS › Job Orders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2238"/>
        </a:solidFill>
        <a:effectLst/>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9A6EE"/>
                </a:solidFill>
                <a:latin typeface="DM Sans" pitchFamily="34" charset="0"/>
                <a:ea typeface="DM Sans" pitchFamily="34" charset="-122"/>
                <a:cs typeface="DM Sans" pitchFamily="34" charset="-120"/>
              </a:rPr>
              <a:t>ON SCREEN · PROJECT MANAGEMENT</a:t>
            </a:r>
            <a:endParaRPr lang="en-US" sz="1200" dirty="0"/>
          </a:p>
        </p:txBody>
      </p:sp>
      <p:sp>
        <p:nvSpPr>
          <p:cNvPr id="3" name="Text 1"/>
          <p:cNvSpPr>
            <a:spLocks noGrp="1"/>
          </p:cNvSpPr>
          <p:nvPr>
            <p:ph type="title"/>
          </p:nvPr>
        </p:nvSpPr>
        <p:spPr>
          <a:xfrm>
            <a:off x="609600" y="746764"/>
            <a:ext cx="11301984"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F7F5F0"/>
                </a:solidFill>
                <a:latin typeface="Domine" pitchFamily="18" charset="0"/>
                <a:ea typeface="Domine" pitchFamily="18" charset="-122"/>
                <a:cs typeface="Domine" pitchFamily="18" charset="-120"/>
              </a:rPr>
              <a:t>A job order waiting on its approver</a:t>
            </a:r>
            <a:endParaRPr lang="en-US" sz="2400" dirty="0"/>
          </a:p>
        </p:txBody>
      </p:sp>
      <p:sp>
        <p:nvSpPr>
          <p:cNvPr id="4" name="Shape 2"/>
          <p:cNvSpPr/>
          <p:nvPr/>
        </p:nvSpPr>
        <p:spPr>
          <a:xfrm>
            <a:off x="609600" y="1173479"/>
            <a:ext cx="8001000" cy="4502150"/>
          </a:xfrm>
          <a:prstGeom prst="roundRect">
            <a:avLst>
              <a:gd name="adj" fmla="val 1693"/>
            </a:avLst>
          </a:prstGeom>
          <a:solidFill>
            <a:srgbClr val="F7F5F0"/>
          </a:solidFill>
          <a:ln/>
        </p:spPr>
      </p:sp>
      <p:pic>
        <p:nvPicPr>
          <p:cNvPr id="5" name="Image 0" descr="G-CORE screen: A job order waiting on its approver"/>
          <p:cNvPicPr>
            <a:picLocks noChangeAspect="1"/>
          </p:cNvPicPr>
          <p:nvPr/>
        </p:nvPicPr>
        <p:blipFill>
          <a:blip r:embed="rId3"/>
          <a:srcRect l="-106" r="-106"/>
          <a:stretch/>
        </p:blipFill>
        <p:spPr>
          <a:xfrm>
            <a:off x="622300" y="1186179"/>
            <a:ext cx="7975600" cy="4476750"/>
          </a:xfrm>
          <a:prstGeom prst="roundRect">
            <a:avLst>
              <a:gd name="adj" fmla="val 1418"/>
            </a:avLst>
          </a:prstGeom>
        </p:spPr>
      </p:pic>
      <p:sp>
        <p:nvSpPr>
          <p:cNvPr id="6" name="Shape 3"/>
          <p:cNvSpPr/>
          <p:nvPr/>
        </p:nvSpPr>
        <p:spPr>
          <a:xfrm>
            <a:off x="615950" y="1179829"/>
            <a:ext cx="7988300" cy="4489450"/>
          </a:xfrm>
          <a:prstGeom prst="roundRect">
            <a:avLst>
              <a:gd name="adj" fmla="val 1556"/>
            </a:avLst>
          </a:prstGeom>
          <a:noFill/>
          <a:ln w="12700">
            <a:solidFill>
              <a:srgbClr val="3A4466"/>
            </a:solidFill>
            <a:prstDash val="solid"/>
          </a:ln>
        </p:spPr>
      </p:sp>
      <p:sp>
        <p:nvSpPr>
          <p:cNvPr id="7" name="Text 4"/>
          <p:cNvSpPr/>
          <p:nvPr/>
        </p:nvSpPr>
        <p:spPr>
          <a:xfrm>
            <a:off x="8864600" y="1275079"/>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C9A6E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1</a:t>
            </a:r>
            <a:endParaRPr lang="en-US" sz="1300" dirty="0"/>
          </a:p>
        </p:txBody>
      </p:sp>
      <p:sp>
        <p:nvSpPr>
          <p:cNvPr id="8" name="Text 5"/>
          <p:cNvSpPr/>
          <p:nvPr/>
        </p:nvSpPr>
        <p:spPr>
          <a:xfrm>
            <a:off x="9283700" y="1275079"/>
            <a:ext cx="2367661"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The Approval panel: step 1 Technical Manager (the PM), step 2 Team Leader.</a:t>
            </a:r>
            <a:endParaRPr lang="en-US" sz="1400" dirty="0"/>
          </a:p>
        </p:txBody>
      </p:sp>
      <p:sp>
        <p:nvSpPr>
          <p:cNvPr id="9" name="Text 6"/>
          <p:cNvSpPr/>
          <p:nvPr/>
        </p:nvSpPr>
        <p:spPr>
          <a:xfrm>
            <a:off x="8864600" y="2225042"/>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C9A6E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2</a:t>
            </a:r>
            <a:endParaRPr lang="en-US" sz="1300" dirty="0"/>
          </a:p>
        </p:txBody>
      </p:sp>
      <p:sp>
        <p:nvSpPr>
          <p:cNvPr id="10" name="Text 7"/>
          <p:cNvSpPr/>
          <p:nvPr/>
        </p:nvSpPr>
        <p:spPr>
          <a:xfrm>
            <a:off x="9283700" y="2225042"/>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Approve / Return / Reject on the document itself.</a:t>
            </a:r>
            <a:endParaRPr lang="en-US" sz="1400" dirty="0"/>
          </a:p>
        </p:txBody>
      </p:sp>
      <p:sp>
        <p:nvSpPr>
          <p:cNvPr id="11" name="Text 8"/>
          <p:cNvSpPr/>
          <p:nvPr/>
        </p:nvSpPr>
        <p:spPr>
          <a:xfrm>
            <a:off x="8864600" y="2926079"/>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C9A6E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3</a:t>
            </a:r>
            <a:endParaRPr lang="en-US" sz="1300" dirty="0"/>
          </a:p>
        </p:txBody>
      </p:sp>
      <p:sp>
        <p:nvSpPr>
          <p:cNvPr id="12" name="Text 9"/>
          <p:cNvSpPr/>
          <p:nvPr/>
        </p:nvSpPr>
        <p:spPr>
          <a:xfrm>
            <a:off x="9283700" y="2926079"/>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Links: quotation, sales order, the project it builds.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B2A8C"/>
                </a:solidFill>
                <a:latin typeface="DM Sans" pitchFamily="34" charset="0"/>
                <a:ea typeface="DM Sans" pitchFamily="34" charset="-122"/>
                <a:cs typeface="DM Sans" pitchFamily="34" charset="-120"/>
              </a:rPr>
              <a:t>STEP 3 · THE PROJECT PAGE</a:t>
            </a:r>
            <a:endParaRPr lang="en-US" sz="1200" dirty="0"/>
          </a:p>
        </p:txBody>
      </p:sp>
      <p:sp>
        <p:nvSpPr>
          <p:cNvPr id="3" name="Text 1"/>
          <p:cNvSpPr>
            <a:spLocks noGrp="1"/>
          </p:cNvSpPr>
          <p:nvPr>
            <p:ph type="title"/>
          </p:nvPr>
        </p:nvSpPr>
        <p:spPr>
          <a:xfrm>
            <a:off x="812800" y="1127764"/>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B2238"/>
                </a:solidFill>
                <a:latin typeface="Domine" pitchFamily="18" charset="0"/>
                <a:ea typeface="Domine" pitchFamily="18" charset="-122"/>
                <a:cs typeface="Domine" pitchFamily="18" charset="-120"/>
              </a:rPr>
              <a:t>Everything about a project, one tab away</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779274"/>
          <a:ext cx="10556240" cy="3086100"/>
        </p:xfrm>
        <a:graphic>
          <a:graphicData uri="http://schemas.openxmlformats.org/drawingml/2006/table">
            <a:tbl>
              <a:tblPr/>
              <a:tblGrid>
                <a:gridCol w="2955747">
                  <a:extLst>
                    <a:ext uri="{9D8B030D-6E8A-4147-A177-3AD203B41FA5}">
                      <a16:colId xmlns:a16="http://schemas.microsoft.com/office/drawing/2014/main" val="20000"/>
                    </a:ext>
                  </a:extLst>
                </a:gridCol>
                <a:gridCol w="7600493">
                  <a:extLst>
                    <a:ext uri="{9D8B030D-6E8A-4147-A177-3AD203B41FA5}">
                      <a16:colId xmlns:a16="http://schemas.microsoft.com/office/drawing/2014/main" val="20001"/>
                    </a:ext>
                  </a:extLst>
                </a:gridCol>
              </a:tblGrid>
              <a:tr h="356870">
                <a:tc>
                  <a:txBody>
                    <a:bodyPr/>
                    <a:lstStyle/>
                    <a:p>
                      <a:pPr marL="0" indent="0">
                        <a:lnSpc>
                          <a:spcPts val="1820"/>
                        </a:lnSpc>
                        <a:buNone/>
                      </a:pPr>
                      <a:r>
                        <a:rPr lang="en-US" sz="1300" b="1" dirty="0">
                          <a:solidFill>
                            <a:srgbClr val="1B2238"/>
                          </a:solidFill>
                          <a:latin typeface="DM Sans" pitchFamily="34" charset="0"/>
                          <a:ea typeface="DM Sans" pitchFamily="34" charset="-122"/>
                          <a:cs typeface="DM Sans" pitchFamily="34" charset="-120"/>
                        </a:rPr>
                        <a:t>Tab</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marL="0" indent="0">
                        <a:lnSpc>
                          <a:spcPts val="1820"/>
                        </a:lnSpc>
                        <a:buNone/>
                      </a:pPr>
                      <a:r>
                        <a:rPr lang="en-US" sz="1300" b="1" dirty="0">
                          <a:solidFill>
                            <a:srgbClr val="1B2238"/>
                          </a:solidFill>
                          <a:latin typeface="DM Sans" pitchFamily="34" charset="0"/>
                          <a:ea typeface="DM Sans" pitchFamily="34" charset="-122"/>
                          <a:cs typeface="DM Sans" pitchFamily="34" charset="-120"/>
                        </a:rPr>
                        <a:t>What it holds</a:t>
                      </a:r>
                      <a:endParaRPr lang="en-US" sz="1300" dirty="0">
                        <a:latin typeface="DM Sans" charset="0"/>
                        <a:ea typeface="DM Sans" charset="0"/>
                        <a:cs typeface="DM Sans" charset="0"/>
                      </a:endParaRPr>
                    </a:p>
                  </a:txBody>
                  <a:tcPr marL="57785" marR="57785" marT="57785" marB="57785">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Overview</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Progress, billed, budget, expected margin, S-curve, schedule</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1"/>
                  </a:ext>
                </a:extLst>
              </a:tr>
              <a:tr h="356870">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Costing · Job Orders</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BFBB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BC3"/>
                      </a:solidFill>
                      <a:prstDash val="solid"/>
                      <a:round/>
                      <a:headEnd type="none" w="med" len="med"/>
                      <a:tailEnd type="none" w="med" len="med"/>
                    </a:lnB>
                    <a:solidFill>
                      <a:srgbClr val="EFEAF5"/>
                    </a:solidFill>
                  </a:tcPr>
                </a:tc>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The costing it came from (lines, phase weights); its job orders and whether converted</a:t>
                      </a:r>
                      <a:endParaRPr lang="en-US" sz="1300" dirty="0">
                        <a:latin typeface="DM Sans" charset="0"/>
                        <a:ea typeface="DM Sans" charset="0"/>
                        <a:cs typeface="DM Sans" charset="0"/>
                      </a:endParaRPr>
                    </a:p>
                  </a:txBody>
                  <a:tcPr marL="57785" marR="57785" marT="57785" marB="57785">
                    <a:lnL w="12700" cap="flat" cmpd="sng" algn="ctr">
                      <a:solidFill>
                        <a:srgbClr val="BFBBC3"/>
                      </a:solidFill>
                      <a:prstDash val="solid"/>
                      <a:round/>
                      <a:headEnd type="none" w="med" len="med"/>
                      <a:tailEnd type="none" w="med" len="med"/>
                    </a:lnL>
                    <a:lnR w="12700" cap="flat" cmpd="sng" algn="ctr">
                      <a:solidFill>
                        <a:srgbClr val="BFBB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BC3"/>
                      </a:solidFill>
                      <a:prstDash val="solid"/>
                      <a:round/>
                      <a:headEnd type="none" w="med" len="med"/>
                      <a:tailEnd type="none" w="med" len="med"/>
                    </a:lnB>
                    <a:solidFill>
                      <a:srgbClr val="EFEAF5"/>
                    </a:solidFill>
                  </a:tcPr>
                </a:tc>
                <a:extLst>
                  <a:ext uri="{0D108BD9-81ED-4DB2-BD59-A6C34878D82A}">
                    <a16:rowId xmlns:a16="http://schemas.microsoft.com/office/drawing/2014/main" val="10002"/>
                  </a:ext>
                </a:extLst>
              </a:tr>
              <a:tr h="356870">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Meetings &amp; Records</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B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Meetings held for the project, their minutes, documents, activity</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B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3"/>
                  </a:ext>
                </a:extLst>
              </a:tr>
              <a:tr h="356870">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Request for Approval</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BFBB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BC3"/>
                      </a:solidFill>
                      <a:prstDash val="solid"/>
                      <a:round/>
                      <a:headEnd type="none" w="med" len="med"/>
                      <a:tailEnd type="none" w="med" len="med"/>
                    </a:lnB>
                    <a:solidFill>
                      <a:srgbClr val="EFEAF5"/>
                    </a:solidFill>
                  </a:tcPr>
                </a:tc>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Drawings sent for internal approval (TM › TL, CEO over ₱1M)</a:t>
                      </a:r>
                      <a:endParaRPr lang="en-US" sz="1300" dirty="0">
                        <a:latin typeface="DM Sans" charset="0"/>
                        <a:ea typeface="DM Sans" charset="0"/>
                        <a:cs typeface="DM Sans" charset="0"/>
                      </a:endParaRPr>
                    </a:p>
                  </a:txBody>
                  <a:tcPr marL="57785" marR="57785" marT="57785" marB="57785">
                    <a:lnL w="12700" cap="flat" cmpd="sng" algn="ctr">
                      <a:solidFill>
                        <a:srgbClr val="BFBBC3"/>
                      </a:solidFill>
                      <a:prstDash val="solid"/>
                      <a:round/>
                      <a:headEnd type="none" w="med" len="med"/>
                      <a:tailEnd type="none" w="med" len="med"/>
                    </a:lnL>
                    <a:lnR w="12700" cap="flat" cmpd="sng" algn="ctr">
                      <a:solidFill>
                        <a:srgbClr val="BFBB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BC3"/>
                      </a:solidFill>
                      <a:prstDash val="solid"/>
                      <a:round/>
                      <a:headEnd type="none" w="med" len="med"/>
                      <a:tailEnd type="none" w="med" len="med"/>
                    </a:lnB>
                    <a:solidFill>
                      <a:srgbClr val="EFEAF5"/>
                    </a:solidFill>
                  </a:tcPr>
                </a:tc>
                <a:extLst>
                  <a:ext uri="{0D108BD9-81ED-4DB2-BD59-A6C34878D82A}">
                    <a16:rowId xmlns:a16="http://schemas.microsoft.com/office/drawing/2014/main" val="10004"/>
                  </a:ext>
                </a:extLst>
              </a:tr>
              <a:tr h="356870">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Budget Monitoring</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B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Budgeted, committed, incurred, available per budget line</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B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5"/>
                  </a:ext>
                </a:extLst>
              </a:tr>
              <a:tr h="588010">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Purchase Requisition · Budget Requests</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BFBB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BC3"/>
                      </a:solidFill>
                      <a:prstDash val="solid"/>
                      <a:round/>
                      <a:headEnd type="none" w="med" len="med"/>
                      <a:tailEnd type="none" w="med" len="med"/>
                    </a:lnB>
                    <a:solidFill>
                      <a:srgbClr val="EFEAF5"/>
                    </a:solidFill>
                  </a:tcPr>
                </a:tc>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Buying through G-CHAIN, or asking for project cash</a:t>
                      </a:r>
                      <a:endParaRPr lang="en-US" sz="1300" dirty="0">
                        <a:latin typeface="DM Sans" charset="0"/>
                        <a:ea typeface="DM Sans" charset="0"/>
                        <a:cs typeface="DM Sans" charset="0"/>
                      </a:endParaRPr>
                    </a:p>
                  </a:txBody>
                  <a:tcPr marL="57785" marR="57785" marT="57785" marB="57785">
                    <a:lnL w="12700" cap="flat" cmpd="sng" algn="ctr">
                      <a:solidFill>
                        <a:srgbClr val="BFBBC3"/>
                      </a:solidFill>
                      <a:prstDash val="solid"/>
                      <a:round/>
                      <a:headEnd type="none" w="med" len="med"/>
                      <a:tailEnd type="none" w="med" len="med"/>
                    </a:lnL>
                    <a:lnR w="12700" cap="flat" cmpd="sng" algn="ctr">
                      <a:solidFill>
                        <a:srgbClr val="BFBB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BC3"/>
                      </a:solidFill>
                      <a:prstDash val="solid"/>
                      <a:round/>
                      <a:headEnd type="none" w="med" len="med"/>
                      <a:tailEnd type="none" w="med" len="med"/>
                    </a:lnB>
                    <a:solidFill>
                      <a:srgbClr val="EFEAF5"/>
                    </a:solidFill>
                  </a:tcPr>
                </a:tc>
                <a:extLst>
                  <a:ext uri="{0D108BD9-81ED-4DB2-BD59-A6C34878D82A}">
                    <a16:rowId xmlns:a16="http://schemas.microsoft.com/office/drawing/2014/main" val="10006"/>
                  </a:ext>
                </a:extLst>
              </a:tr>
              <a:tr h="356870">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Scope of Work · Progress &amp; Billing</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B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The Gantt chart; accomplishment reports and billings</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B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Text 2"/>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DM Sans" pitchFamily="34" charset="0"/>
                <a:ea typeface="DM Sans" pitchFamily="34" charset="-122"/>
                <a:cs typeface="DM Sans" pitchFamily="34" charset="-120"/>
              </a:rPr>
              <a:t>G-CORE Training · Project Management · G-OPS › Projects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2238"/>
        </a:solidFill>
        <a:effectLst/>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9A6EE"/>
                </a:solidFill>
                <a:latin typeface="DM Sans" pitchFamily="34" charset="0"/>
                <a:ea typeface="DM Sans" pitchFamily="34" charset="-122"/>
                <a:cs typeface="DM Sans" pitchFamily="34" charset="-120"/>
              </a:rPr>
              <a:t>ON SCREEN · PROJECT MANAGEMENT</a:t>
            </a:r>
            <a:endParaRPr lang="en-US" sz="1200" dirty="0"/>
          </a:p>
        </p:txBody>
      </p:sp>
      <p:sp>
        <p:nvSpPr>
          <p:cNvPr id="3" name="Text 1"/>
          <p:cNvSpPr>
            <a:spLocks noGrp="1"/>
          </p:cNvSpPr>
          <p:nvPr>
            <p:ph type="title"/>
          </p:nvPr>
        </p:nvSpPr>
        <p:spPr>
          <a:xfrm>
            <a:off x="609600" y="746764"/>
            <a:ext cx="11301984"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F7F5F0"/>
                </a:solidFill>
                <a:latin typeface="Domine" pitchFamily="18" charset="0"/>
                <a:ea typeface="Domine" pitchFamily="18" charset="-122"/>
                <a:cs typeface="Domine" pitchFamily="18" charset="-120"/>
              </a:rPr>
              <a:t>The project workspace</a:t>
            </a:r>
            <a:endParaRPr lang="en-US" sz="2400" dirty="0"/>
          </a:p>
        </p:txBody>
      </p:sp>
      <p:sp>
        <p:nvSpPr>
          <p:cNvPr id="4" name="Shape 2"/>
          <p:cNvSpPr/>
          <p:nvPr/>
        </p:nvSpPr>
        <p:spPr>
          <a:xfrm>
            <a:off x="609600" y="1173485"/>
            <a:ext cx="8001000" cy="4502150"/>
          </a:xfrm>
          <a:prstGeom prst="roundRect">
            <a:avLst>
              <a:gd name="adj" fmla="val 1693"/>
            </a:avLst>
          </a:prstGeom>
          <a:solidFill>
            <a:srgbClr val="F7F5F0"/>
          </a:solidFill>
          <a:ln/>
        </p:spPr>
      </p:sp>
      <p:pic>
        <p:nvPicPr>
          <p:cNvPr id="5" name="Image 0" descr="G-CORE screen: The project workspace"/>
          <p:cNvPicPr>
            <a:picLocks noChangeAspect="1"/>
          </p:cNvPicPr>
          <p:nvPr/>
        </p:nvPicPr>
        <p:blipFill>
          <a:blip r:embed="rId3"/>
          <a:srcRect l="-106" r="-106"/>
          <a:stretch/>
        </p:blipFill>
        <p:spPr>
          <a:xfrm>
            <a:off x="622300" y="1186185"/>
            <a:ext cx="7975600" cy="4476750"/>
          </a:xfrm>
          <a:prstGeom prst="roundRect">
            <a:avLst>
              <a:gd name="adj" fmla="val 1418"/>
            </a:avLst>
          </a:prstGeom>
        </p:spPr>
      </p:pic>
      <p:sp>
        <p:nvSpPr>
          <p:cNvPr id="6" name="Shape 3"/>
          <p:cNvSpPr/>
          <p:nvPr/>
        </p:nvSpPr>
        <p:spPr>
          <a:xfrm>
            <a:off x="615950" y="1179835"/>
            <a:ext cx="7988300" cy="4489450"/>
          </a:xfrm>
          <a:prstGeom prst="roundRect">
            <a:avLst>
              <a:gd name="adj" fmla="val 1556"/>
            </a:avLst>
          </a:prstGeom>
          <a:noFill/>
          <a:ln w="12700">
            <a:solidFill>
              <a:srgbClr val="3A4466"/>
            </a:solidFill>
            <a:prstDash val="solid"/>
          </a:ln>
        </p:spPr>
      </p:sp>
      <p:sp>
        <p:nvSpPr>
          <p:cNvPr id="7" name="Text 4"/>
          <p:cNvSpPr/>
          <p:nvPr/>
        </p:nvSpPr>
        <p:spPr>
          <a:xfrm>
            <a:off x="8864600" y="1275085"/>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C9A6E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1</a:t>
            </a:r>
            <a:endParaRPr lang="en-US" sz="1300" dirty="0"/>
          </a:p>
        </p:txBody>
      </p:sp>
      <p:sp>
        <p:nvSpPr>
          <p:cNvPr id="8" name="Text 5"/>
          <p:cNvSpPr/>
          <p:nvPr/>
        </p:nvSpPr>
        <p:spPr>
          <a:xfrm>
            <a:off x="9283700" y="1275085"/>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Cards: progress, billed, unbilled, budget, margin.</a:t>
            </a:r>
            <a:endParaRPr lang="en-US" sz="1400" dirty="0"/>
          </a:p>
        </p:txBody>
      </p:sp>
      <p:sp>
        <p:nvSpPr>
          <p:cNvPr id="9" name="Text 6"/>
          <p:cNvSpPr/>
          <p:nvPr/>
        </p:nvSpPr>
        <p:spPr>
          <a:xfrm>
            <a:off x="8864600" y="1976127"/>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C9A6E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2</a:t>
            </a:r>
            <a:endParaRPr lang="en-US" sz="1300" dirty="0"/>
          </a:p>
        </p:txBody>
      </p:sp>
      <p:sp>
        <p:nvSpPr>
          <p:cNvPr id="10" name="Text 7"/>
          <p:cNvSpPr/>
          <p:nvPr/>
        </p:nvSpPr>
        <p:spPr>
          <a:xfrm>
            <a:off x="9283700" y="1976127"/>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Tabs: Costing, Job Orders, Meetings, RFA, Budget, PR …</a:t>
            </a:r>
            <a:endParaRPr lang="en-US" sz="1400" dirty="0"/>
          </a:p>
        </p:txBody>
      </p:sp>
      <p:sp>
        <p:nvSpPr>
          <p:cNvPr id="11" name="Text 8"/>
          <p:cNvSpPr/>
          <p:nvPr/>
        </p:nvSpPr>
        <p:spPr>
          <a:xfrm>
            <a:off x="8864600" y="2677158"/>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C9A6E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3</a:t>
            </a:r>
            <a:endParaRPr lang="en-US" sz="1300" dirty="0"/>
          </a:p>
        </p:txBody>
      </p:sp>
      <p:sp>
        <p:nvSpPr>
          <p:cNvPr id="12" name="Text 9"/>
          <p:cNvSpPr/>
          <p:nvPr/>
        </p:nvSpPr>
        <p:spPr>
          <a:xfrm>
            <a:off x="9283700" y="2677158"/>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S-curve: planned vs actual vs billed.</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B2A8C"/>
                </a:solidFill>
                <a:latin typeface="DM Sans" pitchFamily="34" charset="0"/>
                <a:ea typeface="DM Sans" pitchFamily="34" charset="-122"/>
                <a:cs typeface="DM Sans" pitchFamily="34" charset="-120"/>
              </a:rPr>
              <a:t>STEP 4 · SCOPE OF WORK</a:t>
            </a:r>
            <a:endParaRPr lang="en-US" sz="1200" dirty="0"/>
          </a:p>
        </p:txBody>
      </p:sp>
      <p:sp>
        <p:nvSpPr>
          <p:cNvPr id="3" name="Text 1"/>
          <p:cNvSpPr>
            <a:spLocks noGrp="1"/>
          </p:cNvSpPr>
          <p:nvPr>
            <p:ph type="title"/>
          </p:nvPr>
        </p:nvSpPr>
        <p:spPr>
          <a:xfrm>
            <a:off x="812800" y="1127758"/>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B2238"/>
                </a:solidFill>
                <a:latin typeface="Domine" pitchFamily="18" charset="0"/>
                <a:ea typeface="Domine" pitchFamily="18" charset="-122"/>
                <a:cs typeface="Domine" pitchFamily="18" charset="-120"/>
              </a:rPr>
              <a:t>Plan the work on the Gantt chart</a:t>
            </a:r>
            <a:endParaRPr lang="en-US" sz="3000" dirty="0"/>
          </a:p>
        </p:txBody>
      </p:sp>
      <p:sp>
        <p:nvSpPr>
          <p:cNvPr id="4" name="Shape 2"/>
          <p:cNvSpPr/>
          <p:nvPr/>
        </p:nvSpPr>
        <p:spPr>
          <a:xfrm>
            <a:off x="815975" y="1772283"/>
            <a:ext cx="3414157" cy="2068830"/>
          </a:xfrm>
          <a:prstGeom prst="roundRect">
            <a:avLst>
              <a:gd name="adj" fmla="val 4758"/>
            </a:avLst>
          </a:prstGeom>
          <a:solidFill>
            <a:srgbClr val="FFFDF8"/>
          </a:solidFill>
          <a:ln w="6350">
            <a:solidFill>
              <a:srgbClr val="E4DFD3"/>
            </a:solidFill>
            <a:prstDash val="solid"/>
          </a:ln>
        </p:spPr>
      </p:sp>
      <p:pic>
        <p:nvPicPr>
          <p:cNvPr id="5" name="Image 0" descr="Clock"/>
          <p:cNvPicPr>
            <a:picLocks noChangeAspect="1"/>
          </p:cNvPicPr>
          <p:nvPr/>
        </p:nvPicPr>
        <p:blipFill>
          <a:blip r:embed="rId3"/>
          <a:srcRect/>
          <a:stretch/>
        </p:blipFill>
        <p:spPr>
          <a:xfrm>
            <a:off x="1021080" y="1977392"/>
            <a:ext cx="304800" cy="304800"/>
          </a:xfrm>
          <a:prstGeom prst="rect">
            <a:avLst/>
          </a:prstGeom>
        </p:spPr>
      </p:pic>
      <p:sp>
        <p:nvSpPr>
          <p:cNvPr id="6" name="Text 3"/>
          <p:cNvSpPr/>
          <p:nvPr/>
        </p:nvSpPr>
        <p:spPr>
          <a:xfrm>
            <a:off x="1021080" y="2358392"/>
            <a:ext cx="309406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238"/>
                </a:solidFill>
                <a:latin typeface="DM Sans" pitchFamily="34" charset="0"/>
                <a:ea typeface="DM Sans" pitchFamily="34" charset="-122"/>
                <a:cs typeface="DM Sans" pitchFamily="34" charset="-120"/>
              </a:rPr>
              <a:t>Plan from costing</a:t>
            </a:r>
            <a:endParaRPr lang="en-US" sz="1600" dirty="0"/>
          </a:p>
        </p:txBody>
      </p:sp>
      <p:sp>
        <p:nvSpPr>
          <p:cNvPr id="7" name="Text 4"/>
          <p:cNvSpPr/>
          <p:nvPr/>
        </p:nvSpPr>
        <p:spPr>
          <a:xfrm>
            <a:off x="1021080" y="2678435"/>
            <a:ext cx="3094065" cy="98298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160"/>
                </a:solidFill>
                <a:latin typeface="DM Sans" pitchFamily="34" charset="0"/>
                <a:ea typeface="DM Sans" pitchFamily="34" charset="-122"/>
                <a:cs typeface="DM Sans" pitchFamily="34" charset="-120"/>
              </a:rPr>
              <a:t>One click writes the costing’s tasks as dated tasks from the project’s start, Mon–Sat. Phases already planned by hand are left alone.</a:t>
            </a:r>
            <a:endParaRPr lang="en-US" sz="1300" dirty="0"/>
          </a:p>
        </p:txBody>
      </p:sp>
      <p:sp>
        <p:nvSpPr>
          <p:cNvPr id="8" name="Shape 5"/>
          <p:cNvSpPr/>
          <p:nvPr/>
        </p:nvSpPr>
        <p:spPr>
          <a:xfrm>
            <a:off x="4388882" y="1772283"/>
            <a:ext cx="3414236" cy="2068830"/>
          </a:xfrm>
          <a:prstGeom prst="roundRect">
            <a:avLst>
              <a:gd name="adj" fmla="val 4758"/>
            </a:avLst>
          </a:prstGeom>
          <a:solidFill>
            <a:srgbClr val="FFFDF8"/>
          </a:solidFill>
          <a:ln w="6350">
            <a:solidFill>
              <a:srgbClr val="E4DFD3"/>
            </a:solidFill>
            <a:prstDash val="solid"/>
          </a:ln>
        </p:spPr>
      </p:sp>
      <p:pic>
        <p:nvPicPr>
          <p:cNvPr id="9" name="Image 1" descr="Tool"/>
          <p:cNvPicPr>
            <a:picLocks noChangeAspect="1"/>
          </p:cNvPicPr>
          <p:nvPr/>
        </p:nvPicPr>
        <p:blipFill>
          <a:blip r:embed="rId4"/>
          <a:srcRect/>
          <a:stretch/>
        </p:blipFill>
        <p:spPr>
          <a:xfrm>
            <a:off x="4593987" y="1977392"/>
            <a:ext cx="304800" cy="304800"/>
          </a:xfrm>
          <a:prstGeom prst="rect">
            <a:avLst/>
          </a:prstGeom>
        </p:spPr>
      </p:pic>
      <p:sp>
        <p:nvSpPr>
          <p:cNvPr id="10" name="Text 6"/>
          <p:cNvSpPr/>
          <p:nvPr/>
        </p:nvSpPr>
        <p:spPr>
          <a:xfrm>
            <a:off x="4593987" y="2358392"/>
            <a:ext cx="309414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238"/>
                </a:solidFill>
                <a:latin typeface="DM Sans" pitchFamily="34" charset="0"/>
                <a:ea typeface="DM Sans" pitchFamily="34" charset="-122"/>
                <a:cs typeface="DM Sans" pitchFamily="34" charset="-120"/>
              </a:rPr>
              <a:t>Keep tasks current</a:t>
            </a:r>
            <a:endParaRPr lang="en-US" sz="1600" dirty="0"/>
          </a:p>
        </p:txBody>
      </p:sp>
      <p:sp>
        <p:nvSpPr>
          <p:cNvPr id="11" name="Text 7"/>
          <p:cNvSpPr/>
          <p:nvPr/>
        </p:nvSpPr>
        <p:spPr>
          <a:xfrm>
            <a:off x="4593987" y="2678435"/>
            <a:ext cx="3094147" cy="743585"/>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160"/>
                </a:solidFill>
                <a:latin typeface="DM Sans" pitchFamily="34" charset="0"/>
                <a:ea typeface="DM Sans" pitchFamily="34" charset="-122"/>
                <a:cs typeface="DM Sans" pitchFamily="34" charset="-120"/>
              </a:rPr>
              <a:t>Each task: start, due, status, % complete, assignee — and its </a:t>
            </a:r>
            <a:r>
              <a:rPr lang="en-US" sz="1300" b="1" dirty="0">
                <a:solidFill>
                  <a:srgbClr val="4A5160"/>
                </a:solidFill>
                <a:latin typeface="DM Sans" pitchFamily="34" charset="0"/>
                <a:ea typeface="DM Sans" pitchFamily="34" charset="-122"/>
                <a:cs typeface="DM Sans" pitchFamily="34" charset="-120"/>
              </a:rPr>
              <a:t>weight in its phase</a:t>
            </a:r>
            <a:r>
              <a:rPr lang="en-US" sz="1300" dirty="0">
                <a:solidFill>
                  <a:srgbClr val="4A5160"/>
                </a:solidFill>
                <a:latin typeface="DM Sans" pitchFamily="34" charset="0"/>
                <a:ea typeface="DM Sans" pitchFamily="34" charset="-122"/>
                <a:cs typeface="DM Sans" pitchFamily="34" charset="-120"/>
              </a:rPr>
              <a:t> (1 if blank).</a:t>
            </a:r>
            <a:endParaRPr lang="en-US" sz="1300" dirty="0"/>
          </a:p>
        </p:txBody>
      </p:sp>
      <p:sp>
        <p:nvSpPr>
          <p:cNvPr id="12" name="Shape 8"/>
          <p:cNvSpPr/>
          <p:nvPr/>
        </p:nvSpPr>
        <p:spPr>
          <a:xfrm>
            <a:off x="7961868" y="1772283"/>
            <a:ext cx="3414157" cy="2068830"/>
          </a:xfrm>
          <a:prstGeom prst="roundRect">
            <a:avLst>
              <a:gd name="adj" fmla="val 4758"/>
            </a:avLst>
          </a:prstGeom>
          <a:solidFill>
            <a:srgbClr val="FFFDF8"/>
          </a:solidFill>
          <a:ln w="6350">
            <a:solidFill>
              <a:srgbClr val="E4DFD3"/>
            </a:solidFill>
            <a:prstDash val="solid"/>
          </a:ln>
        </p:spPr>
      </p:sp>
      <p:pic>
        <p:nvPicPr>
          <p:cNvPr id="13" name="Image 2" descr="Chart"/>
          <p:cNvPicPr>
            <a:picLocks noChangeAspect="1"/>
          </p:cNvPicPr>
          <p:nvPr/>
        </p:nvPicPr>
        <p:blipFill>
          <a:blip r:embed="rId5"/>
          <a:srcRect/>
          <a:stretch/>
        </p:blipFill>
        <p:spPr>
          <a:xfrm>
            <a:off x="8166974" y="1977392"/>
            <a:ext cx="304800" cy="304800"/>
          </a:xfrm>
          <a:prstGeom prst="rect">
            <a:avLst/>
          </a:prstGeom>
        </p:spPr>
      </p:pic>
      <p:sp>
        <p:nvSpPr>
          <p:cNvPr id="14" name="Text 9"/>
          <p:cNvSpPr/>
          <p:nvPr/>
        </p:nvSpPr>
        <p:spPr>
          <a:xfrm>
            <a:off x="8166974" y="2358392"/>
            <a:ext cx="309406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238"/>
                </a:solidFill>
                <a:latin typeface="DM Sans" pitchFamily="34" charset="0"/>
                <a:ea typeface="DM Sans" pitchFamily="34" charset="-122"/>
                <a:cs typeface="DM Sans" pitchFamily="34" charset="-120"/>
              </a:rPr>
              <a:t>It feeds the report</a:t>
            </a:r>
            <a:endParaRPr lang="en-US" sz="1600" dirty="0"/>
          </a:p>
        </p:txBody>
      </p:sp>
      <p:sp>
        <p:nvSpPr>
          <p:cNvPr id="15" name="Text 10"/>
          <p:cNvSpPr/>
          <p:nvPr/>
        </p:nvSpPr>
        <p:spPr>
          <a:xfrm>
            <a:off x="8166974" y="2678435"/>
            <a:ext cx="3094065" cy="743585"/>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160"/>
                </a:solidFill>
                <a:latin typeface="DM Sans" pitchFamily="34" charset="0"/>
                <a:ea typeface="DM Sans" pitchFamily="34" charset="-122"/>
                <a:cs typeface="DM Sans" pitchFamily="34" charset="-120"/>
              </a:rPr>
              <a:t>A phase’s % = Σ weight × progress ÷ Σ weight. The accomplishment report offers it: </a:t>
            </a:r>
            <a:r>
              <a:rPr lang="en-US" sz="1300" b="1" dirty="0">
                <a:solidFill>
                  <a:srgbClr val="4A5160"/>
                </a:solidFill>
                <a:latin typeface="DM Sans" pitchFamily="34" charset="0"/>
                <a:ea typeface="DM Sans" pitchFamily="34" charset="-122"/>
                <a:cs typeface="DM Sans" pitchFamily="34" charset="-120"/>
              </a:rPr>
              <a:t>“Use it”</a:t>
            </a:r>
            <a:r>
              <a:rPr lang="en-US" sz="1300" dirty="0">
                <a:solidFill>
                  <a:srgbClr val="4A5160"/>
                </a:solidFill>
                <a:latin typeface="DM Sans" pitchFamily="34" charset="0"/>
                <a:ea typeface="DM Sans" pitchFamily="34" charset="-122"/>
                <a:cs typeface="DM Sans" pitchFamily="34" charset="-120"/>
              </a:rPr>
              <a:t>.</a:t>
            </a:r>
            <a:endParaRPr lang="en-US" sz="1300" dirty="0"/>
          </a:p>
        </p:txBody>
      </p:sp>
      <p:sp>
        <p:nvSpPr>
          <p:cNvPr id="16" name="Text 11"/>
          <p:cNvSpPr/>
          <p:nvPr/>
        </p:nvSpPr>
        <p:spPr>
          <a:xfrm>
            <a:off x="812800" y="4047492"/>
            <a:ext cx="10566400" cy="502920"/>
          </a:xfrm>
          <a:prstGeom prst="roundRect">
            <a:avLst>
              <a:gd name="adj" fmla="val 15152"/>
            </a:avLst>
          </a:prstGeom>
          <a:solidFill>
            <a:srgbClr val="EFEAF5"/>
          </a:solidFill>
          <a:ln/>
        </p:spPr>
        <p:txBody>
          <a:bodyPr wrap="square" lIns="155482" tIns="104682" rIns="0" bIns="79282" rtlCol="0" anchor="t">
            <a:normAutofit/>
          </a:bodyPr>
          <a:lstStyle/>
          <a:p>
            <a:pPr marL="0" indent="0" algn="l">
              <a:lnSpc>
                <a:spcPts val="1960"/>
              </a:lnSpc>
              <a:buNone/>
            </a:pPr>
            <a:r>
              <a:rPr lang="en-US" sz="1400" dirty="0">
                <a:solidFill>
                  <a:srgbClr val="1B2238"/>
                </a:solidFill>
                <a:latin typeface="DM Sans" pitchFamily="34" charset="0"/>
                <a:ea typeface="DM Sans" pitchFamily="34" charset="-122"/>
                <a:cs typeface="DM Sans" pitchFamily="34" charset="-120"/>
              </a:rPr>
              <a:t>Example: Delivery has 3 tasks weighted 2 · 1 · 1 at 100% · 50% · 0% → (200 + 50 + 0) ÷ 4 = </a:t>
            </a:r>
            <a:r>
              <a:rPr lang="en-US" sz="1400" b="1" dirty="0">
                <a:solidFill>
                  <a:srgbClr val="1B2238"/>
                </a:solidFill>
                <a:latin typeface="DM Sans" pitchFamily="34" charset="0"/>
                <a:ea typeface="DM Sans" pitchFamily="34" charset="-122"/>
                <a:cs typeface="DM Sans" pitchFamily="34" charset="-120"/>
              </a:rPr>
              <a:t>62.5%</a:t>
            </a:r>
            <a:endParaRPr lang="en-US" sz="1400" dirty="0"/>
          </a:p>
        </p:txBody>
      </p:sp>
      <p:sp>
        <p:nvSpPr>
          <p:cNvPr id="17" name="Text 12"/>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DM Sans" pitchFamily="34" charset="0"/>
                <a:ea typeface="DM Sans" pitchFamily="34" charset="-122"/>
                <a:cs typeface="DM Sans" pitchFamily="34" charset="-120"/>
              </a:rPr>
              <a:t>G-CORE Training · Project Management · Scope of Work tab</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2238"/>
        </a:solidFill>
        <a:effectLst/>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9A6EE"/>
                </a:solidFill>
                <a:latin typeface="DM Sans" pitchFamily="34" charset="0"/>
                <a:ea typeface="DM Sans" pitchFamily="34" charset="-122"/>
                <a:cs typeface="DM Sans" pitchFamily="34" charset="-120"/>
              </a:rPr>
              <a:t>ON SCREEN · PROJECT MANAGEMENT</a:t>
            </a:r>
            <a:endParaRPr lang="en-US" sz="1200" dirty="0"/>
          </a:p>
        </p:txBody>
      </p:sp>
      <p:sp>
        <p:nvSpPr>
          <p:cNvPr id="3" name="Text 1"/>
          <p:cNvSpPr>
            <a:spLocks noGrp="1"/>
          </p:cNvSpPr>
          <p:nvPr>
            <p:ph type="title"/>
          </p:nvPr>
        </p:nvSpPr>
        <p:spPr>
          <a:xfrm>
            <a:off x="609600" y="746758"/>
            <a:ext cx="11301984"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F7F5F0"/>
                </a:solidFill>
                <a:latin typeface="Domine" pitchFamily="18" charset="0"/>
                <a:ea typeface="Domine" pitchFamily="18" charset="-122"/>
                <a:cs typeface="Domine" pitchFamily="18" charset="-120"/>
              </a:rPr>
              <a:t>Scope of Work as a Gantt chart</a:t>
            </a:r>
            <a:endParaRPr lang="en-US" sz="2400" dirty="0"/>
          </a:p>
        </p:txBody>
      </p:sp>
      <p:sp>
        <p:nvSpPr>
          <p:cNvPr id="4" name="Shape 2"/>
          <p:cNvSpPr/>
          <p:nvPr/>
        </p:nvSpPr>
        <p:spPr>
          <a:xfrm>
            <a:off x="609600" y="1173485"/>
            <a:ext cx="8001000" cy="4502150"/>
          </a:xfrm>
          <a:prstGeom prst="roundRect">
            <a:avLst>
              <a:gd name="adj" fmla="val 1693"/>
            </a:avLst>
          </a:prstGeom>
          <a:solidFill>
            <a:srgbClr val="F7F5F0"/>
          </a:solidFill>
          <a:ln/>
        </p:spPr>
      </p:sp>
      <p:pic>
        <p:nvPicPr>
          <p:cNvPr id="5" name="Image 0" descr="G-CORE screen: Scope of Work as a Gantt chart"/>
          <p:cNvPicPr>
            <a:picLocks noChangeAspect="1"/>
          </p:cNvPicPr>
          <p:nvPr/>
        </p:nvPicPr>
        <p:blipFill>
          <a:blip r:embed="rId3"/>
          <a:srcRect l="-106" r="-106"/>
          <a:stretch/>
        </p:blipFill>
        <p:spPr>
          <a:xfrm>
            <a:off x="622300" y="1186185"/>
            <a:ext cx="7975600" cy="4476750"/>
          </a:xfrm>
          <a:prstGeom prst="roundRect">
            <a:avLst>
              <a:gd name="adj" fmla="val 1418"/>
            </a:avLst>
          </a:prstGeom>
        </p:spPr>
      </p:pic>
      <p:sp>
        <p:nvSpPr>
          <p:cNvPr id="6" name="Shape 3"/>
          <p:cNvSpPr/>
          <p:nvPr/>
        </p:nvSpPr>
        <p:spPr>
          <a:xfrm>
            <a:off x="615950" y="1179835"/>
            <a:ext cx="7988300" cy="4489450"/>
          </a:xfrm>
          <a:prstGeom prst="roundRect">
            <a:avLst>
              <a:gd name="adj" fmla="val 1556"/>
            </a:avLst>
          </a:prstGeom>
          <a:noFill/>
          <a:ln w="12700">
            <a:solidFill>
              <a:srgbClr val="3A4466"/>
            </a:solidFill>
            <a:prstDash val="solid"/>
          </a:ln>
        </p:spPr>
      </p:sp>
      <p:sp>
        <p:nvSpPr>
          <p:cNvPr id="7" name="Text 4"/>
          <p:cNvSpPr/>
          <p:nvPr/>
        </p:nvSpPr>
        <p:spPr>
          <a:xfrm>
            <a:off x="8864600" y="1275085"/>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C9A6E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1</a:t>
            </a:r>
            <a:endParaRPr lang="en-US" sz="1300" dirty="0"/>
          </a:p>
        </p:txBody>
      </p:sp>
      <p:sp>
        <p:nvSpPr>
          <p:cNvPr id="8" name="Text 5"/>
          <p:cNvSpPr/>
          <p:nvPr/>
        </p:nvSpPr>
        <p:spPr>
          <a:xfrm>
            <a:off x="9283700" y="1275085"/>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Plan from costing writes the dated tasks.</a:t>
            </a:r>
            <a:endParaRPr lang="en-US" sz="1400" dirty="0"/>
          </a:p>
        </p:txBody>
      </p:sp>
      <p:sp>
        <p:nvSpPr>
          <p:cNvPr id="9" name="Text 6"/>
          <p:cNvSpPr/>
          <p:nvPr/>
        </p:nvSpPr>
        <p:spPr>
          <a:xfrm>
            <a:off x="8864600" y="1976127"/>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C9A6E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2</a:t>
            </a:r>
            <a:endParaRPr lang="en-US" sz="1300" dirty="0"/>
          </a:p>
        </p:txBody>
      </p:sp>
      <p:sp>
        <p:nvSpPr>
          <p:cNvPr id="10" name="Text 7"/>
          <p:cNvSpPr/>
          <p:nvPr/>
        </p:nvSpPr>
        <p:spPr>
          <a:xfrm>
            <a:off x="9283700" y="1976127"/>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Each phase fills to its weighted progress.</a:t>
            </a:r>
            <a:endParaRPr lang="en-US" sz="1400" dirty="0"/>
          </a:p>
        </p:txBody>
      </p:sp>
      <p:sp>
        <p:nvSpPr>
          <p:cNvPr id="11" name="Text 8"/>
          <p:cNvSpPr/>
          <p:nvPr/>
        </p:nvSpPr>
        <p:spPr>
          <a:xfrm>
            <a:off x="8864600" y="2677158"/>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C9A6E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3</a:t>
            </a:r>
            <a:endParaRPr lang="en-US" sz="1300" dirty="0"/>
          </a:p>
        </p:txBody>
      </p:sp>
      <p:sp>
        <p:nvSpPr>
          <p:cNvPr id="12" name="Text 9"/>
          <p:cNvSpPr/>
          <p:nvPr/>
        </p:nvSpPr>
        <p:spPr>
          <a:xfrm>
            <a:off x="9283700" y="2677158"/>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 Add task: dates, weight, who.</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B2A8C"/>
                </a:solidFill>
                <a:latin typeface="DM Sans" pitchFamily="34" charset="0"/>
                <a:ea typeface="DM Sans" pitchFamily="34" charset="-122"/>
                <a:cs typeface="DM Sans" pitchFamily="34" charset="-120"/>
              </a:rPr>
              <a:t>STEP 4 · DRAWINGS</a:t>
            </a:r>
            <a:endParaRPr lang="en-US" sz="1200" dirty="0"/>
          </a:p>
        </p:txBody>
      </p:sp>
      <p:sp>
        <p:nvSpPr>
          <p:cNvPr id="3" name="Text 1"/>
          <p:cNvSpPr>
            <a:spLocks noGrp="1"/>
          </p:cNvSpPr>
          <p:nvPr>
            <p:ph type="title"/>
          </p:nvPr>
        </p:nvSpPr>
        <p:spPr>
          <a:xfrm>
            <a:off x="812800" y="1127758"/>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B2238"/>
                </a:solidFill>
                <a:latin typeface="Domine" pitchFamily="18" charset="0"/>
                <a:ea typeface="Domine" pitchFamily="18" charset="-122"/>
                <a:cs typeface="Domine" pitchFamily="18" charset="-120"/>
              </a:rPr>
              <a:t>CAD J.O. → Request for Approval</a:t>
            </a:r>
            <a:endParaRPr lang="en-US" sz="3000" dirty="0"/>
          </a:p>
        </p:txBody>
      </p:sp>
      <p:sp>
        <p:nvSpPr>
          <p:cNvPr id="4" name="Shape 2"/>
          <p:cNvSpPr/>
          <p:nvPr/>
        </p:nvSpPr>
        <p:spPr>
          <a:xfrm>
            <a:off x="815975" y="1772283"/>
            <a:ext cx="5175250" cy="1996440"/>
          </a:xfrm>
          <a:prstGeom prst="roundRect">
            <a:avLst>
              <a:gd name="adj" fmla="val 4930"/>
            </a:avLst>
          </a:prstGeom>
          <a:solidFill>
            <a:srgbClr val="FFFDF8"/>
          </a:solidFill>
          <a:ln w="6350">
            <a:solidFill>
              <a:srgbClr val="E4DFD3"/>
            </a:solidFill>
            <a:prstDash val="solid"/>
          </a:ln>
        </p:spPr>
      </p:sp>
      <p:sp>
        <p:nvSpPr>
          <p:cNvPr id="5" name="Text 3"/>
          <p:cNvSpPr/>
          <p:nvPr/>
        </p:nvSpPr>
        <p:spPr>
          <a:xfrm>
            <a:off x="1021080" y="1977392"/>
            <a:ext cx="4907991"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B2238"/>
                </a:solidFill>
                <a:latin typeface="DM Sans" pitchFamily="34" charset="0"/>
                <a:ea typeface="DM Sans" pitchFamily="34" charset="-122"/>
                <a:cs typeface="DM Sans" pitchFamily="34" charset="-120"/>
              </a:rPr>
              <a:t>CAD J.O. — the design team’s queue</a:t>
            </a:r>
            <a:endParaRPr lang="en-US" sz="1700" dirty="0"/>
          </a:p>
        </p:txBody>
      </p:sp>
      <p:sp>
        <p:nvSpPr>
          <p:cNvPr id="6" name="Text 4"/>
          <p:cNvSpPr/>
          <p:nvPr/>
        </p:nvSpPr>
        <p:spPr>
          <a:xfrm>
            <a:off x="1112774" y="2325377"/>
            <a:ext cx="4808677" cy="1016000"/>
          </a:xfrm>
          <a:prstGeom prst="rect">
            <a:avLst/>
          </a:prstGeom>
          <a:noFill/>
          <a:ln/>
        </p:spPr>
        <p:txBody>
          <a:bodyPr wrap="square" lIns="0" tIns="0" rIns="0" bIns="0" rtlCol="0" anchor="t">
            <a:normAutofit/>
          </a:bodyPr>
          <a:lstStyle/>
          <a:p>
            <a:pPr marL="162306" indent="-162306" algn="l">
              <a:lnSpc>
                <a:spcPts val="1950"/>
              </a:lnSpc>
              <a:buSzPct val="100000"/>
              <a:buChar char="•"/>
            </a:pPr>
            <a:r>
              <a:rPr lang="en-US" sz="1300" dirty="0">
                <a:solidFill>
                  <a:srgbClr val="4A5160"/>
                </a:solidFill>
                <a:latin typeface="DM Sans" pitchFamily="34" charset="0"/>
                <a:ea typeface="DM Sans" pitchFamily="34" charset="-122"/>
                <a:cs typeface="DM Sans" pitchFamily="34" charset="-120"/>
              </a:rPr>
              <a:t>Requestor gives scope, files and a needed-by date</a:t>
            </a:r>
            <a:endParaRPr lang="en-US" sz="1300" dirty="0"/>
          </a:p>
          <a:p>
            <a:pPr marL="162306" indent="-162306" algn="l">
              <a:lnSpc>
                <a:spcPts val="1950"/>
              </a:lnSpc>
              <a:buSzPct val="100000"/>
              <a:buChar char="•"/>
            </a:pPr>
            <a:r>
              <a:rPr lang="en-US" sz="1300" dirty="0">
                <a:solidFill>
                  <a:srgbClr val="4A5160"/>
                </a:solidFill>
                <a:latin typeface="DM Sans" pitchFamily="34" charset="0"/>
                <a:ea typeface="DM Sans" pitchFamily="34" charset="-122"/>
                <a:cs typeface="DM Sans" pitchFamily="34" charset="-120"/>
              </a:rPr>
              <a:t>Designer Lead assigns; designer sets priority and %</a:t>
            </a:r>
            <a:endParaRPr lang="en-US" sz="1300" dirty="0"/>
          </a:p>
          <a:p>
            <a:pPr marL="162306" indent="-162306" algn="l">
              <a:lnSpc>
                <a:spcPts val="1950"/>
              </a:lnSpc>
              <a:buSzPct val="100000"/>
              <a:buChar char="•"/>
            </a:pPr>
            <a:r>
              <a:rPr lang="en-US" sz="1300" dirty="0">
                <a:solidFill>
                  <a:srgbClr val="4A5160"/>
                </a:solidFill>
                <a:latin typeface="DM Sans" pitchFamily="34" charset="0"/>
                <a:ea typeface="DM Sans" pitchFamily="34" charset="-122"/>
                <a:cs typeface="DM Sans" pitchFamily="34" charset="-120"/>
              </a:rPr>
              <a:t>Each revision R0, R1… must carry a PDF</a:t>
            </a:r>
            <a:endParaRPr lang="en-US" sz="1300" dirty="0"/>
          </a:p>
          <a:p>
            <a:pPr marL="162306" indent="-162306" algn="l">
              <a:lnSpc>
                <a:spcPts val="1950"/>
              </a:lnSpc>
              <a:buSzPct val="100000"/>
              <a:buChar char="•"/>
            </a:pPr>
            <a:r>
              <a:rPr lang="en-US" sz="1300" dirty="0">
                <a:solidFill>
                  <a:srgbClr val="4A5160"/>
                </a:solidFill>
                <a:latin typeface="DM Sans" pitchFamily="34" charset="0"/>
                <a:ea typeface="DM Sans" pitchFamily="34" charset="-122"/>
                <a:cs typeface="DM Sans" pitchFamily="34" charset="-120"/>
              </a:rPr>
              <a:t>Requestor accepts or asks for changes in the thread</a:t>
            </a:r>
            <a:endParaRPr lang="en-US" sz="1300" dirty="0"/>
          </a:p>
        </p:txBody>
      </p:sp>
      <p:sp>
        <p:nvSpPr>
          <p:cNvPr id="7" name="Shape 5"/>
          <p:cNvSpPr/>
          <p:nvPr/>
        </p:nvSpPr>
        <p:spPr>
          <a:xfrm>
            <a:off x="6200775" y="1772283"/>
            <a:ext cx="5175250" cy="1996440"/>
          </a:xfrm>
          <a:prstGeom prst="roundRect">
            <a:avLst>
              <a:gd name="adj" fmla="val 4930"/>
            </a:avLst>
          </a:prstGeom>
          <a:solidFill>
            <a:srgbClr val="FFFDF8"/>
          </a:solidFill>
          <a:ln w="6350">
            <a:solidFill>
              <a:srgbClr val="E4DFD3"/>
            </a:solidFill>
            <a:prstDash val="solid"/>
          </a:ln>
        </p:spPr>
      </p:sp>
      <p:sp>
        <p:nvSpPr>
          <p:cNvPr id="8" name="Text 6"/>
          <p:cNvSpPr/>
          <p:nvPr/>
        </p:nvSpPr>
        <p:spPr>
          <a:xfrm>
            <a:off x="6405880" y="1977392"/>
            <a:ext cx="4907991"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B2238"/>
                </a:solidFill>
                <a:latin typeface="DM Sans" pitchFamily="34" charset="0"/>
                <a:ea typeface="DM Sans" pitchFamily="34" charset="-122"/>
                <a:cs typeface="DM Sans" pitchFamily="34" charset="-120"/>
              </a:rPr>
              <a:t>Request for Approval — internal sign-off</a:t>
            </a:r>
            <a:endParaRPr lang="en-US" sz="1700" dirty="0"/>
          </a:p>
        </p:txBody>
      </p:sp>
      <p:sp>
        <p:nvSpPr>
          <p:cNvPr id="9" name="Text 7"/>
          <p:cNvSpPr/>
          <p:nvPr/>
        </p:nvSpPr>
        <p:spPr>
          <a:xfrm>
            <a:off x="6497574" y="2325377"/>
            <a:ext cx="4808677" cy="1263650"/>
          </a:xfrm>
          <a:prstGeom prst="rect">
            <a:avLst/>
          </a:prstGeom>
          <a:noFill/>
          <a:ln/>
        </p:spPr>
        <p:txBody>
          <a:bodyPr wrap="square" lIns="0" tIns="0" rIns="0" bIns="0" rtlCol="0" anchor="t">
            <a:normAutofit/>
          </a:bodyPr>
          <a:lstStyle/>
          <a:p>
            <a:pPr marL="162306" indent="-162306" algn="l">
              <a:lnSpc>
                <a:spcPts val="1950"/>
              </a:lnSpc>
              <a:buSzPct val="100000"/>
              <a:buChar char="•"/>
            </a:pPr>
            <a:r>
              <a:rPr lang="en-US" sz="1300" dirty="0">
                <a:solidFill>
                  <a:srgbClr val="4A5160"/>
                </a:solidFill>
                <a:latin typeface="DM Sans" pitchFamily="34" charset="0"/>
                <a:ea typeface="DM Sans" pitchFamily="34" charset="-122"/>
                <a:cs typeface="DM Sans" pitchFamily="34" charset="-120"/>
              </a:rPr>
              <a:t>One click from an accepted CAD revision, or + New</a:t>
            </a:r>
            <a:endParaRPr lang="en-US" sz="1300" dirty="0"/>
          </a:p>
          <a:p>
            <a:pPr marL="162306" indent="-162306" algn="l">
              <a:lnSpc>
                <a:spcPts val="1950"/>
              </a:lnSpc>
              <a:buSzPct val="100000"/>
              <a:buChar char="•"/>
            </a:pPr>
            <a:r>
              <a:rPr lang="en-US" sz="1300" dirty="0">
                <a:solidFill>
                  <a:srgbClr val="4A5160"/>
                </a:solidFill>
                <a:latin typeface="DM Sans" pitchFamily="34" charset="0"/>
                <a:ea typeface="DM Sans" pitchFamily="34" charset="-122"/>
                <a:cs typeface="DM Sans" pitchFamily="34" charset="-120"/>
              </a:rPr>
              <a:t>Drawing reference, revision, discipline, files</a:t>
            </a:r>
            <a:endParaRPr lang="en-US" sz="1300" dirty="0"/>
          </a:p>
          <a:p>
            <a:pPr marL="162306" indent="-162306" algn="l">
              <a:lnSpc>
                <a:spcPts val="1950"/>
              </a:lnSpc>
              <a:buSzPct val="100000"/>
              <a:buChar char="•"/>
            </a:pPr>
            <a:r>
              <a:rPr lang="en-US" sz="1300" dirty="0">
                <a:solidFill>
                  <a:srgbClr val="4A5160"/>
                </a:solidFill>
                <a:latin typeface="DM Sans" pitchFamily="34" charset="0"/>
                <a:ea typeface="DM Sans" pitchFamily="34" charset="-122"/>
                <a:cs typeface="DM Sans" pitchFamily="34" charset="-120"/>
              </a:rPr>
              <a:t>Route: </a:t>
            </a:r>
            <a:r>
              <a:rPr lang="en-US" sz="1300" b="1" dirty="0">
                <a:solidFill>
                  <a:srgbClr val="4A5160"/>
                </a:solidFill>
                <a:latin typeface="DM Sans" pitchFamily="34" charset="0"/>
                <a:ea typeface="DM Sans" pitchFamily="34" charset="-122"/>
                <a:cs typeface="DM Sans" pitchFamily="34" charset="-120"/>
              </a:rPr>
              <a:t>Technical Manager › Team Leader</a:t>
            </a:r>
            <a:r>
              <a:rPr lang="en-US" sz="1300" dirty="0">
                <a:solidFill>
                  <a:srgbClr val="4A5160"/>
                </a:solidFill>
                <a:latin typeface="DM Sans" pitchFamily="34" charset="0"/>
                <a:ea typeface="DM Sans" pitchFamily="34" charset="-122"/>
                <a:cs typeface="DM Sans" pitchFamily="34" charset="-120"/>
              </a:rPr>
              <a:t>, + CEO over ₱1,000,000</a:t>
            </a:r>
            <a:endParaRPr lang="en-US" sz="1300" dirty="0"/>
          </a:p>
          <a:p>
            <a:pPr marL="162306" indent="-162306" algn="l">
              <a:lnSpc>
                <a:spcPts val="1950"/>
              </a:lnSpc>
              <a:buSzPct val="100000"/>
              <a:buChar char="•"/>
            </a:pPr>
            <a:r>
              <a:rPr lang="en-US" sz="1300" dirty="0">
                <a:solidFill>
                  <a:srgbClr val="4A5160"/>
                </a:solidFill>
                <a:latin typeface="DM Sans" pitchFamily="34" charset="0"/>
                <a:ea typeface="DM Sans" pitchFamily="34" charset="-122"/>
                <a:cs typeface="DM Sans" pitchFamily="34" charset="-120"/>
              </a:rPr>
              <a:t>A newer approved drawing supersedes the old one</a:t>
            </a:r>
            <a:endParaRPr lang="en-US" sz="1300" dirty="0"/>
          </a:p>
        </p:txBody>
      </p:sp>
      <p:sp>
        <p:nvSpPr>
          <p:cNvPr id="10" name="Text 8"/>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DM Sans" pitchFamily="34" charset="0"/>
                <a:ea typeface="DM Sans" pitchFamily="34" charset="-122"/>
                <a:cs typeface="DM Sans" pitchFamily="34" charset="-120"/>
              </a:rPr>
              <a:t>G-CORE Training · Project Management · CAD J.O. and Request for Approval tab</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2238"/>
        </a:solidFill>
        <a:effectLst/>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9A6EE"/>
                </a:solidFill>
                <a:latin typeface="DM Sans" pitchFamily="34" charset="0"/>
                <a:ea typeface="DM Sans" pitchFamily="34" charset="-122"/>
                <a:cs typeface="DM Sans" pitchFamily="34" charset="-120"/>
              </a:rPr>
              <a:t>ON SCREEN · PROJECT MANAGEMENT</a:t>
            </a:r>
            <a:endParaRPr lang="en-US" sz="1200" dirty="0"/>
          </a:p>
        </p:txBody>
      </p:sp>
      <p:sp>
        <p:nvSpPr>
          <p:cNvPr id="3" name="Text 1"/>
          <p:cNvSpPr>
            <a:spLocks noGrp="1"/>
          </p:cNvSpPr>
          <p:nvPr>
            <p:ph type="title"/>
          </p:nvPr>
        </p:nvSpPr>
        <p:spPr>
          <a:xfrm>
            <a:off x="609600" y="746758"/>
            <a:ext cx="11301984"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F7F5F0"/>
                </a:solidFill>
                <a:latin typeface="Domine" pitchFamily="18" charset="0"/>
                <a:ea typeface="Domine" pitchFamily="18" charset="-122"/>
                <a:cs typeface="Domine" pitchFamily="18" charset="-120"/>
              </a:rPr>
              <a:t>A Request for Approval, still a draft</a:t>
            </a:r>
            <a:endParaRPr lang="en-US" sz="2400" dirty="0"/>
          </a:p>
        </p:txBody>
      </p:sp>
      <p:sp>
        <p:nvSpPr>
          <p:cNvPr id="4" name="Shape 2"/>
          <p:cNvSpPr/>
          <p:nvPr/>
        </p:nvSpPr>
        <p:spPr>
          <a:xfrm>
            <a:off x="609600" y="1173485"/>
            <a:ext cx="8001000" cy="4502150"/>
          </a:xfrm>
          <a:prstGeom prst="roundRect">
            <a:avLst>
              <a:gd name="adj" fmla="val 1693"/>
            </a:avLst>
          </a:prstGeom>
          <a:solidFill>
            <a:srgbClr val="F7F5F0"/>
          </a:solidFill>
          <a:ln/>
        </p:spPr>
      </p:sp>
      <p:pic>
        <p:nvPicPr>
          <p:cNvPr id="5" name="Image 0" descr="G-CORE screen: A Request for Approval, still a draft"/>
          <p:cNvPicPr>
            <a:picLocks noChangeAspect="1"/>
          </p:cNvPicPr>
          <p:nvPr/>
        </p:nvPicPr>
        <p:blipFill>
          <a:blip r:embed="rId3"/>
          <a:srcRect l="-106" r="-106"/>
          <a:stretch/>
        </p:blipFill>
        <p:spPr>
          <a:xfrm>
            <a:off x="622300" y="1186185"/>
            <a:ext cx="7975600" cy="4476750"/>
          </a:xfrm>
          <a:prstGeom prst="roundRect">
            <a:avLst>
              <a:gd name="adj" fmla="val 1418"/>
            </a:avLst>
          </a:prstGeom>
        </p:spPr>
      </p:pic>
      <p:sp>
        <p:nvSpPr>
          <p:cNvPr id="6" name="Shape 3"/>
          <p:cNvSpPr/>
          <p:nvPr/>
        </p:nvSpPr>
        <p:spPr>
          <a:xfrm>
            <a:off x="615950" y="1179835"/>
            <a:ext cx="7988300" cy="4489450"/>
          </a:xfrm>
          <a:prstGeom prst="roundRect">
            <a:avLst>
              <a:gd name="adj" fmla="val 1556"/>
            </a:avLst>
          </a:prstGeom>
          <a:noFill/>
          <a:ln w="12700">
            <a:solidFill>
              <a:srgbClr val="3A4466"/>
            </a:solidFill>
            <a:prstDash val="solid"/>
          </a:ln>
        </p:spPr>
      </p:sp>
      <p:sp>
        <p:nvSpPr>
          <p:cNvPr id="7" name="Text 4"/>
          <p:cNvSpPr/>
          <p:nvPr/>
        </p:nvSpPr>
        <p:spPr>
          <a:xfrm>
            <a:off x="8864600" y="1275085"/>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C9A6E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1</a:t>
            </a:r>
            <a:endParaRPr lang="en-US" sz="1300" dirty="0"/>
          </a:p>
        </p:txBody>
      </p:sp>
      <p:sp>
        <p:nvSpPr>
          <p:cNvPr id="8" name="Text 5"/>
          <p:cNvSpPr/>
          <p:nvPr/>
        </p:nvSpPr>
        <p:spPr>
          <a:xfrm>
            <a:off x="9283700" y="1275085"/>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"Submit for approval sends it to …" names the route.</a:t>
            </a:r>
            <a:endParaRPr lang="en-US" sz="1400" dirty="0"/>
          </a:p>
        </p:txBody>
      </p:sp>
      <p:sp>
        <p:nvSpPr>
          <p:cNvPr id="9" name="Text 6"/>
          <p:cNvSpPr/>
          <p:nvPr/>
        </p:nvSpPr>
        <p:spPr>
          <a:xfrm>
            <a:off x="8864600" y="1976127"/>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C9A6E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2</a:t>
            </a:r>
            <a:endParaRPr lang="en-US" sz="1300" dirty="0"/>
          </a:p>
        </p:txBody>
      </p:sp>
      <p:sp>
        <p:nvSpPr>
          <p:cNvPr id="10" name="Text 7"/>
          <p:cNvSpPr/>
          <p:nvPr/>
        </p:nvSpPr>
        <p:spPr>
          <a:xfrm>
            <a:off x="9283700" y="1976127"/>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Attach the drawing before submitting.</a:t>
            </a:r>
            <a:endParaRPr lang="en-US" sz="1400" dirty="0"/>
          </a:p>
        </p:txBody>
      </p:sp>
      <p:sp>
        <p:nvSpPr>
          <p:cNvPr id="11" name="Text 8"/>
          <p:cNvSpPr/>
          <p:nvPr/>
        </p:nvSpPr>
        <p:spPr>
          <a:xfrm>
            <a:off x="8864600" y="2677158"/>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C9A6E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3</a:t>
            </a:r>
            <a:endParaRPr lang="en-US" sz="1300" dirty="0"/>
          </a:p>
        </p:txBody>
      </p:sp>
      <p:sp>
        <p:nvSpPr>
          <p:cNvPr id="12" name="Text 9"/>
          <p:cNvSpPr/>
          <p:nvPr/>
        </p:nvSpPr>
        <p:spPr>
          <a:xfrm>
            <a:off x="9283700" y="2677158"/>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Drawing reference, revision, discipline.</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B2A8C"/>
                </a:solidFill>
                <a:latin typeface="DM Sans" pitchFamily="34" charset="0"/>
                <a:ea typeface="DM Sans" pitchFamily="34" charset="-122"/>
                <a:cs typeface="DM Sans" pitchFamily="34" charset="-120"/>
              </a:rPr>
              <a:t>STEP 5 · ACCOMPLISHMENT REPORT</a:t>
            </a:r>
            <a:endParaRPr lang="en-US" sz="1200" dirty="0"/>
          </a:p>
        </p:txBody>
      </p:sp>
      <p:sp>
        <p:nvSpPr>
          <p:cNvPr id="3" name="Text 1"/>
          <p:cNvSpPr>
            <a:spLocks noGrp="1"/>
          </p:cNvSpPr>
          <p:nvPr>
            <p:ph type="title"/>
          </p:nvPr>
        </p:nvSpPr>
        <p:spPr>
          <a:xfrm>
            <a:off x="812800" y="1102358"/>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B2238"/>
                </a:solidFill>
                <a:latin typeface="Domine" pitchFamily="18" charset="0"/>
                <a:ea typeface="Domine" pitchFamily="18" charset="-122"/>
                <a:cs typeface="Domine" pitchFamily="18" charset="-120"/>
              </a:rPr>
              <a:t>One report per period, weighed by value</a:t>
            </a:r>
            <a:endParaRPr lang="en-US" sz="3000" dirty="0"/>
          </a:p>
        </p:txBody>
      </p:sp>
      <p:sp>
        <p:nvSpPr>
          <p:cNvPr id="4" name="Shape 2"/>
          <p:cNvSpPr/>
          <p:nvPr/>
        </p:nvSpPr>
        <p:spPr>
          <a:xfrm>
            <a:off x="815975" y="1721483"/>
            <a:ext cx="3414157" cy="1344930"/>
          </a:xfrm>
          <a:prstGeom prst="roundRect">
            <a:avLst>
              <a:gd name="adj" fmla="val 7318"/>
            </a:avLst>
          </a:prstGeom>
          <a:solidFill>
            <a:srgbClr val="FFFDF8"/>
          </a:solidFill>
          <a:ln w="6350">
            <a:solidFill>
              <a:srgbClr val="E4DFD3"/>
            </a:solidFill>
            <a:prstDash val="solid"/>
          </a:ln>
        </p:spPr>
      </p:sp>
      <p:sp>
        <p:nvSpPr>
          <p:cNvPr id="5" name="Text 3"/>
          <p:cNvSpPr/>
          <p:nvPr/>
        </p:nvSpPr>
        <p:spPr>
          <a:xfrm>
            <a:off x="995680" y="1901192"/>
            <a:ext cx="314638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2238"/>
                </a:solidFill>
                <a:latin typeface="DM Sans" pitchFamily="34" charset="0"/>
                <a:ea typeface="DM Sans" pitchFamily="34" charset="-122"/>
                <a:cs typeface="DM Sans" pitchFamily="34" charset="-120"/>
              </a:rPr>
              <a:t>Numbered under the project</a:t>
            </a:r>
            <a:endParaRPr lang="en-US" sz="1500" dirty="0"/>
          </a:p>
        </p:txBody>
      </p:sp>
      <p:sp>
        <p:nvSpPr>
          <p:cNvPr id="6" name="Text 4"/>
          <p:cNvSpPr/>
          <p:nvPr/>
        </p:nvSpPr>
        <p:spPr>
          <a:xfrm>
            <a:off x="995680" y="2193292"/>
            <a:ext cx="3146389" cy="71882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4A5160"/>
                </a:solidFill>
                <a:latin typeface="DM Sans" pitchFamily="34" charset="0"/>
                <a:ea typeface="DM Sans" pitchFamily="34" charset="-122"/>
                <a:cs typeface="DM Sans" pitchFamily="34" charset="-120"/>
              </a:rPr>
              <a:t>GT-PRJ-2026-0112-PR-03</a:t>
            </a:r>
            <a:r>
              <a:rPr lang="en-US" sz="1300" dirty="0">
                <a:solidFill>
                  <a:srgbClr val="4A5160"/>
                </a:solidFill>
                <a:latin typeface="DM Sans" pitchFamily="34" charset="0"/>
                <a:ea typeface="DM Sans" pitchFamily="34" charset="-122"/>
                <a:cs typeface="DM Sans" pitchFamily="34" charset="-120"/>
              </a:rPr>
              <a:t> — report 3 of that project. Each carries the last one’s to-date % forward.</a:t>
            </a:r>
            <a:endParaRPr lang="en-US" sz="1300" dirty="0"/>
          </a:p>
        </p:txBody>
      </p:sp>
      <p:sp>
        <p:nvSpPr>
          <p:cNvPr id="7" name="Shape 5"/>
          <p:cNvSpPr/>
          <p:nvPr/>
        </p:nvSpPr>
        <p:spPr>
          <a:xfrm>
            <a:off x="4388882" y="1721483"/>
            <a:ext cx="3414236" cy="1344930"/>
          </a:xfrm>
          <a:prstGeom prst="roundRect">
            <a:avLst>
              <a:gd name="adj" fmla="val 7318"/>
            </a:avLst>
          </a:prstGeom>
          <a:solidFill>
            <a:srgbClr val="FFFDF8"/>
          </a:solidFill>
          <a:ln w="6350">
            <a:solidFill>
              <a:srgbClr val="E4DFD3"/>
            </a:solidFill>
            <a:prstDash val="solid"/>
          </a:ln>
        </p:spPr>
      </p:sp>
      <p:sp>
        <p:nvSpPr>
          <p:cNvPr id="8" name="Text 6"/>
          <p:cNvSpPr/>
          <p:nvPr/>
        </p:nvSpPr>
        <p:spPr>
          <a:xfrm>
            <a:off x="4568587" y="1901192"/>
            <a:ext cx="314647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2238"/>
                </a:solidFill>
                <a:latin typeface="DM Sans" pitchFamily="34" charset="0"/>
                <a:ea typeface="DM Sans" pitchFamily="34" charset="-122"/>
                <a:cs typeface="DM Sans" pitchFamily="34" charset="-120"/>
              </a:rPr>
              <a:t>Weight × to-date %</a:t>
            </a:r>
            <a:endParaRPr lang="en-US" sz="1500" dirty="0"/>
          </a:p>
        </p:txBody>
      </p:sp>
      <p:sp>
        <p:nvSpPr>
          <p:cNvPr id="9" name="Text 7"/>
          <p:cNvSpPr/>
          <p:nvPr/>
        </p:nvSpPr>
        <p:spPr>
          <a:xfrm>
            <a:off x="4568587" y="2193292"/>
            <a:ext cx="3146471"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160"/>
                </a:solidFill>
                <a:latin typeface="DM Sans" pitchFamily="34" charset="0"/>
                <a:ea typeface="DM Sans" pitchFamily="34" charset="-122"/>
                <a:cs typeface="DM Sans" pitchFamily="34" charset="-120"/>
              </a:rPr>
              <a:t>Weight = phase value ÷ contract. A 40% phase at 70% adds </a:t>
            </a:r>
            <a:r>
              <a:rPr lang="en-US" sz="1300" b="1" dirty="0">
                <a:solidFill>
                  <a:srgbClr val="4A5160"/>
                </a:solidFill>
                <a:latin typeface="DM Sans" pitchFamily="34" charset="0"/>
                <a:ea typeface="DM Sans" pitchFamily="34" charset="-122"/>
                <a:cs typeface="DM Sans" pitchFamily="34" charset="-120"/>
              </a:rPr>
              <a:t>28%</a:t>
            </a:r>
            <a:r>
              <a:rPr lang="en-US" sz="1300" dirty="0">
                <a:solidFill>
                  <a:srgbClr val="4A5160"/>
                </a:solidFill>
                <a:latin typeface="DM Sans" pitchFamily="34" charset="0"/>
                <a:ea typeface="DM Sans" pitchFamily="34" charset="-122"/>
                <a:cs typeface="DM Sans" pitchFamily="34" charset="-120"/>
              </a:rPr>
              <a:t>. The weighted figures add up to the project %.</a:t>
            </a:r>
            <a:endParaRPr lang="en-US" sz="1300" dirty="0"/>
          </a:p>
        </p:txBody>
      </p:sp>
      <p:sp>
        <p:nvSpPr>
          <p:cNvPr id="10" name="Shape 8"/>
          <p:cNvSpPr/>
          <p:nvPr/>
        </p:nvSpPr>
        <p:spPr>
          <a:xfrm>
            <a:off x="7961868" y="1721483"/>
            <a:ext cx="3414157" cy="1344930"/>
          </a:xfrm>
          <a:prstGeom prst="roundRect">
            <a:avLst>
              <a:gd name="adj" fmla="val 7318"/>
            </a:avLst>
          </a:prstGeom>
          <a:solidFill>
            <a:srgbClr val="FFFDF8"/>
          </a:solidFill>
          <a:ln w="6350">
            <a:solidFill>
              <a:srgbClr val="E4DFD3"/>
            </a:solidFill>
            <a:prstDash val="solid"/>
          </a:ln>
        </p:spPr>
      </p:sp>
      <p:sp>
        <p:nvSpPr>
          <p:cNvPr id="11" name="Text 9"/>
          <p:cNvSpPr/>
          <p:nvPr/>
        </p:nvSpPr>
        <p:spPr>
          <a:xfrm>
            <a:off x="8141574" y="1901192"/>
            <a:ext cx="314638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2238"/>
                </a:solidFill>
                <a:latin typeface="DM Sans" pitchFamily="34" charset="0"/>
                <a:ea typeface="DM Sans" pitchFamily="34" charset="-122"/>
                <a:cs typeface="DM Sans" pitchFamily="34" charset="-120"/>
              </a:rPr>
              <a:t>Daily entries + pictures</a:t>
            </a:r>
            <a:endParaRPr lang="en-US" sz="1500" dirty="0"/>
          </a:p>
        </p:txBody>
      </p:sp>
      <p:sp>
        <p:nvSpPr>
          <p:cNvPr id="12" name="Text 10"/>
          <p:cNvSpPr/>
          <p:nvPr/>
        </p:nvSpPr>
        <p:spPr>
          <a:xfrm>
            <a:off x="8141574" y="2193292"/>
            <a:ext cx="3146389"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160"/>
                </a:solidFill>
                <a:latin typeface="DM Sans" pitchFamily="34" charset="0"/>
                <a:ea typeface="DM Sans" pitchFamily="34" charset="-122"/>
                <a:cs typeface="DM Sans" pitchFamily="34" charset="-120"/>
              </a:rPr>
              <a:t>+ Add day: actions, findings, recommendation, people on site — and attach the day’s pictures.</a:t>
            </a:r>
            <a:endParaRPr lang="en-US" sz="1300" dirty="0"/>
          </a:p>
        </p:txBody>
      </p:sp>
      <p:sp>
        <p:nvSpPr>
          <p:cNvPr id="13" name="Shape 11"/>
          <p:cNvSpPr/>
          <p:nvPr/>
        </p:nvSpPr>
        <p:spPr>
          <a:xfrm>
            <a:off x="815975" y="3250567"/>
            <a:ext cx="6174978" cy="1614170"/>
          </a:xfrm>
          <a:prstGeom prst="roundRect">
            <a:avLst>
              <a:gd name="adj" fmla="val 6098"/>
            </a:avLst>
          </a:prstGeom>
          <a:solidFill>
            <a:srgbClr val="FFFDF8"/>
          </a:solidFill>
          <a:ln w="6350">
            <a:solidFill>
              <a:srgbClr val="E4DFD3"/>
            </a:solidFill>
            <a:prstDash val="solid"/>
          </a:ln>
        </p:spPr>
      </p:sp>
      <p:sp>
        <p:nvSpPr>
          <p:cNvPr id="14" name="Text 12"/>
          <p:cNvSpPr/>
          <p:nvPr/>
        </p:nvSpPr>
        <p:spPr>
          <a:xfrm>
            <a:off x="995680" y="3430277"/>
            <a:ext cx="599003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2238"/>
                </a:solidFill>
                <a:latin typeface="DM Sans" pitchFamily="34" charset="0"/>
                <a:ea typeface="DM Sans" pitchFamily="34" charset="-122"/>
                <a:cs typeface="DM Sans" pitchFamily="34" charset="-120"/>
              </a:rPr>
              <a:t>Modify fills the narrative</a:t>
            </a:r>
            <a:endParaRPr lang="en-US" sz="1500" dirty="0"/>
          </a:p>
        </p:txBody>
      </p:sp>
      <p:sp>
        <p:nvSpPr>
          <p:cNvPr id="15" name="Text 13"/>
          <p:cNvSpPr/>
          <p:nvPr/>
        </p:nvSpPr>
        <p:spPr>
          <a:xfrm>
            <a:off x="995680" y="3722377"/>
            <a:ext cx="5990035"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160"/>
                </a:solidFill>
                <a:latin typeface="DM Sans" pitchFamily="34" charset="0"/>
                <a:ea typeface="DM Sans" pitchFamily="34" charset="-122"/>
                <a:cs typeface="DM Sans" pitchFamily="34" charset="-120"/>
              </a:rPr>
              <a:t>Overall status (On schedule · Ahead · Behind · Ongoing – For corrective works · On hold · Completed) + a note, personnel present, Summary, Key milestones, Remaining works, issues, manpower, weather.</a:t>
            </a:r>
            <a:endParaRPr lang="en-US" sz="1300" dirty="0"/>
          </a:p>
        </p:txBody>
      </p:sp>
      <p:sp>
        <p:nvSpPr>
          <p:cNvPr id="16" name="Shape 14"/>
          <p:cNvSpPr/>
          <p:nvPr/>
        </p:nvSpPr>
        <p:spPr>
          <a:xfrm>
            <a:off x="7146528" y="3247392"/>
            <a:ext cx="4232672" cy="1620520"/>
          </a:xfrm>
          <a:prstGeom prst="roundRect">
            <a:avLst>
              <a:gd name="adj" fmla="val 6270"/>
            </a:avLst>
          </a:prstGeom>
          <a:solidFill>
            <a:srgbClr val="1B2238"/>
          </a:solidFill>
          <a:ln/>
        </p:spPr>
      </p:sp>
      <p:sp>
        <p:nvSpPr>
          <p:cNvPr id="17" name="Text 15"/>
          <p:cNvSpPr/>
          <p:nvPr/>
        </p:nvSpPr>
        <p:spPr>
          <a:xfrm>
            <a:off x="7324328" y="3425192"/>
            <a:ext cx="3993384"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FD3AE"/>
                </a:solidFill>
                <a:latin typeface="DM Sans" pitchFamily="34" charset="0"/>
                <a:ea typeface="DM Sans" pitchFamily="34" charset="-122"/>
                <a:cs typeface="DM Sans" pitchFamily="34" charset="-120"/>
              </a:rPr>
              <a:t>ROUTE</a:t>
            </a:r>
            <a:endParaRPr lang="en-US" sz="1200" dirty="0"/>
          </a:p>
        </p:txBody>
      </p:sp>
      <p:sp>
        <p:nvSpPr>
          <p:cNvPr id="18" name="Text 16"/>
          <p:cNvSpPr/>
          <p:nvPr/>
        </p:nvSpPr>
        <p:spPr>
          <a:xfrm>
            <a:off x="7324328" y="3702050"/>
            <a:ext cx="3993384"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Creator (Project Engineer or Sales) › </a:t>
            </a:r>
            <a:r>
              <a:rPr lang="en-US" sz="1400" b="1" dirty="0">
                <a:solidFill>
                  <a:srgbClr val="F7F5F0"/>
                </a:solidFill>
                <a:latin typeface="DM Sans" pitchFamily="34" charset="0"/>
                <a:ea typeface="DM Sans" pitchFamily="34" charset="-122"/>
                <a:cs typeface="DM Sans" pitchFamily="34" charset="-120"/>
              </a:rPr>
              <a:t>Technical Manager</a:t>
            </a:r>
            <a:r>
              <a:rPr lang="en-US" sz="1400" dirty="0">
                <a:solidFill>
                  <a:srgbClr val="F7F5F0"/>
                </a:solidFill>
                <a:latin typeface="DM Sans" pitchFamily="34" charset="0"/>
                <a:ea typeface="DM Sans" pitchFamily="34" charset="-122"/>
                <a:cs typeface="DM Sans" pitchFamily="34" charset="-120"/>
              </a:rPr>
              <a:t> › </a:t>
            </a:r>
            <a:r>
              <a:rPr lang="en-US" sz="1400" b="1" dirty="0">
                <a:solidFill>
                  <a:srgbClr val="F7F5F0"/>
                </a:solidFill>
                <a:latin typeface="DM Sans" pitchFamily="34" charset="0"/>
                <a:ea typeface="DM Sans" pitchFamily="34" charset="-122"/>
                <a:cs typeface="DM Sans" pitchFamily="34" charset="-120"/>
              </a:rPr>
              <a:t>Team Leader</a:t>
            </a:r>
            <a:endParaRPr lang="en-US" sz="1400" dirty="0"/>
          </a:p>
        </p:txBody>
      </p:sp>
      <p:sp>
        <p:nvSpPr>
          <p:cNvPr id="19" name="Text 17"/>
          <p:cNvSpPr/>
          <p:nvPr/>
        </p:nvSpPr>
        <p:spPr>
          <a:xfrm>
            <a:off x="7324328" y="4263392"/>
            <a:ext cx="3993384"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CEDB"/>
                </a:solidFill>
                <a:latin typeface="DM Sans" pitchFamily="34" charset="0"/>
                <a:ea typeface="DM Sans" pitchFamily="34" charset="-122"/>
                <a:cs typeface="DM Sans" pitchFamily="34" charset="-120"/>
              </a:rPr>
              <a:t>Print = the Accomplishment Report with pictures, 3 to a row</a:t>
            </a:r>
            <a:endParaRPr lang="en-US" sz="1200" dirty="0"/>
          </a:p>
        </p:txBody>
      </p:sp>
      <p:sp>
        <p:nvSpPr>
          <p:cNvPr id="20" name="Text 18"/>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DM Sans" pitchFamily="34" charset="0"/>
                <a:ea typeface="DM Sans" pitchFamily="34" charset="-122"/>
                <a:cs typeface="DM Sans" pitchFamily="34" charset="-120"/>
              </a:rPr>
              <a:t>G-CORE Training · Project Management · Progress &amp; Billing tab</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B2238"/>
        </a:solidFill>
        <a:effectLst/>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9A6EE"/>
                </a:solidFill>
                <a:latin typeface="DM Sans" pitchFamily="34" charset="0"/>
                <a:ea typeface="DM Sans" pitchFamily="34" charset="-122"/>
                <a:cs typeface="DM Sans" pitchFamily="34" charset="-120"/>
              </a:rPr>
              <a:t>ON SCREEN · PROJECT MANAGEMENT</a:t>
            </a:r>
            <a:endParaRPr lang="en-US" sz="1200" dirty="0"/>
          </a:p>
        </p:txBody>
      </p:sp>
      <p:sp>
        <p:nvSpPr>
          <p:cNvPr id="3" name="Text 1"/>
          <p:cNvSpPr>
            <a:spLocks noGrp="1"/>
          </p:cNvSpPr>
          <p:nvPr>
            <p:ph type="title"/>
          </p:nvPr>
        </p:nvSpPr>
        <p:spPr>
          <a:xfrm>
            <a:off x="609600" y="746758"/>
            <a:ext cx="11301984"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F7F5F0"/>
                </a:solidFill>
                <a:latin typeface="Domine" pitchFamily="18" charset="0"/>
                <a:ea typeface="Domine" pitchFamily="18" charset="-122"/>
                <a:cs typeface="Domine" pitchFamily="18" charset="-120"/>
              </a:rPr>
              <a:t>The Accomplishment Report</a:t>
            </a:r>
            <a:endParaRPr lang="en-US" sz="2400" dirty="0"/>
          </a:p>
        </p:txBody>
      </p:sp>
      <p:sp>
        <p:nvSpPr>
          <p:cNvPr id="4" name="Shape 2"/>
          <p:cNvSpPr/>
          <p:nvPr/>
        </p:nvSpPr>
        <p:spPr>
          <a:xfrm>
            <a:off x="609600" y="1173485"/>
            <a:ext cx="8001000" cy="4502150"/>
          </a:xfrm>
          <a:prstGeom prst="roundRect">
            <a:avLst>
              <a:gd name="adj" fmla="val 1693"/>
            </a:avLst>
          </a:prstGeom>
          <a:solidFill>
            <a:srgbClr val="F7F5F0"/>
          </a:solidFill>
          <a:ln/>
        </p:spPr>
      </p:sp>
      <p:pic>
        <p:nvPicPr>
          <p:cNvPr id="5" name="Image 0" descr="G-CORE screen: The Accomplishment Report"/>
          <p:cNvPicPr>
            <a:picLocks noChangeAspect="1"/>
          </p:cNvPicPr>
          <p:nvPr/>
        </p:nvPicPr>
        <p:blipFill>
          <a:blip r:embed="rId3"/>
          <a:srcRect l="-106" r="-106"/>
          <a:stretch/>
        </p:blipFill>
        <p:spPr>
          <a:xfrm>
            <a:off x="622300" y="1186185"/>
            <a:ext cx="7975600" cy="4476750"/>
          </a:xfrm>
          <a:prstGeom prst="roundRect">
            <a:avLst>
              <a:gd name="adj" fmla="val 1418"/>
            </a:avLst>
          </a:prstGeom>
        </p:spPr>
      </p:pic>
      <p:sp>
        <p:nvSpPr>
          <p:cNvPr id="6" name="Shape 3"/>
          <p:cNvSpPr/>
          <p:nvPr/>
        </p:nvSpPr>
        <p:spPr>
          <a:xfrm>
            <a:off x="615950" y="1179835"/>
            <a:ext cx="7988300" cy="4489450"/>
          </a:xfrm>
          <a:prstGeom prst="roundRect">
            <a:avLst>
              <a:gd name="adj" fmla="val 1556"/>
            </a:avLst>
          </a:prstGeom>
          <a:noFill/>
          <a:ln w="12700">
            <a:solidFill>
              <a:srgbClr val="3A4466"/>
            </a:solidFill>
            <a:prstDash val="solid"/>
          </a:ln>
        </p:spPr>
      </p:sp>
      <p:sp>
        <p:nvSpPr>
          <p:cNvPr id="7" name="Text 4"/>
          <p:cNvSpPr/>
          <p:nvPr/>
        </p:nvSpPr>
        <p:spPr>
          <a:xfrm>
            <a:off x="8864600" y="1275085"/>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C9A6E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1</a:t>
            </a:r>
            <a:endParaRPr lang="en-US" sz="1300" dirty="0"/>
          </a:p>
        </p:txBody>
      </p:sp>
      <p:sp>
        <p:nvSpPr>
          <p:cNvPr id="8" name="Text 5"/>
          <p:cNvSpPr/>
          <p:nvPr/>
        </p:nvSpPr>
        <p:spPr>
          <a:xfrm>
            <a:off x="9283700" y="1275085"/>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Number under its project: …-PR-03.</a:t>
            </a:r>
            <a:endParaRPr lang="en-US" sz="1400" dirty="0"/>
          </a:p>
        </p:txBody>
      </p:sp>
      <p:sp>
        <p:nvSpPr>
          <p:cNvPr id="9" name="Text 6"/>
          <p:cNvSpPr/>
          <p:nvPr/>
        </p:nvSpPr>
        <p:spPr>
          <a:xfrm>
            <a:off x="8864600" y="1976127"/>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C9A6E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2</a:t>
            </a:r>
            <a:endParaRPr lang="en-US" sz="1300" dirty="0"/>
          </a:p>
        </p:txBody>
      </p:sp>
      <p:sp>
        <p:nvSpPr>
          <p:cNvPr id="10" name="Text 7"/>
          <p:cNvSpPr/>
          <p:nvPr/>
        </p:nvSpPr>
        <p:spPr>
          <a:xfrm>
            <a:off x="9283700" y="1976127"/>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Overall status, personnel present.</a:t>
            </a:r>
            <a:endParaRPr lang="en-US" sz="1400" dirty="0"/>
          </a:p>
        </p:txBody>
      </p:sp>
      <p:sp>
        <p:nvSpPr>
          <p:cNvPr id="11" name="Text 8"/>
          <p:cNvSpPr/>
          <p:nvPr/>
        </p:nvSpPr>
        <p:spPr>
          <a:xfrm>
            <a:off x="8864600" y="2677158"/>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C9A6E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3</a:t>
            </a:r>
            <a:endParaRPr lang="en-US" sz="1300" dirty="0"/>
          </a:p>
        </p:txBody>
      </p:sp>
      <p:sp>
        <p:nvSpPr>
          <p:cNvPr id="12" name="Text 9"/>
          <p:cNvSpPr/>
          <p:nvPr/>
        </p:nvSpPr>
        <p:spPr>
          <a:xfrm>
            <a:off x="9283700" y="2677158"/>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SOV lines weighted by value; Use it from tasks.</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B2A8C"/>
                </a:solidFill>
                <a:latin typeface="DM Sans" pitchFamily="34" charset="0"/>
                <a:ea typeface="DM Sans" pitchFamily="34" charset="-122"/>
                <a:cs typeface="DM Sans" pitchFamily="34" charset="-120"/>
              </a:rPr>
              <a:t>STEP 6 · PROGRESS BILLING</a:t>
            </a:r>
            <a:endParaRPr lang="en-US" sz="1200" dirty="0"/>
          </a:p>
        </p:txBody>
      </p:sp>
      <p:sp>
        <p:nvSpPr>
          <p:cNvPr id="3" name="Text 1"/>
          <p:cNvSpPr>
            <a:spLocks noGrp="1"/>
          </p:cNvSpPr>
          <p:nvPr>
            <p:ph type="title"/>
          </p:nvPr>
        </p:nvSpPr>
        <p:spPr>
          <a:xfrm>
            <a:off x="812800" y="1127758"/>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B2238"/>
                </a:solidFill>
                <a:latin typeface="Domine" pitchFamily="18" charset="0"/>
                <a:ea typeface="Domine" pitchFamily="18" charset="-122"/>
                <a:cs typeface="Domine" pitchFamily="18" charset="-120"/>
              </a:rPr>
              <a:t>Bill only what the report added</a:t>
            </a:r>
            <a:endParaRPr lang="en-US" sz="3000" dirty="0"/>
          </a:p>
        </p:txBody>
      </p:sp>
      <p:sp>
        <p:nvSpPr>
          <p:cNvPr id="4" name="Text 2"/>
          <p:cNvSpPr/>
          <p:nvPr/>
        </p:nvSpPr>
        <p:spPr>
          <a:xfrm>
            <a:off x="812800" y="1769108"/>
            <a:ext cx="5122520" cy="79883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1B2238"/>
                </a:solidFill>
                <a:latin typeface="DM Sans" pitchFamily="34" charset="0"/>
                <a:ea typeface="DM Sans" pitchFamily="34" charset="-122"/>
                <a:cs typeface="DM Sans" pitchFamily="34" charset="-120"/>
              </a:rPr>
              <a:t>From an </a:t>
            </a:r>
            <a:r>
              <a:rPr lang="en-US" sz="1400" b="1" dirty="0">
                <a:solidFill>
                  <a:srgbClr val="1B2238"/>
                </a:solidFill>
                <a:latin typeface="DM Sans" pitchFamily="34" charset="0"/>
                <a:ea typeface="DM Sans" pitchFamily="34" charset="-122"/>
                <a:cs typeface="DM Sans" pitchFamily="34" charset="-120"/>
              </a:rPr>
              <a:t>approved</a:t>
            </a:r>
            <a:r>
              <a:rPr lang="en-US" sz="1400" dirty="0">
                <a:solidFill>
                  <a:srgbClr val="1B2238"/>
                </a:solidFill>
                <a:latin typeface="DM Sans" pitchFamily="34" charset="0"/>
                <a:ea typeface="DM Sans" pitchFamily="34" charset="-122"/>
                <a:cs typeface="DM Sans" pitchFamily="34" charset="-120"/>
              </a:rPr>
              <a:t> report: </a:t>
            </a:r>
            <a:r>
              <a:rPr lang="en-US" sz="1400" b="1" dirty="0">
                <a:solidFill>
                  <a:srgbClr val="1B2238"/>
                </a:solidFill>
                <a:latin typeface="DM Sans" pitchFamily="34" charset="0"/>
                <a:ea typeface="DM Sans" pitchFamily="34" charset="-122"/>
                <a:cs typeface="DM Sans" pitchFamily="34" charset="-120"/>
              </a:rPr>
              <a:t>Raise billing</a:t>
            </a:r>
            <a:r>
              <a:rPr lang="en-US" sz="1400" dirty="0">
                <a:solidFill>
                  <a:srgbClr val="1B2238"/>
                </a:solidFill>
                <a:latin typeface="DM Sans" pitchFamily="34" charset="0"/>
                <a:ea typeface="DM Sans" pitchFamily="34" charset="-122"/>
                <a:cs typeface="DM Sans" pitchFamily="34" charset="-120"/>
              </a:rPr>
              <a:t>. It compares each phase’s to-date % with the highest already billed — billing the same work twice is impossible.</a:t>
            </a:r>
            <a:endParaRPr lang="en-US" sz="1400" dirty="0"/>
          </a:p>
        </p:txBody>
      </p:sp>
      <p:sp>
        <p:nvSpPr>
          <p:cNvPr id="5" name="Text 3"/>
          <p:cNvSpPr/>
          <p:nvPr/>
        </p:nvSpPr>
        <p:spPr>
          <a:xfrm>
            <a:off x="812800" y="2644142"/>
            <a:ext cx="5122520" cy="54102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1B2238"/>
                </a:solidFill>
                <a:latin typeface="DM Sans" pitchFamily="34" charset="0"/>
                <a:ea typeface="DM Sans" pitchFamily="34" charset="-122"/>
                <a:cs typeface="DM Sans" pitchFamily="34" charset="-120"/>
              </a:rPr>
              <a:t>Same route as the report: creator › </a:t>
            </a:r>
            <a:r>
              <a:rPr lang="en-US" sz="1400" b="1" dirty="0">
                <a:solidFill>
                  <a:srgbClr val="1B2238"/>
                </a:solidFill>
                <a:latin typeface="DM Sans" pitchFamily="34" charset="0"/>
                <a:ea typeface="DM Sans" pitchFamily="34" charset="-122"/>
                <a:cs typeface="DM Sans" pitchFamily="34" charset="-120"/>
              </a:rPr>
              <a:t>Technical Manager</a:t>
            </a:r>
            <a:r>
              <a:rPr lang="en-US" sz="1400" dirty="0">
                <a:solidFill>
                  <a:srgbClr val="1B2238"/>
                </a:solidFill>
                <a:latin typeface="DM Sans" pitchFamily="34" charset="0"/>
                <a:ea typeface="DM Sans" pitchFamily="34" charset="-122"/>
                <a:cs typeface="DM Sans" pitchFamily="34" charset="-120"/>
              </a:rPr>
              <a:t> › </a:t>
            </a:r>
            <a:r>
              <a:rPr lang="en-US" sz="1400" b="1" dirty="0">
                <a:solidFill>
                  <a:srgbClr val="1B2238"/>
                </a:solidFill>
                <a:latin typeface="DM Sans" pitchFamily="34" charset="0"/>
                <a:ea typeface="DM Sans" pitchFamily="34" charset="-122"/>
                <a:cs typeface="DM Sans" pitchFamily="34" charset="-120"/>
              </a:rPr>
              <a:t>Team Leader</a:t>
            </a:r>
            <a:r>
              <a:rPr lang="en-US" sz="1400" dirty="0">
                <a:solidFill>
                  <a:srgbClr val="1B2238"/>
                </a:solidFill>
                <a:latin typeface="DM Sans" pitchFamily="34" charset="0"/>
                <a:ea typeface="DM Sans" pitchFamily="34" charset="-122"/>
                <a:cs typeface="DM Sans" pitchFamily="34" charset="-120"/>
              </a:rPr>
              <a:t>. Numbered </a:t>
            </a:r>
            <a:r>
              <a:rPr lang="en-US" sz="1400" b="1" dirty="0">
                <a:solidFill>
                  <a:srgbClr val="1B2238"/>
                </a:solidFill>
                <a:latin typeface="DM Sans" pitchFamily="34" charset="0"/>
                <a:ea typeface="DM Sans" pitchFamily="34" charset="-122"/>
                <a:cs typeface="DM Sans" pitchFamily="34" charset="-120"/>
              </a:rPr>
              <a:t>…-PB-01</a:t>
            </a:r>
            <a:r>
              <a:rPr lang="en-US" sz="1400" dirty="0">
                <a:solidFill>
                  <a:srgbClr val="1B2238"/>
                </a:solidFill>
                <a:latin typeface="DM Sans" pitchFamily="34" charset="0"/>
                <a:ea typeface="DM Sans" pitchFamily="34" charset="-122"/>
                <a:cs typeface="DM Sans" pitchFamily="34" charset="-120"/>
              </a:rPr>
              <a:t> under the project.</a:t>
            </a:r>
            <a:endParaRPr lang="en-US" sz="1400" dirty="0"/>
          </a:p>
        </p:txBody>
      </p:sp>
      <p:sp>
        <p:nvSpPr>
          <p:cNvPr id="6" name="Text 4"/>
          <p:cNvSpPr/>
          <p:nvPr/>
        </p:nvSpPr>
        <p:spPr>
          <a:xfrm>
            <a:off x="812800" y="3261358"/>
            <a:ext cx="5122520" cy="54102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1B2238"/>
                </a:solidFill>
                <a:latin typeface="DM Sans" pitchFamily="34" charset="0"/>
                <a:ea typeface="DM Sans" pitchFamily="34" charset="-122"/>
                <a:cs typeface="DM Sans" pitchFamily="34" charset="-120"/>
              </a:rPr>
              <a:t>Approved → finance clicks </a:t>
            </a:r>
            <a:r>
              <a:rPr lang="en-US" sz="1400" b="1" dirty="0">
                <a:solidFill>
                  <a:srgbClr val="1B2238"/>
                </a:solidFill>
                <a:latin typeface="DM Sans" pitchFamily="34" charset="0"/>
                <a:ea typeface="DM Sans" pitchFamily="34" charset="-122"/>
                <a:cs typeface="DM Sans" pitchFamily="34" charset="-120"/>
              </a:rPr>
              <a:t>Raise invoice</a:t>
            </a:r>
            <a:r>
              <a:rPr lang="en-US" sz="1400" dirty="0">
                <a:solidFill>
                  <a:srgbClr val="1B2238"/>
                </a:solidFill>
                <a:latin typeface="DM Sans" pitchFamily="34" charset="0"/>
                <a:ea typeface="DM Sans" pitchFamily="34" charset="-122"/>
                <a:cs typeface="DM Sans" pitchFamily="34" charset="-120"/>
              </a:rPr>
              <a:t>; the invoice copies the billing’s figures.</a:t>
            </a:r>
            <a:endParaRPr lang="en-US" sz="1400" dirty="0"/>
          </a:p>
        </p:txBody>
      </p:sp>
      <p:sp>
        <p:nvSpPr>
          <p:cNvPr id="7" name="Shape 5"/>
          <p:cNvSpPr/>
          <p:nvPr/>
        </p:nvSpPr>
        <p:spPr>
          <a:xfrm>
            <a:off x="5992495" y="1772283"/>
            <a:ext cx="5383530" cy="2934970"/>
          </a:xfrm>
          <a:prstGeom prst="roundRect">
            <a:avLst>
              <a:gd name="adj" fmla="val 3354"/>
            </a:avLst>
          </a:prstGeom>
          <a:solidFill>
            <a:srgbClr val="FFFDF8"/>
          </a:solidFill>
          <a:ln w="6350">
            <a:solidFill>
              <a:srgbClr val="E4DFD3"/>
            </a:solidFill>
            <a:prstDash val="solid"/>
          </a:ln>
        </p:spPr>
      </p:sp>
      <p:sp>
        <p:nvSpPr>
          <p:cNvPr id="8" name="Text 6"/>
          <p:cNvSpPr/>
          <p:nvPr/>
        </p:nvSpPr>
        <p:spPr>
          <a:xfrm>
            <a:off x="6197600" y="1977392"/>
            <a:ext cx="512252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B2A8C"/>
                </a:solidFill>
                <a:latin typeface="DM Sans" pitchFamily="34" charset="0"/>
                <a:ea typeface="DM Sans" pitchFamily="34" charset="-122"/>
                <a:cs typeface="DM Sans" pitchFamily="34" charset="-120"/>
              </a:rPr>
              <a:t>THE MONEY BLOCK</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207760" y="2200910"/>
          <a:ext cx="4963160" cy="2301240"/>
        </p:xfrm>
        <a:graphic>
          <a:graphicData uri="http://schemas.openxmlformats.org/drawingml/2006/table">
            <a:tbl>
              <a:tblPr/>
              <a:tblGrid>
                <a:gridCol w="3077159">
                  <a:extLst>
                    <a:ext uri="{9D8B030D-6E8A-4147-A177-3AD203B41FA5}">
                      <a16:colId xmlns:a16="http://schemas.microsoft.com/office/drawing/2014/main" val="20000"/>
                    </a:ext>
                  </a:extLst>
                </a:gridCol>
                <a:gridCol w="1886001">
                  <a:extLst>
                    <a:ext uri="{9D8B030D-6E8A-4147-A177-3AD203B41FA5}">
                      <a16:colId xmlns:a16="http://schemas.microsoft.com/office/drawing/2014/main" val="20001"/>
                    </a:ext>
                  </a:extLst>
                </a:gridCol>
              </a:tblGrid>
              <a:tr h="383540">
                <a:tc>
                  <a:txBody>
                    <a:bodyPr/>
                    <a:lstStyle/>
                    <a:p>
                      <a:pPr marL="0" indent="0">
                        <a:lnSpc>
                          <a:spcPts val="1960"/>
                        </a:lnSpc>
                        <a:buNone/>
                      </a:pPr>
                      <a:r>
                        <a:rPr lang="en-US" sz="1400" b="1" dirty="0">
                          <a:solidFill>
                            <a:srgbClr val="1B2238"/>
                          </a:solidFill>
                          <a:latin typeface="DM Sans" pitchFamily="34" charset="0"/>
                          <a:ea typeface="DM Sans" pitchFamily="34" charset="-122"/>
                          <a:cs typeface="DM Sans" pitchFamily="34" charset="-120"/>
                        </a:rPr>
                        <a:t>Line</a:t>
                      </a:r>
                      <a:endParaRPr lang="en-US" sz="1400" dirty="0">
                        <a:latin typeface="DM Sans" charset="0"/>
                        <a:ea typeface="DM Sans" charset="0"/>
                        <a:cs typeface="DM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6"/>
                    </a:solidFill>
                  </a:tcPr>
                </a:tc>
                <a:tc>
                  <a:txBody>
                    <a:bodyPr/>
                    <a:lstStyle/>
                    <a:p>
                      <a:pPr marL="0" indent="0" algn="r">
                        <a:lnSpc>
                          <a:spcPts val="1960"/>
                        </a:lnSpc>
                        <a:buNone/>
                      </a:pPr>
                      <a:r>
                        <a:rPr lang="en-US" sz="1400" b="1" dirty="0">
                          <a:solidFill>
                            <a:srgbClr val="1B2238"/>
                          </a:solidFill>
                          <a:latin typeface="DM Sans" pitchFamily="34" charset="0"/>
                          <a:ea typeface="DM Sans" pitchFamily="34" charset="-122"/>
                          <a:cs typeface="DM Sans" pitchFamily="34" charset="-120"/>
                        </a:rPr>
                        <a:t>Example</a:t>
                      </a:r>
                      <a:endParaRPr lang="en-US" sz="1400" dirty="0">
                        <a:latin typeface="DM Sans" charset="0"/>
                        <a:ea typeface="DM Sans" charset="0"/>
                        <a:cs typeface="DM Sans" charset="0"/>
                      </a:endParaRPr>
                    </a:p>
                  </a:txBody>
                  <a:tcPr marL="62230" marR="62230" marT="62230" marB="62230">
                    <a:lnL w="12700" cap="flat" cmpd="sng" algn="ctr">
                      <a:solidFill>
                        <a:srgbClr val="BCBBB8"/>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6"/>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1B2238"/>
                          </a:solidFill>
                          <a:latin typeface="DM Sans" pitchFamily="34" charset="0"/>
                          <a:ea typeface="DM Sans" pitchFamily="34" charset="-122"/>
                          <a:cs typeface="DM Sans" pitchFamily="34" charset="-120"/>
                        </a:rPr>
                        <a:t>Gross (work this period)</a:t>
                      </a:r>
                      <a:endParaRPr lang="en-US" sz="1400" dirty="0">
                        <a:latin typeface="DM Sans" charset="0"/>
                        <a:ea typeface="DM Sans" charset="0"/>
                        <a:cs typeface="DM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gn="r">
                        <a:lnSpc>
                          <a:spcPts val="1960"/>
                        </a:lnSpc>
                        <a:buNone/>
                      </a:pPr>
                      <a:r>
                        <a:rPr lang="en-US" sz="1400" dirty="0">
                          <a:solidFill>
                            <a:srgbClr val="1B2238"/>
                          </a:solidFill>
                          <a:latin typeface="DM Sans" pitchFamily="34" charset="0"/>
                          <a:ea typeface="DM Sans" pitchFamily="34" charset="-122"/>
                          <a:cs typeface="DM Sans" pitchFamily="34" charset="-120"/>
                        </a:rPr>
                        <a:t>100,000.00</a:t>
                      </a:r>
                      <a:endParaRPr lang="en-US" sz="1400" dirty="0">
                        <a:latin typeface="DM Sans" charset="0"/>
                        <a:ea typeface="DM Sans" charset="0"/>
                        <a:cs typeface="DM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1B2238"/>
                          </a:solidFill>
                          <a:latin typeface="DM Sans" pitchFamily="34" charset="0"/>
                          <a:ea typeface="DM Sans" pitchFamily="34" charset="-122"/>
                          <a:cs typeface="DM Sans" pitchFamily="34" charset="-120"/>
                        </a:rPr>
                        <a:t>VAT 12%</a:t>
                      </a:r>
                      <a:endParaRPr lang="en-US" sz="1400" dirty="0">
                        <a:latin typeface="DM Sans" charset="0"/>
                        <a:ea typeface="DM Sans" charset="0"/>
                        <a:cs typeface="DM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gn="r">
                        <a:lnSpc>
                          <a:spcPts val="1960"/>
                        </a:lnSpc>
                        <a:buNone/>
                      </a:pPr>
                      <a:r>
                        <a:rPr lang="en-US" sz="1400" dirty="0">
                          <a:solidFill>
                            <a:srgbClr val="1B2238"/>
                          </a:solidFill>
                          <a:latin typeface="DM Sans" pitchFamily="34" charset="0"/>
                          <a:ea typeface="DM Sans" pitchFamily="34" charset="-122"/>
                          <a:cs typeface="DM Sans" pitchFamily="34" charset="-120"/>
                        </a:rPr>
                        <a:t>12,000.00</a:t>
                      </a:r>
                      <a:endParaRPr lang="en-US" sz="1400" dirty="0">
                        <a:latin typeface="DM Sans" charset="0"/>
                        <a:ea typeface="DM Sans" charset="0"/>
                        <a:cs typeface="DM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1B2238"/>
                          </a:solidFill>
                          <a:latin typeface="DM Sans" pitchFamily="34" charset="0"/>
                          <a:ea typeface="DM Sans" pitchFamily="34" charset="-122"/>
                          <a:cs typeface="DM Sans" pitchFamily="34" charset="-120"/>
                        </a:rPr>
                        <a:t>Invoice total</a:t>
                      </a:r>
                      <a:endParaRPr lang="en-US" sz="1400" dirty="0">
                        <a:latin typeface="DM Sans" charset="0"/>
                        <a:ea typeface="DM Sans" charset="0"/>
                        <a:cs typeface="DM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gn="r">
                        <a:lnSpc>
                          <a:spcPts val="1960"/>
                        </a:lnSpc>
                        <a:buNone/>
                      </a:pPr>
                      <a:r>
                        <a:rPr lang="en-US" sz="1400" dirty="0">
                          <a:solidFill>
                            <a:srgbClr val="1B2238"/>
                          </a:solidFill>
                          <a:latin typeface="DM Sans" pitchFamily="34" charset="0"/>
                          <a:ea typeface="DM Sans" pitchFamily="34" charset="-122"/>
                          <a:cs typeface="DM Sans" pitchFamily="34" charset="-120"/>
                        </a:rPr>
                        <a:t>112,000.00</a:t>
                      </a:r>
                      <a:endParaRPr lang="en-US" sz="1400" dirty="0">
                        <a:latin typeface="DM Sans" charset="0"/>
                        <a:ea typeface="DM Sans" charset="0"/>
                        <a:cs typeface="DM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1B2238"/>
                          </a:solidFill>
                          <a:latin typeface="DM Sans" pitchFamily="34" charset="0"/>
                          <a:ea typeface="DM Sans" pitchFamily="34" charset="-122"/>
                          <a:cs typeface="DM Sans" pitchFamily="34" charset="-120"/>
                        </a:rPr>
                        <a:t>Less: EWT 2% (on gross)</a:t>
                      </a:r>
                      <a:endParaRPr lang="en-US" sz="1400" dirty="0">
                        <a:latin typeface="DM Sans" charset="0"/>
                        <a:ea typeface="DM Sans" charset="0"/>
                        <a:cs typeface="DM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gn="r">
                        <a:lnSpc>
                          <a:spcPts val="1960"/>
                        </a:lnSpc>
                        <a:buNone/>
                      </a:pPr>
                      <a:r>
                        <a:rPr lang="en-US" sz="1400" dirty="0">
                          <a:solidFill>
                            <a:srgbClr val="1B2238"/>
                          </a:solidFill>
                          <a:latin typeface="DM Sans" pitchFamily="34" charset="0"/>
                          <a:ea typeface="DM Sans" pitchFamily="34" charset="-122"/>
                          <a:cs typeface="DM Sans" pitchFamily="34" charset="-120"/>
                        </a:rPr>
                        <a:t>(2,000.00)</a:t>
                      </a:r>
                      <a:endParaRPr lang="en-US" sz="1400" dirty="0">
                        <a:latin typeface="DM Sans" charset="0"/>
                        <a:ea typeface="DM Sans" charset="0"/>
                        <a:cs typeface="DM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4"/>
                  </a:ext>
                </a:extLst>
              </a:tr>
              <a:tr h="383540">
                <a:tc>
                  <a:txBody>
                    <a:bodyPr/>
                    <a:lstStyle/>
                    <a:p>
                      <a:pPr marL="0" indent="0">
                        <a:lnSpc>
                          <a:spcPts val="1960"/>
                        </a:lnSpc>
                        <a:buNone/>
                      </a:pPr>
                      <a:r>
                        <a:rPr lang="en-US" sz="1400" dirty="0">
                          <a:solidFill>
                            <a:srgbClr val="1B2238"/>
                          </a:solidFill>
                          <a:latin typeface="DM Sans" pitchFamily="34" charset="0"/>
                          <a:ea typeface="DM Sans" pitchFamily="34" charset="-122"/>
                          <a:cs typeface="DM Sans" pitchFamily="34" charset="-120"/>
                        </a:rPr>
                        <a:t>Net collectible</a:t>
                      </a:r>
                      <a:endParaRPr lang="en-US" sz="1400" dirty="0">
                        <a:latin typeface="DM Sans" charset="0"/>
                        <a:ea typeface="DM Sans" charset="0"/>
                        <a:cs typeface="DM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BFBBC3"/>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BC3"/>
                      </a:solidFill>
                      <a:prstDash val="solid"/>
                      <a:round/>
                      <a:headEnd type="none" w="med" len="med"/>
                      <a:tailEnd type="none" w="med" len="med"/>
                    </a:lnB>
                    <a:solidFill>
                      <a:srgbClr val="EFEAF5"/>
                    </a:solidFill>
                  </a:tcPr>
                </a:tc>
                <a:tc>
                  <a:txBody>
                    <a:bodyPr/>
                    <a:lstStyle/>
                    <a:p>
                      <a:pPr marL="0" indent="0" algn="r">
                        <a:lnSpc>
                          <a:spcPts val="1960"/>
                        </a:lnSpc>
                        <a:buNone/>
                      </a:pPr>
                      <a:r>
                        <a:rPr lang="en-US" sz="1400" dirty="0">
                          <a:solidFill>
                            <a:srgbClr val="1B2238"/>
                          </a:solidFill>
                          <a:latin typeface="DM Sans" pitchFamily="34" charset="0"/>
                          <a:ea typeface="DM Sans" pitchFamily="34" charset="-122"/>
                          <a:cs typeface="DM Sans" pitchFamily="34" charset="-120"/>
                        </a:rPr>
                        <a:t>110,000.00</a:t>
                      </a:r>
                      <a:endParaRPr lang="en-US" sz="1400" dirty="0">
                        <a:latin typeface="DM Sans" charset="0"/>
                        <a:ea typeface="DM Sans" charset="0"/>
                        <a:cs typeface="DM Sans" charset="0"/>
                      </a:endParaRPr>
                    </a:p>
                  </a:txBody>
                  <a:tcPr marL="62230" marR="62230" marT="62230" marB="62230">
                    <a:lnL w="12700" cap="flat" cmpd="sng" algn="ctr">
                      <a:solidFill>
                        <a:srgbClr val="BFBBC3"/>
                      </a:solidFill>
                      <a:prstDash val="solid"/>
                      <a:round/>
                      <a:headEnd type="none" w="med" len="med"/>
                      <a:tailEnd type="none" w="med" len="med"/>
                    </a:lnL>
                    <a:lnR w="12700" cap="flat" cmpd="sng" algn="ctr">
                      <a:solidFill>
                        <a:srgbClr val="BFBBC3"/>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BC3"/>
                      </a:solidFill>
                      <a:prstDash val="solid"/>
                      <a:round/>
                      <a:headEnd type="none" w="med" len="med"/>
                      <a:tailEnd type="none" w="med" len="med"/>
                    </a:lnB>
                    <a:solidFill>
                      <a:srgbClr val="EFEAF5"/>
                    </a:solidFill>
                  </a:tcPr>
                </a:tc>
                <a:extLst>
                  <a:ext uri="{0D108BD9-81ED-4DB2-BD59-A6C34878D82A}">
                    <a16:rowId xmlns:a16="http://schemas.microsoft.com/office/drawing/2014/main" val="10005"/>
                  </a:ext>
                </a:extLst>
              </a:tr>
            </a:tbl>
          </a:graphicData>
        </a:graphic>
      </p:graphicFrame>
      <p:sp>
        <p:nvSpPr>
          <p:cNvPr id="10" name="Text 7"/>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DM Sans" pitchFamily="34" charset="0"/>
                <a:ea typeface="DM Sans" pitchFamily="34" charset="-122"/>
                <a:cs typeface="DM Sans" pitchFamily="34" charset="-120"/>
              </a:rPr>
              <a:t>G-CORE Training · Project Management · Progress &amp; Billing tab</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B2238"/>
        </a:solidFill>
        <a:effectLst/>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9A6EE"/>
                </a:solidFill>
                <a:latin typeface="DM Sans" pitchFamily="34" charset="0"/>
                <a:ea typeface="DM Sans" pitchFamily="34" charset="-122"/>
                <a:cs typeface="DM Sans" pitchFamily="34" charset="-120"/>
              </a:rPr>
              <a:t>ON SCREEN · PROJECT MANAGEMENT</a:t>
            </a:r>
            <a:endParaRPr lang="en-US" sz="1200" dirty="0"/>
          </a:p>
        </p:txBody>
      </p:sp>
      <p:sp>
        <p:nvSpPr>
          <p:cNvPr id="3" name="Text 1"/>
          <p:cNvSpPr>
            <a:spLocks noGrp="1"/>
          </p:cNvSpPr>
          <p:nvPr>
            <p:ph type="title"/>
          </p:nvPr>
        </p:nvSpPr>
        <p:spPr>
          <a:xfrm>
            <a:off x="609600" y="746758"/>
            <a:ext cx="11301984"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F7F5F0"/>
                </a:solidFill>
                <a:latin typeface="Domine" pitchFamily="18" charset="0"/>
                <a:ea typeface="Domine" pitchFamily="18" charset="-122"/>
                <a:cs typeface="Domine" pitchFamily="18" charset="-120"/>
              </a:rPr>
              <a:t>Budget Monitoring</a:t>
            </a:r>
            <a:endParaRPr lang="en-US" sz="2400" dirty="0"/>
          </a:p>
        </p:txBody>
      </p:sp>
      <p:sp>
        <p:nvSpPr>
          <p:cNvPr id="4" name="Shape 2"/>
          <p:cNvSpPr/>
          <p:nvPr/>
        </p:nvSpPr>
        <p:spPr>
          <a:xfrm>
            <a:off x="609600" y="1173485"/>
            <a:ext cx="8001000" cy="4502150"/>
          </a:xfrm>
          <a:prstGeom prst="roundRect">
            <a:avLst>
              <a:gd name="adj" fmla="val 1693"/>
            </a:avLst>
          </a:prstGeom>
          <a:solidFill>
            <a:srgbClr val="F7F5F0"/>
          </a:solidFill>
          <a:ln/>
        </p:spPr>
      </p:sp>
      <p:pic>
        <p:nvPicPr>
          <p:cNvPr id="5" name="Image 0" descr="G-CORE screen: Budget Monitoring"/>
          <p:cNvPicPr>
            <a:picLocks noChangeAspect="1"/>
          </p:cNvPicPr>
          <p:nvPr/>
        </p:nvPicPr>
        <p:blipFill>
          <a:blip r:embed="rId3"/>
          <a:srcRect l="-106" r="-106"/>
          <a:stretch/>
        </p:blipFill>
        <p:spPr>
          <a:xfrm>
            <a:off x="622300" y="1186185"/>
            <a:ext cx="7975600" cy="4476750"/>
          </a:xfrm>
          <a:prstGeom prst="roundRect">
            <a:avLst>
              <a:gd name="adj" fmla="val 1418"/>
            </a:avLst>
          </a:prstGeom>
        </p:spPr>
      </p:pic>
      <p:sp>
        <p:nvSpPr>
          <p:cNvPr id="6" name="Shape 3"/>
          <p:cNvSpPr/>
          <p:nvPr/>
        </p:nvSpPr>
        <p:spPr>
          <a:xfrm>
            <a:off x="615950" y="1179835"/>
            <a:ext cx="7988300" cy="4489450"/>
          </a:xfrm>
          <a:prstGeom prst="roundRect">
            <a:avLst>
              <a:gd name="adj" fmla="val 1556"/>
            </a:avLst>
          </a:prstGeom>
          <a:noFill/>
          <a:ln w="12700">
            <a:solidFill>
              <a:srgbClr val="3A4466"/>
            </a:solidFill>
            <a:prstDash val="solid"/>
          </a:ln>
        </p:spPr>
      </p:sp>
      <p:sp>
        <p:nvSpPr>
          <p:cNvPr id="7" name="Text 4"/>
          <p:cNvSpPr/>
          <p:nvPr/>
        </p:nvSpPr>
        <p:spPr>
          <a:xfrm>
            <a:off x="8864600" y="1275085"/>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C9A6E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1</a:t>
            </a:r>
            <a:endParaRPr lang="en-US" sz="1300" dirty="0"/>
          </a:p>
        </p:txBody>
      </p:sp>
      <p:sp>
        <p:nvSpPr>
          <p:cNvPr id="8" name="Text 5"/>
          <p:cNvSpPr/>
          <p:nvPr/>
        </p:nvSpPr>
        <p:spPr>
          <a:xfrm>
            <a:off x="9283700" y="1275085"/>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Budget by category from the costing.</a:t>
            </a:r>
            <a:endParaRPr lang="en-US" sz="1400" dirty="0"/>
          </a:p>
        </p:txBody>
      </p:sp>
      <p:sp>
        <p:nvSpPr>
          <p:cNvPr id="9" name="Text 6"/>
          <p:cNvSpPr/>
          <p:nvPr/>
        </p:nvSpPr>
        <p:spPr>
          <a:xfrm>
            <a:off x="8864600" y="1976127"/>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C9A6E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2</a:t>
            </a:r>
            <a:endParaRPr lang="en-US" sz="1300" dirty="0"/>
          </a:p>
        </p:txBody>
      </p:sp>
      <p:sp>
        <p:nvSpPr>
          <p:cNvPr id="10" name="Text 7"/>
          <p:cNvSpPr/>
          <p:nvPr/>
        </p:nvSpPr>
        <p:spPr>
          <a:xfrm>
            <a:off x="9283700" y="1976127"/>
            <a:ext cx="2367661"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Committed (PR/PO) and incurred (receipts, liquidations).</a:t>
            </a:r>
            <a:endParaRPr lang="en-US" sz="1400" dirty="0"/>
          </a:p>
        </p:txBody>
      </p:sp>
      <p:sp>
        <p:nvSpPr>
          <p:cNvPr id="11" name="Text 8"/>
          <p:cNvSpPr/>
          <p:nvPr/>
        </p:nvSpPr>
        <p:spPr>
          <a:xfrm>
            <a:off x="8864600" y="2926085"/>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C9A6E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3</a:t>
            </a:r>
            <a:endParaRPr lang="en-US" sz="1300" dirty="0"/>
          </a:p>
        </p:txBody>
      </p:sp>
      <p:sp>
        <p:nvSpPr>
          <p:cNvPr id="12" name="Text 9"/>
          <p:cNvSpPr/>
          <p:nvPr/>
        </p:nvSpPr>
        <p:spPr>
          <a:xfrm>
            <a:off x="9283700" y="2926085"/>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Available = budget − committed − incurred.</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5B2A8C"/>
        </a:solidFill>
        <a:effectLst/>
      </p:bgPr>
    </p:bg>
    <p:spTree>
      <p:nvGrpSpPr>
        <p:cNvPr id="1" name=""/>
        <p:cNvGrpSpPr/>
        <p:nvPr/>
      </p:nvGrpSpPr>
      <p:grpSpPr>
        <a:xfrm>
          <a:off x="0" y="0"/>
          <a:ext cx="0" cy="0"/>
          <a:chOff x="0" y="0"/>
          <a:chExt cx="0" cy="0"/>
        </a:xfrm>
      </p:grpSpPr>
      <p:sp>
        <p:nvSpPr>
          <p:cNvPr id="2" name="Text 0"/>
          <p:cNvSpPr/>
          <p:nvPr/>
        </p:nvSpPr>
        <p:spPr>
          <a:xfrm>
            <a:off x="812800" y="2584686"/>
            <a:ext cx="10883392" cy="274320"/>
          </a:xfrm>
          <a:prstGeom prst="rect">
            <a:avLst/>
          </a:prstGeom>
          <a:noFill/>
          <a:ln/>
        </p:spPr>
        <p:txBody>
          <a:bodyPr wrap="square" lIns="0" tIns="0" rIns="0" bIns="0" rtlCol="0" anchor="t">
            <a:normAutofit/>
          </a:bodyPr>
          <a:lstStyle/>
          <a:p>
            <a:pPr marL="0" indent="0" algn="l">
              <a:lnSpc>
                <a:spcPts val="1960"/>
              </a:lnSpc>
              <a:buNone/>
            </a:pPr>
            <a:r>
              <a:rPr lang="en-US" sz="1400" kern="0" spc="200" dirty="0">
                <a:solidFill>
                  <a:srgbClr val="E4D6F2"/>
                </a:solidFill>
                <a:latin typeface="DM Sans" pitchFamily="34" charset="0"/>
                <a:ea typeface="DM Sans" pitchFamily="34" charset="-122"/>
                <a:cs typeface="DM Sans" pitchFamily="34" charset="-120"/>
              </a:rPr>
              <a:t>PART 3 · 15 MINUTES · 10:20</a:t>
            </a:r>
            <a:endParaRPr lang="en-US" sz="1400" dirty="0"/>
          </a:p>
        </p:txBody>
      </p:sp>
      <p:sp>
        <p:nvSpPr>
          <p:cNvPr id="3" name="Text 1"/>
          <p:cNvSpPr>
            <a:spLocks noGrp="1"/>
          </p:cNvSpPr>
          <p:nvPr>
            <p:ph type="title"/>
          </p:nvPr>
        </p:nvSpPr>
        <p:spPr>
          <a:xfrm>
            <a:off x="812800" y="3036813"/>
            <a:ext cx="10883392" cy="738584"/>
          </a:xfrm>
          <a:prstGeom prst="rect">
            <a:avLst/>
          </a:prstGeom>
          <a:noFill/>
          <a:ln/>
        </p:spPr>
        <p:txBody>
          <a:bodyPr wrap="square" lIns="0" tIns="0" rIns="0" bIns="0" rtlCol="0" anchor="t">
            <a:normAutofit/>
          </a:bodyPr>
          <a:lstStyle/>
          <a:p>
            <a:pPr marL="0" indent="0" algn="l">
              <a:lnSpc>
                <a:spcPts val="5616"/>
              </a:lnSpc>
              <a:buNone/>
            </a:pPr>
            <a:r>
              <a:rPr lang="en-US" sz="5200" b="1" i="0" dirty="0">
                <a:solidFill>
                  <a:srgbClr val="F7F5F0"/>
                </a:solidFill>
                <a:latin typeface="Domine" pitchFamily="18" charset="0"/>
                <a:ea typeface="Domine" pitchFamily="18" charset="-122"/>
                <a:cs typeface="Domine" pitchFamily="18" charset="-120"/>
              </a:rPr>
              <a:t>Meetings &amp; minutes</a:t>
            </a:r>
            <a:endParaRPr lang="en-US" sz="5200" dirty="0"/>
          </a:p>
        </p:txBody>
      </p:sp>
      <p:sp>
        <p:nvSpPr>
          <p:cNvPr id="4" name="Text 2"/>
          <p:cNvSpPr/>
          <p:nvPr/>
        </p:nvSpPr>
        <p:spPr>
          <a:xfrm>
            <a:off x="812800" y="3953197"/>
            <a:ext cx="9156700" cy="34544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E4D6F2"/>
                </a:solidFill>
                <a:latin typeface="DM Sans" pitchFamily="34" charset="0"/>
                <a:ea typeface="DM Sans" pitchFamily="34" charset="-122"/>
                <a:cs typeface="DM Sans" pitchFamily="34" charset="-120"/>
              </a:rPr>
              <a:t>G-HR › Meetings — so anyone can trace back what was agreed on a project.</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B2A8C"/>
                </a:solidFill>
                <a:latin typeface="DM Sans" pitchFamily="34" charset="0"/>
                <a:ea typeface="DM Sans" pitchFamily="34" charset="-122"/>
                <a:cs typeface="DM Sans" pitchFamily="34" charset="-120"/>
              </a:rPr>
              <a:t>MEETINGS</a:t>
            </a:r>
            <a:endParaRPr lang="en-US" sz="1200" dirty="0"/>
          </a:p>
        </p:txBody>
      </p:sp>
      <p:sp>
        <p:nvSpPr>
          <p:cNvPr id="3" name="Text 1"/>
          <p:cNvSpPr>
            <a:spLocks noGrp="1"/>
          </p:cNvSpPr>
          <p:nvPr>
            <p:ph type="title"/>
          </p:nvPr>
        </p:nvSpPr>
        <p:spPr>
          <a:xfrm>
            <a:off x="812800" y="1127758"/>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B2238"/>
                </a:solidFill>
                <a:latin typeface="Domine" pitchFamily="18" charset="0"/>
                <a:ea typeface="Domine" pitchFamily="18" charset="-122"/>
                <a:cs typeface="Domine" pitchFamily="18" charset="-120"/>
              </a:rPr>
              <a:t>Book it, link it, invite people</a:t>
            </a:r>
            <a:endParaRPr lang="en-US" sz="3000" dirty="0"/>
          </a:p>
        </p:txBody>
      </p:sp>
      <p:sp>
        <p:nvSpPr>
          <p:cNvPr id="4" name="Shape 2"/>
          <p:cNvSpPr/>
          <p:nvPr/>
        </p:nvSpPr>
        <p:spPr>
          <a:xfrm>
            <a:off x="815975" y="1772283"/>
            <a:ext cx="5200650" cy="1145540"/>
          </a:xfrm>
          <a:prstGeom prst="roundRect">
            <a:avLst>
              <a:gd name="adj" fmla="val 8592"/>
            </a:avLst>
          </a:prstGeom>
          <a:solidFill>
            <a:srgbClr val="FFFDF8"/>
          </a:solidFill>
          <a:ln w="6350">
            <a:solidFill>
              <a:srgbClr val="E4DFD3"/>
            </a:solidFill>
            <a:prstDash val="solid"/>
          </a:ln>
        </p:spPr>
      </p:sp>
      <p:sp>
        <p:nvSpPr>
          <p:cNvPr id="5" name="Text 3"/>
          <p:cNvSpPr/>
          <p:nvPr/>
        </p:nvSpPr>
        <p:spPr>
          <a:xfrm>
            <a:off x="995680" y="1951992"/>
            <a:ext cx="498647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238"/>
                </a:solidFill>
                <a:latin typeface="DM Sans" pitchFamily="34" charset="0"/>
                <a:ea typeface="DM Sans" pitchFamily="34" charset="-122"/>
                <a:cs typeface="DM Sans" pitchFamily="34" charset="-120"/>
              </a:rPr>
              <a:t>+ New meeting</a:t>
            </a:r>
            <a:endParaRPr lang="en-US" sz="1600" dirty="0"/>
          </a:p>
        </p:txBody>
      </p:sp>
      <p:sp>
        <p:nvSpPr>
          <p:cNvPr id="6" name="Text 4"/>
          <p:cNvSpPr/>
          <p:nvPr/>
        </p:nvSpPr>
        <p:spPr>
          <a:xfrm>
            <a:off x="995680" y="2259335"/>
            <a:ext cx="4986477" cy="50419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160"/>
                </a:solidFill>
                <a:latin typeface="DM Sans" pitchFamily="34" charset="0"/>
                <a:ea typeface="DM Sans" pitchFamily="34" charset="-122"/>
                <a:cs typeface="DM Sans" pitchFamily="34" charset="-120"/>
              </a:rPr>
              <a:t>Title, agenda, start and end, where — or a Google Meet link — and a </a:t>
            </a:r>
            <a:r>
              <a:rPr lang="en-US" sz="1300" b="1" dirty="0">
                <a:solidFill>
                  <a:srgbClr val="4A5160"/>
                </a:solidFill>
                <a:latin typeface="DM Sans" pitchFamily="34" charset="0"/>
                <a:ea typeface="DM Sans" pitchFamily="34" charset="-122"/>
                <a:cs typeface="DM Sans" pitchFamily="34" charset="-120"/>
              </a:rPr>
              <a:t>Google Maps link</a:t>
            </a:r>
            <a:r>
              <a:rPr lang="en-US" sz="1300" dirty="0">
                <a:solidFill>
                  <a:srgbClr val="4A5160"/>
                </a:solidFill>
                <a:latin typeface="DM Sans" pitchFamily="34" charset="0"/>
                <a:ea typeface="DM Sans" pitchFamily="34" charset="-122"/>
                <a:cs typeface="DM Sans" pitchFamily="34" charset="-120"/>
              </a:rPr>
              <a:t> for the site.</a:t>
            </a:r>
            <a:endParaRPr lang="en-US" sz="1300" dirty="0"/>
          </a:p>
        </p:txBody>
      </p:sp>
      <p:sp>
        <p:nvSpPr>
          <p:cNvPr id="7" name="Shape 5"/>
          <p:cNvSpPr/>
          <p:nvPr/>
        </p:nvSpPr>
        <p:spPr>
          <a:xfrm>
            <a:off x="6175375" y="1772283"/>
            <a:ext cx="5200650" cy="1145540"/>
          </a:xfrm>
          <a:prstGeom prst="roundRect">
            <a:avLst>
              <a:gd name="adj" fmla="val 8592"/>
            </a:avLst>
          </a:prstGeom>
          <a:solidFill>
            <a:srgbClr val="FFFDF8"/>
          </a:solidFill>
          <a:ln w="6350">
            <a:solidFill>
              <a:srgbClr val="E4DFD3"/>
            </a:solidFill>
            <a:prstDash val="solid"/>
          </a:ln>
        </p:spPr>
      </p:sp>
      <p:sp>
        <p:nvSpPr>
          <p:cNvPr id="8" name="Text 6"/>
          <p:cNvSpPr/>
          <p:nvPr/>
        </p:nvSpPr>
        <p:spPr>
          <a:xfrm>
            <a:off x="6355080" y="1951992"/>
            <a:ext cx="498647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238"/>
                </a:solidFill>
                <a:latin typeface="DM Sans" pitchFamily="34" charset="0"/>
                <a:ea typeface="DM Sans" pitchFamily="34" charset="-122"/>
                <a:cs typeface="DM Sans" pitchFamily="34" charset="-120"/>
              </a:rPr>
              <a:t>For project</a:t>
            </a:r>
            <a:endParaRPr lang="en-US" sz="1600" dirty="0"/>
          </a:p>
        </p:txBody>
      </p:sp>
      <p:sp>
        <p:nvSpPr>
          <p:cNvPr id="9" name="Text 7"/>
          <p:cNvSpPr/>
          <p:nvPr/>
        </p:nvSpPr>
        <p:spPr>
          <a:xfrm>
            <a:off x="6355080" y="2259335"/>
            <a:ext cx="4986477" cy="50419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160"/>
                </a:solidFill>
                <a:latin typeface="DM Sans" pitchFamily="34" charset="0"/>
                <a:ea typeface="DM Sans" pitchFamily="34" charset="-122"/>
                <a:cs typeface="DM Sans" pitchFamily="34" charset="-120"/>
              </a:rPr>
              <a:t>Pick the project, or start from its </a:t>
            </a:r>
            <a:r>
              <a:rPr lang="en-US" sz="1300" b="1" dirty="0">
                <a:solidFill>
                  <a:srgbClr val="4A5160"/>
                </a:solidFill>
                <a:latin typeface="DM Sans" pitchFamily="34" charset="0"/>
                <a:ea typeface="DM Sans" pitchFamily="34" charset="-122"/>
                <a:cs typeface="DM Sans" pitchFamily="34" charset="-120"/>
              </a:rPr>
              <a:t>Meetings &amp; Records</a:t>
            </a:r>
            <a:r>
              <a:rPr lang="en-US" sz="1300" dirty="0">
                <a:solidFill>
                  <a:srgbClr val="4A5160"/>
                </a:solidFill>
                <a:latin typeface="DM Sans" pitchFamily="34" charset="0"/>
                <a:ea typeface="DM Sans" pitchFamily="34" charset="-122"/>
                <a:cs typeface="DM Sans" pitchFamily="34" charset="-120"/>
              </a:rPr>
              <a:t> tab. It then lists there with a Minutes column.</a:t>
            </a:r>
            <a:endParaRPr lang="en-US" sz="1300" dirty="0"/>
          </a:p>
        </p:txBody>
      </p:sp>
      <p:sp>
        <p:nvSpPr>
          <p:cNvPr id="10" name="Shape 8"/>
          <p:cNvSpPr/>
          <p:nvPr/>
        </p:nvSpPr>
        <p:spPr>
          <a:xfrm>
            <a:off x="815975" y="3076575"/>
            <a:ext cx="5200650" cy="1384935"/>
          </a:xfrm>
          <a:prstGeom prst="roundRect">
            <a:avLst>
              <a:gd name="adj" fmla="val 7107"/>
            </a:avLst>
          </a:prstGeom>
          <a:solidFill>
            <a:srgbClr val="FFFDF8"/>
          </a:solidFill>
          <a:ln w="6350">
            <a:solidFill>
              <a:srgbClr val="E4DFD3"/>
            </a:solidFill>
            <a:prstDash val="solid"/>
          </a:ln>
        </p:spPr>
      </p:sp>
      <p:sp>
        <p:nvSpPr>
          <p:cNvPr id="11" name="Text 9"/>
          <p:cNvSpPr/>
          <p:nvPr/>
        </p:nvSpPr>
        <p:spPr>
          <a:xfrm>
            <a:off x="995680" y="3256285"/>
            <a:ext cx="498647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238"/>
                </a:solidFill>
                <a:latin typeface="DM Sans" pitchFamily="34" charset="0"/>
                <a:ea typeface="DM Sans" pitchFamily="34" charset="-122"/>
                <a:cs typeface="DM Sans" pitchFamily="34" charset="-120"/>
              </a:rPr>
              <a:t>Send invitations</a:t>
            </a:r>
            <a:endParaRPr lang="en-US" sz="1600" dirty="0"/>
          </a:p>
        </p:txBody>
      </p:sp>
      <p:sp>
        <p:nvSpPr>
          <p:cNvPr id="12" name="Text 10"/>
          <p:cNvSpPr/>
          <p:nvPr/>
        </p:nvSpPr>
        <p:spPr>
          <a:xfrm>
            <a:off x="995680" y="3563627"/>
            <a:ext cx="4986477" cy="743585"/>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160"/>
                </a:solidFill>
                <a:latin typeface="DM Sans" pitchFamily="34" charset="0"/>
                <a:ea typeface="DM Sans" pitchFamily="34" charset="-122"/>
                <a:cs typeface="DM Sans" pitchFamily="34" charset="-120"/>
              </a:rPr>
              <a:t>Saving does not invite anyone. </a:t>
            </a:r>
            <a:r>
              <a:rPr lang="en-US" sz="1300" b="1" dirty="0">
                <a:solidFill>
                  <a:srgbClr val="4A5160"/>
                </a:solidFill>
                <a:latin typeface="DM Sans" pitchFamily="34" charset="0"/>
                <a:ea typeface="DM Sans" pitchFamily="34" charset="-122"/>
                <a:cs typeface="DM Sans" pitchFamily="34" charset="-120"/>
              </a:rPr>
              <a:t>Send invitations</a:t>
            </a:r>
            <a:r>
              <a:rPr lang="en-US" sz="1300" dirty="0">
                <a:solidFill>
                  <a:srgbClr val="4A5160"/>
                </a:solidFill>
                <a:latin typeface="DM Sans" pitchFamily="34" charset="0"/>
                <a:ea typeface="DM Sans" pitchFamily="34" charset="-122"/>
                <a:cs typeface="DM Sans" pitchFamily="34" charset="-120"/>
              </a:rPr>
              <a:t> tells each invitee, with a calendar file; they answer Going, Maybe or Not going.</a:t>
            </a:r>
            <a:endParaRPr lang="en-US" sz="1300" dirty="0"/>
          </a:p>
        </p:txBody>
      </p:sp>
      <p:sp>
        <p:nvSpPr>
          <p:cNvPr id="13" name="Shape 11"/>
          <p:cNvSpPr/>
          <p:nvPr/>
        </p:nvSpPr>
        <p:spPr>
          <a:xfrm>
            <a:off x="6175375" y="3076575"/>
            <a:ext cx="5200650" cy="1384935"/>
          </a:xfrm>
          <a:prstGeom prst="roundRect">
            <a:avLst>
              <a:gd name="adj" fmla="val 7107"/>
            </a:avLst>
          </a:prstGeom>
          <a:solidFill>
            <a:srgbClr val="FFFDF8"/>
          </a:solidFill>
          <a:ln w="6350">
            <a:solidFill>
              <a:srgbClr val="E4DFD3"/>
            </a:solidFill>
            <a:prstDash val="solid"/>
          </a:ln>
        </p:spPr>
      </p:sp>
      <p:sp>
        <p:nvSpPr>
          <p:cNvPr id="14" name="Text 12"/>
          <p:cNvSpPr/>
          <p:nvPr/>
        </p:nvSpPr>
        <p:spPr>
          <a:xfrm>
            <a:off x="6355080" y="3256285"/>
            <a:ext cx="498647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238"/>
                </a:solidFill>
                <a:latin typeface="DM Sans" pitchFamily="34" charset="0"/>
                <a:ea typeface="DM Sans" pitchFamily="34" charset="-122"/>
                <a:cs typeface="DM Sans" pitchFamily="34" charset="-120"/>
              </a:rPr>
              <a:t>Change or cancel</a:t>
            </a:r>
            <a:endParaRPr lang="en-US" sz="1600" dirty="0"/>
          </a:p>
        </p:txBody>
      </p:sp>
      <p:sp>
        <p:nvSpPr>
          <p:cNvPr id="15" name="Text 13"/>
          <p:cNvSpPr/>
          <p:nvPr/>
        </p:nvSpPr>
        <p:spPr>
          <a:xfrm>
            <a:off x="6355080" y="3563627"/>
            <a:ext cx="4986477" cy="50419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160"/>
                </a:solidFill>
                <a:latin typeface="DM Sans" pitchFamily="34" charset="0"/>
                <a:ea typeface="DM Sans" pitchFamily="34" charset="-122"/>
                <a:cs typeface="DM Sans" pitchFamily="34" charset="-120"/>
              </a:rPr>
              <a:t>A new time tells everyone already invited. Once invitations went out it is cancelled with a reason, never deleted.</a:t>
            </a:r>
            <a:endParaRPr lang="en-US" sz="1300" dirty="0"/>
          </a:p>
        </p:txBody>
      </p:sp>
      <p:sp>
        <p:nvSpPr>
          <p:cNvPr id="16" name="Text 14"/>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DM Sans" pitchFamily="34" charset="0"/>
                <a:ea typeface="DM Sans" pitchFamily="34" charset="-122"/>
                <a:cs typeface="DM Sans" pitchFamily="34" charset="-120"/>
              </a:rPr>
              <a:t>G-CORE Training · Meetings · G-HR › Meetings</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B2238"/>
        </a:solidFill>
        <a:effectLst/>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9A6EE"/>
                </a:solidFill>
                <a:latin typeface="DM Sans" pitchFamily="34" charset="0"/>
                <a:ea typeface="DM Sans" pitchFamily="34" charset="-122"/>
                <a:cs typeface="DM Sans" pitchFamily="34" charset="-120"/>
              </a:rPr>
              <a:t>ON SCREEN · MEETINGS</a:t>
            </a:r>
            <a:endParaRPr lang="en-US" sz="1200" dirty="0"/>
          </a:p>
        </p:txBody>
      </p:sp>
      <p:sp>
        <p:nvSpPr>
          <p:cNvPr id="3" name="Text 1"/>
          <p:cNvSpPr>
            <a:spLocks noGrp="1"/>
          </p:cNvSpPr>
          <p:nvPr>
            <p:ph type="title"/>
          </p:nvPr>
        </p:nvSpPr>
        <p:spPr>
          <a:xfrm>
            <a:off x="609600" y="746758"/>
            <a:ext cx="11301984"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F7F5F0"/>
                </a:solidFill>
                <a:latin typeface="Domine" pitchFamily="18" charset="0"/>
                <a:ea typeface="Domine" pitchFamily="18" charset="-122"/>
                <a:cs typeface="Domine" pitchFamily="18" charset="-120"/>
              </a:rPr>
              <a:t>A meeting page</a:t>
            </a:r>
            <a:endParaRPr lang="en-US" sz="2400" dirty="0"/>
          </a:p>
        </p:txBody>
      </p:sp>
      <p:sp>
        <p:nvSpPr>
          <p:cNvPr id="4" name="Shape 2"/>
          <p:cNvSpPr/>
          <p:nvPr/>
        </p:nvSpPr>
        <p:spPr>
          <a:xfrm>
            <a:off x="609600" y="1173485"/>
            <a:ext cx="8001000" cy="4502150"/>
          </a:xfrm>
          <a:prstGeom prst="roundRect">
            <a:avLst>
              <a:gd name="adj" fmla="val 1693"/>
            </a:avLst>
          </a:prstGeom>
          <a:solidFill>
            <a:srgbClr val="F7F5F0"/>
          </a:solidFill>
          <a:ln/>
        </p:spPr>
      </p:sp>
      <p:pic>
        <p:nvPicPr>
          <p:cNvPr id="5" name="Image 0" descr="G-CORE screen: A meeting page"/>
          <p:cNvPicPr>
            <a:picLocks noChangeAspect="1"/>
          </p:cNvPicPr>
          <p:nvPr/>
        </p:nvPicPr>
        <p:blipFill>
          <a:blip r:embed="rId3"/>
          <a:srcRect l="-106" r="-106"/>
          <a:stretch/>
        </p:blipFill>
        <p:spPr>
          <a:xfrm>
            <a:off x="622300" y="1186185"/>
            <a:ext cx="7975600" cy="4476750"/>
          </a:xfrm>
          <a:prstGeom prst="roundRect">
            <a:avLst>
              <a:gd name="adj" fmla="val 1418"/>
            </a:avLst>
          </a:prstGeom>
        </p:spPr>
      </p:pic>
      <p:sp>
        <p:nvSpPr>
          <p:cNvPr id="6" name="Shape 3"/>
          <p:cNvSpPr/>
          <p:nvPr/>
        </p:nvSpPr>
        <p:spPr>
          <a:xfrm>
            <a:off x="615950" y="1179835"/>
            <a:ext cx="7988300" cy="4489450"/>
          </a:xfrm>
          <a:prstGeom prst="roundRect">
            <a:avLst>
              <a:gd name="adj" fmla="val 1556"/>
            </a:avLst>
          </a:prstGeom>
          <a:noFill/>
          <a:ln w="12700">
            <a:solidFill>
              <a:srgbClr val="3A4466"/>
            </a:solidFill>
            <a:prstDash val="solid"/>
          </a:ln>
        </p:spPr>
      </p:sp>
      <p:sp>
        <p:nvSpPr>
          <p:cNvPr id="7" name="Text 4"/>
          <p:cNvSpPr/>
          <p:nvPr/>
        </p:nvSpPr>
        <p:spPr>
          <a:xfrm>
            <a:off x="8864600" y="1275085"/>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C9A6E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1</a:t>
            </a:r>
            <a:endParaRPr lang="en-US" sz="1300" dirty="0"/>
          </a:p>
        </p:txBody>
      </p:sp>
      <p:sp>
        <p:nvSpPr>
          <p:cNvPr id="8" name="Text 5"/>
          <p:cNvSpPr/>
          <p:nvPr/>
        </p:nvSpPr>
        <p:spPr>
          <a:xfrm>
            <a:off x="9283700" y="1275085"/>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Who is going: Accepted, Declined, waiting.</a:t>
            </a:r>
            <a:endParaRPr lang="en-US" sz="1400" dirty="0"/>
          </a:p>
        </p:txBody>
      </p:sp>
      <p:sp>
        <p:nvSpPr>
          <p:cNvPr id="9" name="Text 6"/>
          <p:cNvSpPr/>
          <p:nvPr/>
        </p:nvSpPr>
        <p:spPr>
          <a:xfrm>
            <a:off x="8864600" y="1976127"/>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C9A6E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2</a:t>
            </a:r>
            <a:endParaRPr lang="en-US" sz="1300" dirty="0"/>
          </a:p>
        </p:txBody>
      </p:sp>
      <p:sp>
        <p:nvSpPr>
          <p:cNvPr id="10" name="Text 7"/>
          <p:cNvSpPr/>
          <p:nvPr/>
        </p:nvSpPr>
        <p:spPr>
          <a:xfrm>
            <a:off x="9283700" y="1976127"/>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Google Meet link and the map link.</a:t>
            </a:r>
            <a:endParaRPr lang="en-US" sz="1400" dirty="0"/>
          </a:p>
        </p:txBody>
      </p:sp>
      <p:sp>
        <p:nvSpPr>
          <p:cNvPr id="11" name="Text 8"/>
          <p:cNvSpPr/>
          <p:nvPr/>
        </p:nvSpPr>
        <p:spPr>
          <a:xfrm>
            <a:off x="8864600" y="2677158"/>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C9A6E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3</a:t>
            </a:r>
            <a:endParaRPr lang="en-US" sz="1300" dirty="0"/>
          </a:p>
        </p:txBody>
      </p:sp>
      <p:sp>
        <p:nvSpPr>
          <p:cNvPr id="12" name="Text 9"/>
          <p:cNvSpPr/>
          <p:nvPr/>
        </p:nvSpPr>
        <p:spPr>
          <a:xfrm>
            <a:off x="9283700" y="2677158"/>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Agenda, then Minutes of meeting.</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B2A8C"/>
                </a:solidFill>
                <a:latin typeface="DM Sans" pitchFamily="34" charset="0"/>
                <a:ea typeface="DM Sans" pitchFamily="34" charset="-122"/>
                <a:cs typeface="DM Sans" pitchFamily="34" charset="-120"/>
              </a:rPr>
              <a:t>MINUTES OF MEETING</a:t>
            </a:r>
            <a:endParaRPr lang="en-US" sz="1200" dirty="0"/>
          </a:p>
        </p:txBody>
      </p:sp>
      <p:sp>
        <p:nvSpPr>
          <p:cNvPr id="3" name="Text 1"/>
          <p:cNvSpPr>
            <a:spLocks noGrp="1"/>
          </p:cNvSpPr>
          <p:nvPr>
            <p:ph type="title"/>
          </p:nvPr>
        </p:nvSpPr>
        <p:spPr>
          <a:xfrm>
            <a:off x="812800" y="1127758"/>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B2238"/>
                </a:solidFill>
                <a:latin typeface="Domine" pitchFamily="18" charset="0"/>
                <a:ea typeface="Domine" pitchFamily="18" charset="-122"/>
                <a:cs typeface="Domine" pitchFamily="18" charset="-120"/>
              </a:rPr>
              <a:t>Recorded once, agreed by those who attended</a:t>
            </a:r>
            <a:endParaRPr lang="en-US" sz="3000" dirty="0"/>
          </a:p>
        </p:txBody>
      </p:sp>
      <p:sp>
        <p:nvSpPr>
          <p:cNvPr id="4" name="Shape 2"/>
          <p:cNvSpPr/>
          <p:nvPr/>
        </p:nvSpPr>
        <p:spPr>
          <a:xfrm>
            <a:off x="815975" y="1772283"/>
            <a:ext cx="2540000" cy="1593850"/>
          </a:xfrm>
          <a:prstGeom prst="roundRect">
            <a:avLst>
              <a:gd name="adj" fmla="val 6175"/>
            </a:avLst>
          </a:prstGeom>
          <a:solidFill>
            <a:srgbClr val="FFFDF8"/>
          </a:solidFill>
          <a:ln w="6350">
            <a:solidFill>
              <a:srgbClr val="E4DFD3"/>
            </a:solidFill>
            <a:prstDash val="solid"/>
          </a:ln>
        </p:spPr>
      </p:sp>
      <p:sp>
        <p:nvSpPr>
          <p:cNvPr id="5" name="Text 3"/>
          <p:cNvSpPr/>
          <p:nvPr/>
        </p:nvSpPr>
        <p:spPr>
          <a:xfrm>
            <a:off x="995680" y="1951992"/>
            <a:ext cx="2246008"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B2A8C"/>
                </a:solidFill>
                <a:latin typeface="DM Sans" pitchFamily="34" charset="0"/>
                <a:ea typeface="DM Sans" pitchFamily="34" charset="-122"/>
                <a:cs typeface="DM Sans" pitchFamily="34" charset="-120"/>
              </a:rPr>
              <a:t>1 · WRITE</a:t>
            </a:r>
            <a:endParaRPr lang="en-US" sz="1200" dirty="0"/>
          </a:p>
        </p:txBody>
      </p:sp>
      <p:sp>
        <p:nvSpPr>
          <p:cNvPr id="6" name="Text 4"/>
          <p:cNvSpPr/>
          <p:nvPr/>
        </p:nvSpPr>
        <p:spPr>
          <a:xfrm>
            <a:off x="995680" y="2228850"/>
            <a:ext cx="2246008" cy="98298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160"/>
                </a:solidFill>
                <a:latin typeface="DM Sans" pitchFamily="34" charset="0"/>
                <a:ea typeface="DM Sans" pitchFamily="34" charset="-122"/>
                <a:cs typeface="DM Sans" pitchFamily="34" charset="-120"/>
              </a:rPr>
              <a:t>After the start, the organiser or an invitee writes the minutes in the card under the Agenda.</a:t>
            </a:r>
            <a:endParaRPr lang="en-US" sz="1300" dirty="0"/>
          </a:p>
        </p:txBody>
      </p:sp>
      <p:sp>
        <p:nvSpPr>
          <p:cNvPr id="7" name="Shape 5"/>
          <p:cNvSpPr/>
          <p:nvPr/>
        </p:nvSpPr>
        <p:spPr>
          <a:xfrm>
            <a:off x="3489325" y="1772283"/>
            <a:ext cx="2540000" cy="1593850"/>
          </a:xfrm>
          <a:prstGeom prst="roundRect">
            <a:avLst>
              <a:gd name="adj" fmla="val 6175"/>
            </a:avLst>
          </a:prstGeom>
          <a:solidFill>
            <a:srgbClr val="FFFDF8"/>
          </a:solidFill>
          <a:ln w="6350">
            <a:solidFill>
              <a:srgbClr val="E4DFD3"/>
            </a:solidFill>
            <a:prstDash val="solid"/>
          </a:ln>
        </p:spPr>
      </p:sp>
      <p:sp>
        <p:nvSpPr>
          <p:cNvPr id="8" name="Text 6"/>
          <p:cNvSpPr/>
          <p:nvPr/>
        </p:nvSpPr>
        <p:spPr>
          <a:xfrm>
            <a:off x="3669030" y="1951992"/>
            <a:ext cx="2246008"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B2A8C"/>
                </a:solidFill>
                <a:latin typeface="DM Sans" pitchFamily="34" charset="0"/>
                <a:ea typeface="DM Sans" pitchFamily="34" charset="-122"/>
                <a:cs typeface="DM Sans" pitchFamily="34" charset="-120"/>
              </a:rPr>
              <a:t>2 · SEND FOR AGREEMENT</a:t>
            </a:r>
            <a:endParaRPr lang="en-US" sz="1200" dirty="0"/>
          </a:p>
        </p:txBody>
      </p:sp>
      <p:sp>
        <p:nvSpPr>
          <p:cNvPr id="9" name="Text 7"/>
          <p:cNvSpPr/>
          <p:nvPr/>
        </p:nvSpPr>
        <p:spPr>
          <a:xfrm>
            <a:off x="3669030" y="2228850"/>
            <a:ext cx="2246008" cy="743585"/>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160"/>
                </a:solidFill>
                <a:latin typeface="DM Sans" pitchFamily="34" charset="0"/>
                <a:ea typeface="DM Sans" pitchFamily="34" charset="-122"/>
                <a:cs typeface="DM Sans" pitchFamily="34" charset="-120"/>
              </a:rPr>
              <a:t>The organiser sends them to everyone who answered </a:t>
            </a:r>
            <a:r>
              <a:rPr lang="en-US" sz="1300" b="1" dirty="0">
                <a:solidFill>
                  <a:srgbClr val="4A5160"/>
                </a:solidFill>
                <a:latin typeface="DM Sans" pitchFamily="34" charset="0"/>
                <a:ea typeface="DM Sans" pitchFamily="34" charset="-122"/>
                <a:cs typeface="DM Sans" pitchFamily="34" charset="-120"/>
              </a:rPr>
              <a:t>Going</a:t>
            </a:r>
            <a:r>
              <a:rPr lang="en-US" sz="1300" dirty="0">
                <a:solidFill>
                  <a:srgbClr val="4A5160"/>
                </a:solidFill>
                <a:latin typeface="DM Sans" pitchFamily="34" charset="0"/>
                <a:ea typeface="DM Sans" pitchFamily="34" charset="-122"/>
                <a:cs typeface="DM Sans" pitchFamily="34" charset="-120"/>
              </a:rPr>
              <a:t>.</a:t>
            </a:r>
            <a:endParaRPr lang="en-US" sz="1300" dirty="0"/>
          </a:p>
        </p:txBody>
      </p:sp>
      <p:sp>
        <p:nvSpPr>
          <p:cNvPr id="10" name="Shape 8"/>
          <p:cNvSpPr/>
          <p:nvPr/>
        </p:nvSpPr>
        <p:spPr>
          <a:xfrm>
            <a:off x="6162675" y="1772283"/>
            <a:ext cx="2540000" cy="1593850"/>
          </a:xfrm>
          <a:prstGeom prst="roundRect">
            <a:avLst>
              <a:gd name="adj" fmla="val 6175"/>
            </a:avLst>
          </a:prstGeom>
          <a:solidFill>
            <a:srgbClr val="FFFDF8"/>
          </a:solidFill>
          <a:ln w="6350">
            <a:solidFill>
              <a:srgbClr val="E4DFD3"/>
            </a:solidFill>
            <a:prstDash val="solid"/>
          </a:ln>
        </p:spPr>
      </p:sp>
      <p:sp>
        <p:nvSpPr>
          <p:cNvPr id="11" name="Text 9"/>
          <p:cNvSpPr/>
          <p:nvPr/>
        </p:nvSpPr>
        <p:spPr>
          <a:xfrm>
            <a:off x="6342380" y="1951992"/>
            <a:ext cx="2246008"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E7D41"/>
                </a:solidFill>
                <a:latin typeface="DM Sans" pitchFamily="34" charset="0"/>
                <a:ea typeface="DM Sans" pitchFamily="34" charset="-122"/>
                <a:cs typeface="DM Sans" pitchFamily="34" charset="-120"/>
              </a:rPr>
              <a:t>3 · AGREE OR ASK</a:t>
            </a:r>
            <a:endParaRPr lang="en-US" sz="1200" dirty="0"/>
          </a:p>
        </p:txBody>
      </p:sp>
      <p:sp>
        <p:nvSpPr>
          <p:cNvPr id="12" name="Text 10"/>
          <p:cNvSpPr/>
          <p:nvPr/>
        </p:nvSpPr>
        <p:spPr>
          <a:xfrm>
            <a:off x="6342380" y="2228850"/>
            <a:ext cx="2246008" cy="743585"/>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160"/>
                </a:solidFill>
                <a:latin typeface="DM Sans" pitchFamily="34" charset="0"/>
                <a:ea typeface="DM Sans" pitchFamily="34" charset="-122"/>
                <a:cs typeface="DM Sans" pitchFamily="34" charset="-120"/>
              </a:rPr>
              <a:t>Each attendee </a:t>
            </a:r>
            <a:r>
              <a:rPr lang="en-US" sz="1300" b="1" dirty="0">
                <a:solidFill>
                  <a:srgbClr val="4A5160"/>
                </a:solidFill>
                <a:latin typeface="DM Sans" pitchFamily="34" charset="0"/>
                <a:ea typeface="DM Sans" pitchFamily="34" charset="-122"/>
                <a:cs typeface="DM Sans" pitchFamily="34" charset="-120"/>
              </a:rPr>
              <a:t>Agrees</a:t>
            </a:r>
            <a:r>
              <a:rPr lang="en-US" sz="1300" dirty="0">
                <a:solidFill>
                  <a:srgbClr val="4A5160"/>
                </a:solidFill>
                <a:latin typeface="DM Sans" pitchFamily="34" charset="0"/>
                <a:ea typeface="DM Sans" pitchFamily="34" charset="-122"/>
                <a:cs typeface="DM Sans" pitchFamily="34" charset="-120"/>
              </a:rPr>
              <a:t> or </a:t>
            </a:r>
            <a:r>
              <a:rPr lang="en-US" sz="1300" b="1" dirty="0">
                <a:solidFill>
                  <a:srgbClr val="4A5160"/>
                </a:solidFill>
                <a:latin typeface="DM Sans" pitchFamily="34" charset="0"/>
                <a:ea typeface="DM Sans" pitchFamily="34" charset="-122"/>
                <a:cs typeface="DM Sans" pitchFamily="34" charset="-120"/>
              </a:rPr>
              <a:t>Asks for a change</a:t>
            </a:r>
            <a:r>
              <a:rPr lang="en-US" sz="1300" dirty="0">
                <a:solidFill>
                  <a:srgbClr val="4A5160"/>
                </a:solidFill>
                <a:latin typeface="DM Sans" pitchFamily="34" charset="0"/>
                <a:ea typeface="DM Sans" pitchFamily="34" charset="-122"/>
                <a:cs typeface="DM Sans" pitchFamily="34" charset="-120"/>
              </a:rPr>
              <a:t> with a comment.</a:t>
            </a:r>
            <a:endParaRPr lang="en-US" sz="1300" dirty="0"/>
          </a:p>
        </p:txBody>
      </p:sp>
      <p:sp>
        <p:nvSpPr>
          <p:cNvPr id="13" name="Shape 11"/>
          <p:cNvSpPr/>
          <p:nvPr/>
        </p:nvSpPr>
        <p:spPr>
          <a:xfrm>
            <a:off x="8836025" y="1772283"/>
            <a:ext cx="2540000" cy="1593850"/>
          </a:xfrm>
          <a:prstGeom prst="roundRect">
            <a:avLst>
              <a:gd name="adj" fmla="val 6175"/>
            </a:avLst>
          </a:prstGeom>
          <a:solidFill>
            <a:srgbClr val="FFFDF8"/>
          </a:solidFill>
          <a:ln w="6350">
            <a:solidFill>
              <a:srgbClr val="E4DFD3"/>
            </a:solidFill>
            <a:prstDash val="solid"/>
          </a:ln>
        </p:spPr>
      </p:sp>
      <p:sp>
        <p:nvSpPr>
          <p:cNvPr id="14" name="Text 12"/>
          <p:cNvSpPr/>
          <p:nvPr/>
        </p:nvSpPr>
        <p:spPr>
          <a:xfrm>
            <a:off x="9015730" y="1951992"/>
            <a:ext cx="2246008"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E7D41"/>
                </a:solidFill>
                <a:latin typeface="DM Sans" pitchFamily="34" charset="0"/>
                <a:ea typeface="DM Sans" pitchFamily="34" charset="-122"/>
                <a:cs typeface="DM Sans" pitchFamily="34" charset="-120"/>
              </a:rPr>
              <a:t>4 · AGREED</a:t>
            </a:r>
            <a:endParaRPr lang="en-US" sz="1200" dirty="0"/>
          </a:p>
        </p:txBody>
      </p:sp>
      <p:sp>
        <p:nvSpPr>
          <p:cNvPr id="15" name="Text 13"/>
          <p:cNvSpPr/>
          <p:nvPr/>
        </p:nvSpPr>
        <p:spPr>
          <a:xfrm>
            <a:off x="9015730" y="2228850"/>
            <a:ext cx="2246008" cy="743585"/>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160"/>
                </a:solidFill>
                <a:latin typeface="DM Sans" pitchFamily="34" charset="0"/>
                <a:ea typeface="DM Sans" pitchFamily="34" charset="-122"/>
                <a:cs typeface="DM Sans" pitchFamily="34" charset="-120"/>
              </a:rPr>
              <a:t>The last agreement closes it. A later edit sends a new round.</a:t>
            </a:r>
            <a:endParaRPr lang="en-US" sz="1300" dirty="0"/>
          </a:p>
        </p:txBody>
      </p:sp>
      <p:sp>
        <p:nvSpPr>
          <p:cNvPr id="16" name="Shape 14"/>
          <p:cNvSpPr/>
          <p:nvPr/>
        </p:nvSpPr>
        <p:spPr>
          <a:xfrm>
            <a:off x="812800" y="3572508"/>
            <a:ext cx="10566400" cy="871220"/>
          </a:xfrm>
          <a:prstGeom prst="roundRect">
            <a:avLst>
              <a:gd name="adj" fmla="val 11662"/>
            </a:avLst>
          </a:prstGeom>
          <a:solidFill>
            <a:srgbClr val="1B2238"/>
          </a:solidFill>
          <a:ln/>
        </p:spPr>
      </p:sp>
      <p:pic>
        <p:nvPicPr>
          <p:cNvPr id="17" name="Image 0" descr="Book"/>
          <p:cNvPicPr>
            <a:picLocks noChangeAspect="1"/>
          </p:cNvPicPr>
          <p:nvPr/>
        </p:nvPicPr>
        <p:blipFill>
          <a:blip r:embed="rId3"/>
          <a:srcRect t="-265" b="-265"/>
          <a:stretch/>
        </p:blipFill>
        <p:spPr>
          <a:xfrm>
            <a:off x="1066800" y="3830327"/>
            <a:ext cx="240030" cy="355600"/>
          </a:xfrm>
          <a:prstGeom prst="rect">
            <a:avLst/>
          </a:prstGeom>
        </p:spPr>
      </p:pic>
      <p:sp>
        <p:nvSpPr>
          <p:cNvPr id="18" name="Text 15"/>
          <p:cNvSpPr/>
          <p:nvPr/>
        </p:nvSpPr>
        <p:spPr>
          <a:xfrm>
            <a:off x="1459230" y="3750308"/>
            <a:ext cx="9955950" cy="541020"/>
          </a:xfrm>
          <a:prstGeom prst="rect">
            <a:avLst/>
          </a:prstGeom>
          <a:noFill/>
          <a:ln/>
        </p:spPr>
        <p:txBody>
          <a:bodyPr wrap="square" lIns="0" tIns="0" rIns="0" bIns="0" rtlCol="0" anchor="t">
            <a:normAutofit/>
          </a:bodyPr>
          <a:lstStyle/>
          <a:p>
            <a:pPr marL="0" indent="0" algn="l">
              <a:lnSpc>
                <a:spcPts val="2030"/>
              </a:lnSpc>
              <a:buNone/>
            </a:pPr>
            <a:r>
              <a:rPr lang="en-US" sz="1400" b="1" dirty="0">
                <a:solidFill>
                  <a:srgbClr val="F7F5F0"/>
                </a:solidFill>
                <a:latin typeface="DM Sans" pitchFamily="34" charset="0"/>
                <a:ea typeface="DM Sans" pitchFamily="34" charset="-122"/>
                <a:cs typeface="DM Sans" pitchFamily="34" charset="-120"/>
              </a:rPr>
              <a:t>Print</a:t>
            </a:r>
            <a:r>
              <a:rPr lang="en-US" sz="1400" dirty="0">
                <a:solidFill>
                  <a:srgbClr val="F7F5F0"/>
                </a:solidFill>
                <a:latin typeface="DM Sans" pitchFamily="34" charset="0"/>
                <a:ea typeface="DM Sans" pitchFamily="34" charset="-122"/>
                <a:cs typeface="DM Sans" pitchFamily="34" charset="-120"/>
              </a:rPr>
              <a:t> = Minutes of Meeting: details, agenda, minutes, attendance, Prepared by and one sign-off per attendee — “Pending” until they agree. Minutes are searchable with Ctrl + K.</a:t>
            </a:r>
            <a:endParaRPr lang="en-US" sz="1400" dirty="0"/>
          </a:p>
        </p:txBody>
      </p:sp>
      <p:sp>
        <p:nvSpPr>
          <p:cNvPr id="19" name="Text 16"/>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DM Sans" pitchFamily="34" charset="0"/>
                <a:ea typeface="DM Sans" pitchFamily="34" charset="-122"/>
                <a:cs typeface="DM Sans" pitchFamily="34" charset="-120"/>
              </a:rPr>
              <a:t>G-CORE Training · Meetings · Minutes</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B2238"/>
        </a:solidFill>
        <a:effectLst/>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9A6EE"/>
                </a:solidFill>
                <a:latin typeface="DM Sans" pitchFamily="34" charset="0"/>
                <a:ea typeface="DM Sans" pitchFamily="34" charset="-122"/>
                <a:cs typeface="DM Sans" pitchFamily="34" charset="-120"/>
              </a:rPr>
              <a:t>ON SCREEN · MEETINGS</a:t>
            </a:r>
            <a:endParaRPr lang="en-US" sz="1200" dirty="0"/>
          </a:p>
        </p:txBody>
      </p:sp>
      <p:sp>
        <p:nvSpPr>
          <p:cNvPr id="3" name="Text 1"/>
          <p:cNvSpPr>
            <a:spLocks noGrp="1"/>
          </p:cNvSpPr>
          <p:nvPr>
            <p:ph type="title"/>
          </p:nvPr>
        </p:nvSpPr>
        <p:spPr>
          <a:xfrm>
            <a:off x="609600" y="746758"/>
            <a:ext cx="11301984"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F7F5F0"/>
                </a:solidFill>
                <a:latin typeface="Domine" pitchFamily="18" charset="0"/>
                <a:ea typeface="Domine" pitchFamily="18" charset="-122"/>
                <a:cs typeface="Domine" pitchFamily="18" charset="-120"/>
              </a:rPr>
              <a:t>Minutes out for agreement</a:t>
            </a:r>
            <a:endParaRPr lang="en-US" sz="2400" dirty="0"/>
          </a:p>
        </p:txBody>
      </p:sp>
      <p:sp>
        <p:nvSpPr>
          <p:cNvPr id="4" name="Shape 2"/>
          <p:cNvSpPr/>
          <p:nvPr/>
        </p:nvSpPr>
        <p:spPr>
          <a:xfrm>
            <a:off x="609600" y="1173485"/>
            <a:ext cx="8001000" cy="4502150"/>
          </a:xfrm>
          <a:prstGeom prst="roundRect">
            <a:avLst>
              <a:gd name="adj" fmla="val 1693"/>
            </a:avLst>
          </a:prstGeom>
          <a:solidFill>
            <a:srgbClr val="F7F5F0"/>
          </a:solidFill>
          <a:ln/>
        </p:spPr>
      </p:sp>
      <p:pic>
        <p:nvPicPr>
          <p:cNvPr id="5" name="Image 0" descr="G-CORE screen: Minutes out for agreement"/>
          <p:cNvPicPr>
            <a:picLocks noChangeAspect="1"/>
          </p:cNvPicPr>
          <p:nvPr/>
        </p:nvPicPr>
        <p:blipFill>
          <a:blip r:embed="rId3"/>
          <a:srcRect l="-106" r="-106"/>
          <a:stretch/>
        </p:blipFill>
        <p:spPr>
          <a:xfrm>
            <a:off x="622300" y="1186185"/>
            <a:ext cx="7975600" cy="4476750"/>
          </a:xfrm>
          <a:prstGeom prst="roundRect">
            <a:avLst>
              <a:gd name="adj" fmla="val 1418"/>
            </a:avLst>
          </a:prstGeom>
        </p:spPr>
      </p:pic>
      <p:sp>
        <p:nvSpPr>
          <p:cNvPr id="6" name="Shape 3"/>
          <p:cNvSpPr/>
          <p:nvPr/>
        </p:nvSpPr>
        <p:spPr>
          <a:xfrm>
            <a:off x="615950" y="1179835"/>
            <a:ext cx="7988300" cy="4489450"/>
          </a:xfrm>
          <a:prstGeom prst="roundRect">
            <a:avLst>
              <a:gd name="adj" fmla="val 1556"/>
            </a:avLst>
          </a:prstGeom>
          <a:noFill/>
          <a:ln w="12700">
            <a:solidFill>
              <a:srgbClr val="3A4466"/>
            </a:solidFill>
            <a:prstDash val="solid"/>
          </a:ln>
        </p:spPr>
      </p:sp>
      <p:sp>
        <p:nvSpPr>
          <p:cNvPr id="7" name="Text 4"/>
          <p:cNvSpPr/>
          <p:nvPr/>
        </p:nvSpPr>
        <p:spPr>
          <a:xfrm>
            <a:off x="8864600" y="1275085"/>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C9A6E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1</a:t>
            </a:r>
            <a:endParaRPr lang="en-US" sz="1300" dirty="0"/>
          </a:p>
        </p:txBody>
      </p:sp>
      <p:sp>
        <p:nvSpPr>
          <p:cNvPr id="8" name="Text 5"/>
          <p:cNvSpPr/>
          <p:nvPr/>
        </p:nvSpPr>
        <p:spPr>
          <a:xfrm>
            <a:off x="9283700" y="1275085"/>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Written after the start, sent to those who went.</a:t>
            </a:r>
            <a:endParaRPr lang="en-US" sz="1400" dirty="0"/>
          </a:p>
        </p:txBody>
      </p:sp>
      <p:sp>
        <p:nvSpPr>
          <p:cNvPr id="9" name="Text 6"/>
          <p:cNvSpPr/>
          <p:nvPr/>
        </p:nvSpPr>
        <p:spPr>
          <a:xfrm>
            <a:off x="8864600" y="1976127"/>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C9A6E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2</a:t>
            </a:r>
            <a:endParaRPr lang="en-US" sz="1300" dirty="0"/>
          </a:p>
        </p:txBody>
      </p:sp>
      <p:sp>
        <p:nvSpPr>
          <p:cNvPr id="10" name="Text 7"/>
          <p:cNvSpPr/>
          <p:nvPr/>
        </p:nvSpPr>
        <p:spPr>
          <a:xfrm>
            <a:off x="9283700" y="1976127"/>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Each attendee agrees or asks for a change.</a:t>
            </a:r>
            <a:endParaRPr lang="en-US" sz="1400" dirty="0"/>
          </a:p>
        </p:txBody>
      </p:sp>
      <p:sp>
        <p:nvSpPr>
          <p:cNvPr id="11" name="Text 8"/>
          <p:cNvSpPr/>
          <p:nvPr/>
        </p:nvSpPr>
        <p:spPr>
          <a:xfrm>
            <a:off x="8864600" y="2677158"/>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C9A6E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3</a:t>
            </a:r>
            <a:endParaRPr lang="en-US" sz="1300" dirty="0"/>
          </a:p>
        </p:txBody>
      </p:sp>
      <p:sp>
        <p:nvSpPr>
          <p:cNvPr id="12" name="Text 9"/>
          <p:cNvSpPr/>
          <p:nvPr/>
        </p:nvSpPr>
        <p:spPr>
          <a:xfrm>
            <a:off x="9283700" y="2677158"/>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All agreed → AGREED; Print gives the signed minutes.</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2E7D41"/>
        </a:solidFill>
        <a:effectLst/>
      </p:bgPr>
    </p:bg>
    <p:spTree>
      <p:nvGrpSpPr>
        <p:cNvPr id="1" name=""/>
        <p:cNvGrpSpPr/>
        <p:nvPr/>
      </p:nvGrpSpPr>
      <p:grpSpPr>
        <a:xfrm>
          <a:off x="0" y="0"/>
          <a:ext cx="0" cy="0"/>
          <a:chOff x="0" y="0"/>
          <a:chExt cx="0" cy="0"/>
        </a:xfrm>
      </p:grpSpPr>
      <p:pic>
        <p:nvPicPr>
          <p:cNvPr id="2" name="Image 0" descr="Clock"/>
          <p:cNvPicPr>
            <a:picLocks noChangeAspect="1"/>
          </p:cNvPicPr>
          <p:nvPr/>
        </p:nvPicPr>
        <p:blipFill>
          <a:blip r:embed="rId3"/>
          <a:srcRect/>
          <a:stretch/>
        </p:blipFill>
        <p:spPr>
          <a:xfrm>
            <a:off x="5791200" y="2349500"/>
            <a:ext cx="609600" cy="609600"/>
          </a:xfrm>
          <a:prstGeom prst="rect">
            <a:avLst/>
          </a:prstGeom>
        </p:spPr>
      </p:pic>
      <p:sp>
        <p:nvSpPr>
          <p:cNvPr id="3" name="Text 0"/>
          <p:cNvSpPr>
            <a:spLocks noGrp="1"/>
          </p:cNvSpPr>
          <p:nvPr>
            <p:ph type="title"/>
          </p:nvPr>
        </p:nvSpPr>
        <p:spPr>
          <a:xfrm>
            <a:off x="2406785" y="3162300"/>
            <a:ext cx="7378351" cy="848360"/>
          </a:xfrm>
          <a:prstGeom prst="rect">
            <a:avLst/>
          </a:prstGeom>
          <a:noFill/>
          <a:ln/>
        </p:spPr>
        <p:txBody>
          <a:bodyPr wrap="square" lIns="0" tIns="0" rIns="0" bIns="0" rtlCol="0" anchor="t">
            <a:normAutofit/>
          </a:bodyPr>
          <a:lstStyle/>
          <a:p>
            <a:pPr marL="0" indent="0" algn="ctr">
              <a:lnSpc>
                <a:spcPts val="6480"/>
              </a:lnSpc>
              <a:buNone/>
            </a:pPr>
            <a:r>
              <a:rPr lang="en-US" sz="6000" b="1" i="0" dirty="0">
                <a:solidFill>
                  <a:srgbClr val="F7F5F0"/>
                </a:solidFill>
                <a:latin typeface="Domine" pitchFamily="18" charset="0"/>
                <a:ea typeface="Domine" pitchFamily="18" charset="-122"/>
                <a:cs typeface="Domine" pitchFamily="18" charset="-120"/>
              </a:rPr>
              <a:t>10-minute break</a:t>
            </a:r>
            <a:endParaRPr lang="en-US" sz="6000" dirty="0"/>
          </a:p>
        </p:txBody>
      </p:sp>
      <p:sp>
        <p:nvSpPr>
          <p:cNvPr id="4" name="Text 1"/>
          <p:cNvSpPr/>
          <p:nvPr/>
        </p:nvSpPr>
        <p:spPr>
          <a:xfrm>
            <a:off x="2117789" y="4188458"/>
            <a:ext cx="7956423" cy="345440"/>
          </a:xfrm>
          <a:prstGeom prst="rect">
            <a:avLst/>
          </a:prstGeom>
          <a:noFill/>
          <a:ln/>
        </p:spPr>
        <p:txBody>
          <a:bodyPr wrap="square" lIns="0" tIns="0" rIns="0" bIns="0" rtlCol="0" anchor="t">
            <a:normAutofit/>
          </a:bodyPr>
          <a:lstStyle/>
          <a:p>
            <a:pPr marL="0" indent="0" algn="ctr">
              <a:lnSpc>
                <a:spcPts val="2520"/>
              </a:lnSpc>
              <a:buNone/>
            </a:pPr>
            <a:r>
              <a:rPr lang="en-US" sz="1800" dirty="0">
                <a:solidFill>
                  <a:srgbClr val="DDF1E2"/>
                </a:solidFill>
                <a:latin typeface="DM Sans" pitchFamily="34" charset="0"/>
                <a:ea typeface="DM Sans" pitchFamily="34" charset="-122"/>
                <a:cs typeface="DM Sans" pitchFamily="34" charset="-120"/>
              </a:rPr>
              <a:t>Back at 10:45 for G-CHAIN procurement and G-FIN money out.</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2E7D41"/>
        </a:solidFill>
        <a:effectLst/>
      </p:bgPr>
    </p:bg>
    <p:spTree>
      <p:nvGrpSpPr>
        <p:cNvPr id="1" name=""/>
        <p:cNvGrpSpPr/>
        <p:nvPr/>
      </p:nvGrpSpPr>
      <p:grpSpPr>
        <a:xfrm>
          <a:off x="0" y="0"/>
          <a:ext cx="0" cy="0"/>
          <a:chOff x="0" y="0"/>
          <a:chExt cx="0" cy="0"/>
        </a:xfrm>
      </p:grpSpPr>
      <p:sp>
        <p:nvSpPr>
          <p:cNvPr id="2" name="Text 0"/>
          <p:cNvSpPr/>
          <p:nvPr/>
        </p:nvSpPr>
        <p:spPr>
          <a:xfrm>
            <a:off x="812800" y="2424683"/>
            <a:ext cx="10883392" cy="274320"/>
          </a:xfrm>
          <a:prstGeom prst="rect">
            <a:avLst/>
          </a:prstGeom>
          <a:noFill/>
          <a:ln/>
        </p:spPr>
        <p:txBody>
          <a:bodyPr wrap="square" lIns="0" tIns="0" rIns="0" bIns="0" rtlCol="0" anchor="t">
            <a:normAutofit/>
          </a:bodyPr>
          <a:lstStyle/>
          <a:p>
            <a:pPr marL="0" indent="0" algn="l">
              <a:lnSpc>
                <a:spcPts val="1960"/>
              </a:lnSpc>
              <a:buNone/>
            </a:pPr>
            <a:r>
              <a:rPr lang="en-US" sz="1400" kern="0" spc="200" dirty="0">
                <a:solidFill>
                  <a:srgbClr val="DDF1E2"/>
                </a:solidFill>
                <a:latin typeface="DM Sans" pitchFamily="34" charset="0"/>
                <a:ea typeface="DM Sans" pitchFamily="34" charset="-122"/>
                <a:cs typeface="DM Sans" pitchFamily="34" charset="-120"/>
              </a:rPr>
              <a:t>PART 4 · 40 MINUTES · 10:45</a:t>
            </a:r>
            <a:endParaRPr lang="en-US" sz="1400" dirty="0"/>
          </a:p>
        </p:txBody>
      </p:sp>
      <p:sp>
        <p:nvSpPr>
          <p:cNvPr id="3" name="Text 1"/>
          <p:cNvSpPr>
            <a:spLocks noGrp="1"/>
          </p:cNvSpPr>
          <p:nvPr>
            <p:ph type="title"/>
          </p:nvPr>
        </p:nvSpPr>
        <p:spPr>
          <a:xfrm>
            <a:off x="812800" y="2876798"/>
            <a:ext cx="10883392" cy="738584"/>
          </a:xfrm>
          <a:prstGeom prst="rect">
            <a:avLst/>
          </a:prstGeom>
          <a:noFill/>
          <a:ln/>
        </p:spPr>
        <p:txBody>
          <a:bodyPr wrap="square" lIns="0" tIns="0" rIns="0" bIns="0" rtlCol="0" anchor="t">
            <a:normAutofit/>
          </a:bodyPr>
          <a:lstStyle/>
          <a:p>
            <a:pPr marL="0" indent="0" algn="l">
              <a:lnSpc>
                <a:spcPts val="5616"/>
              </a:lnSpc>
              <a:buNone/>
            </a:pPr>
            <a:r>
              <a:rPr lang="en-US" sz="5200" b="1" i="0" dirty="0">
                <a:solidFill>
                  <a:srgbClr val="F7F5F0"/>
                </a:solidFill>
                <a:latin typeface="Domine" pitchFamily="18" charset="0"/>
                <a:ea typeface="Domine" pitchFamily="18" charset="-122"/>
                <a:cs typeface="Domine" pitchFamily="18" charset="-120"/>
              </a:rPr>
              <a:t>G-CHAIN procurement</a:t>
            </a:r>
            <a:endParaRPr lang="en-US" sz="5200" dirty="0"/>
          </a:p>
        </p:txBody>
      </p:sp>
      <p:sp>
        <p:nvSpPr>
          <p:cNvPr id="4" name="Text 2"/>
          <p:cNvSpPr/>
          <p:nvPr/>
        </p:nvSpPr>
        <p:spPr>
          <a:xfrm>
            <a:off x="812800" y="3793182"/>
            <a:ext cx="9156700" cy="6654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DDF1E2"/>
                </a:solidFill>
                <a:latin typeface="DM Sans" pitchFamily="34" charset="0"/>
                <a:ea typeface="DM Sans" pitchFamily="34" charset="-122"/>
                <a:cs typeface="DM Sans" pitchFamily="34" charset="-120"/>
              </a:rPr>
              <a:t>Procurement: Purchase Requests · RFQ · Canvass · Purchase Orders</a:t>
            </a:r>
            <a:endParaRPr lang="en-US" sz="1800" dirty="0"/>
          </a:p>
          <a:p>
            <a:pPr marL="0" indent="0" algn="l">
              <a:lnSpc>
                <a:spcPts val="2520"/>
              </a:lnSpc>
              <a:buNone/>
            </a:pPr>
            <a:r>
              <a:rPr lang="en-US" sz="1800" dirty="0">
                <a:solidFill>
                  <a:srgbClr val="DDF1E2"/>
                </a:solidFill>
                <a:latin typeface="DM Sans" pitchFamily="34" charset="0"/>
                <a:ea typeface="DM Sans" pitchFamily="34" charset="-122"/>
                <a:cs typeface="DM Sans" pitchFamily="34" charset="-120"/>
              </a:rPr>
              <a:t>Warehouse: Incoming · Inventory · Outgoing · Borrow Slips · Pull-out Slips</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E7D41"/>
                </a:solidFill>
                <a:latin typeface="DM Sans" pitchFamily="34" charset="0"/>
                <a:ea typeface="DM Sans" pitchFamily="34" charset="-122"/>
                <a:cs typeface="DM Sans" pitchFamily="34" charset="-120"/>
              </a:rPr>
              <a:t>G-CHAIN</a:t>
            </a:r>
            <a:endParaRPr lang="en-US" sz="1200" dirty="0"/>
          </a:p>
        </p:txBody>
      </p:sp>
      <p:sp>
        <p:nvSpPr>
          <p:cNvPr id="3" name="Text 1"/>
          <p:cNvSpPr>
            <a:spLocks noGrp="1"/>
          </p:cNvSpPr>
          <p:nvPr>
            <p:ph type="title"/>
          </p:nvPr>
        </p:nvSpPr>
        <p:spPr>
          <a:xfrm>
            <a:off x="812800" y="112777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B2238"/>
                </a:solidFill>
                <a:latin typeface="Domine" pitchFamily="18" charset="0"/>
                <a:ea typeface="Domine" pitchFamily="18" charset="-122"/>
                <a:cs typeface="Domine" pitchFamily="18" charset="-120"/>
              </a:rPr>
              <a:t>From a need to goods on site</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779280"/>
          <a:ext cx="10556240" cy="2498090"/>
        </p:xfrm>
        <a:graphic>
          <a:graphicData uri="http://schemas.openxmlformats.org/drawingml/2006/table">
            <a:tbl>
              <a:tblPr/>
              <a:tblGrid>
                <a:gridCol w="2111248">
                  <a:extLst>
                    <a:ext uri="{9D8B030D-6E8A-4147-A177-3AD203B41FA5}">
                      <a16:colId xmlns:a16="http://schemas.microsoft.com/office/drawing/2014/main" val="20000"/>
                    </a:ext>
                  </a:extLst>
                </a:gridCol>
                <a:gridCol w="3166872">
                  <a:extLst>
                    <a:ext uri="{9D8B030D-6E8A-4147-A177-3AD203B41FA5}">
                      <a16:colId xmlns:a16="http://schemas.microsoft.com/office/drawing/2014/main" val="20001"/>
                    </a:ext>
                  </a:extLst>
                </a:gridCol>
                <a:gridCol w="2955747">
                  <a:extLst>
                    <a:ext uri="{9D8B030D-6E8A-4147-A177-3AD203B41FA5}">
                      <a16:colId xmlns:a16="http://schemas.microsoft.com/office/drawing/2014/main" val="20002"/>
                    </a:ext>
                  </a:extLst>
                </a:gridCol>
                <a:gridCol w="2322373">
                  <a:extLst>
                    <a:ext uri="{9D8B030D-6E8A-4147-A177-3AD203B41FA5}">
                      <a16:colId xmlns:a16="http://schemas.microsoft.com/office/drawing/2014/main" val="20003"/>
                    </a:ext>
                  </a:extLst>
                </a:gridCol>
              </a:tblGrid>
              <a:tr h="356870">
                <a:tc>
                  <a:txBody>
                    <a:bodyPr/>
                    <a:lstStyle/>
                    <a:p>
                      <a:pPr marL="0" indent="0">
                        <a:lnSpc>
                          <a:spcPts val="1820"/>
                        </a:lnSpc>
                        <a:buNone/>
                      </a:pPr>
                      <a:r>
                        <a:rPr lang="en-US" sz="1300" b="1" dirty="0">
                          <a:solidFill>
                            <a:srgbClr val="1B2238"/>
                          </a:solidFill>
                          <a:latin typeface="DM Sans" pitchFamily="34" charset="0"/>
                          <a:ea typeface="DM Sans" pitchFamily="34" charset="-122"/>
                          <a:cs typeface="DM Sans" pitchFamily="34" charset="-120"/>
                        </a:rPr>
                        <a:t>Document</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marL="0" indent="0">
                        <a:lnSpc>
                          <a:spcPts val="1820"/>
                        </a:lnSpc>
                        <a:buNone/>
                      </a:pPr>
                      <a:r>
                        <a:rPr lang="en-US" sz="1300" b="1" dirty="0">
                          <a:solidFill>
                            <a:srgbClr val="1B2238"/>
                          </a:solidFill>
                          <a:latin typeface="DM Sans" pitchFamily="34" charset="0"/>
                          <a:ea typeface="DM Sans" pitchFamily="34" charset="-122"/>
                          <a:cs typeface="DM Sans" pitchFamily="34" charset="-120"/>
                        </a:rPr>
                        <a:t>Who raises it</a:t>
                      </a:r>
                      <a:endParaRPr lang="en-US" sz="1300" dirty="0">
                        <a:latin typeface="DM Sans" charset="0"/>
                        <a:ea typeface="DM Sans" charset="0"/>
                        <a:cs typeface="DM Sans" charset="0"/>
                      </a:endParaRPr>
                    </a:p>
                  </a:txBody>
                  <a:tcPr marL="57785" marR="57785" marT="57785" marB="57785">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marL="0" indent="0">
                        <a:lnSpc>
                          <a:spcPts val="1820"/>
                        </a:lnSpc>
                        <a:buNone/>
                      </a:pPr>
                      <a:r>
                        <a:rPr lang="en-US" sz="1300" b="1" dirty="0">
                          <a:solidFill>
                            <a:srgbClr val="1B2238"/>
                          </a:solidFill>
                          <a:latin typeface="DM Sans" pitchFamily="34" charset="0"/>
                          <a:ea typeface="DM Sans" pitchFamily="34" charset="-122"/>
                          <a:cs typeface="DM Sans" pitchFamily="34" charset="-120"/>
                        </a:rPr>
                        <a:t>Approved by</a:t>
                      </a:r>
                      <a:endParaRPr lang="en-US" sz="1300" dirty="0">
                        <a:latin typeface="DM Sans" charset="0"/>
                        <a:ea typeface="DM Sans" charset="0"/>
                        <a:cs typeface="DM Sans" charset="0"/>
                      </a:endParaRPr>
                    </a:p>
                  </a:txBody>
                  <a:tcPr marL="57785" marR="57785" marT="57785" marB="57785">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marL="0" indent="0">
                        <a:lnSpc>
                          <a:spcPts val="1820"/>
                        </a:lnSpc>
                        <a:buNone/>
                      </a:pPr>
                      <a:r>
                        <a:rPr lang="en-US" sz="1300" b="1" dirty="0">
                          <a:solidFill>
                            <a:srgbClr val="1B2238"/>
                          </a:solidFill>
                          <a:latin typeface="DM Sans" pitchFamily="34" charset="0"/>
                          <a:ea typeface="DM Sans" pitchFamily="34" charset="-122"/>
                          <a:cs typeface="DM Sans" pitchFamily="34" charset="-120"/>
                        </a:rPr>
                        <a:t>Moves money</a:t>
                      </a:r>
                      <a:endParaRPr lang="en-US" sz="1300" dirty="0">
                        <a:latin typeface="DM Sans" charset="0"/>
                        <a:ea typeface="DM Sans" charset="0"/>
                        <a:cs typeface="DM Sans" charset="0"/>
                      </a:endParaRPr>
                    </a:p>
                  </a:txBody>
                  <a:tcPr marL="57785" marR="57785" marT="57785" marB="57785">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Purchase request</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Engineer, TM, TL, Industry Spec.</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Technical Manager › Team Leader</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Commits the budget</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1"/>
                  </a:ext>
                </a:extLst>
              </a:tr>
              <a:tr h="356870">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RFQ</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B9C1BB"/>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9C1BB"/>
                      </a:solidFill>
                      <a:prstDash val="solid"/>
                      <a:round/>
                      <a:headEnd type="none" w="med" len="med"/>
                      <a:tailEnd type="none" w="med" len="med"/>
                    </a:lnB>
                    <a:solidFill>
                      <a:srgbClr val="E7F2EA"/>
                    </a:solidFill>
                  </a:tcPr>
                </a:tc>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Procurement</a:t>
                      </a:r>
                      <a:endParaRPr lang="en-US" sz="1300" dirty="0">
                        <a:latin typeface="DM Sans" charset="0"/>
                        <a:ea typeface="DM Sans" charset="0"/>
                        <a:cs typeface="DM Sans" charset="0"/>
                      </a:endParaRPr>
                    </a:p>
                  </a:txBody>
                  <a:tcPr marL="57785" marR="57785" marT="57785" marB="57785">
                    <a:lnL w="12700" cap="flat" cmpd="sng" algn="ctr">
                      <a:solidFill>
                        <a:srgbClr val="B9C1BB"/>
                      </a:solidFill>
                      <a:prstDash val="solid"/>
                      <a:round/>
                      <a:headEnd type="none" w="med" len="med"/>
                      <a:tailEnd type="none" w="med" len="med"/>
                    </a:lnL>
                    <a:lnR w="12700" cap="flat" cmpd="sng" algn="ctr">
                      <a:solidFill>
                        <a:srgbClr val="B9C1BB"/>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9C1BB"/>
                      </a:solidFill>
                      <a:prstDash val="solid"/>
                      <a:round/>
                      <a:headEnd type="none" w="med" len="med"/>
                      <a:tailEnd type="none" w="med" len="med"/>
                    </a:lnB>
                    <a:solidFill>
                      <a:srgbClr val="E7F2EA"/>
                    </a:solidFill>
                  </a:tcPr>
                </a:tc>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 (an enquiry)</a:t>
                      </a:r>
                      <a:endParaRPr lang="en-US" sz="1300" dirty="0">
                        <a:latin typeface="DM Sans" charset="0"/>
                        <a:ea typeface="DM Sans" charset="0"/>
                        <a:cs typeface="DM Sans" charset="0"/>
                      </a:endParaRPr>
                    </a:p>
                  </a:txBody>
                  <a:tcPr marL="57785" marR="57785" marT="57785" marB="57785">
                    <a:lnL w="12700" cap="flat" cmpd="sng" algn="ctr">
                      <a:solidFill>
                        <a:srgbClr val="B9C1BB"/>
                      </a:solidFill>
                      <a:prstDash val="solid"/>
                      <a:round/>
                      <a:headEnd type="none" w="med" len="med"/>
                      <a:tailEnd type="none" w="med" len="med"/>
                    </a:lnL>
                    <a:lnR w="12700" cap="flat" cmpd="sng" algn="ctr">
                      <a:solidFill>
                        <a:srgbClr val="B9C1BB"/>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9C1BB"/>
                      </a:solidFill>
                      <a:prstDash val="solid"/>
                      <a:round/>
                      <a:headEnd type="none" w="med" len="med"/>
                      <a:tailEnd type="none" w="med" len="med"/>
                    </a:lnB>
                    <a:solidFill>
                      <a:srgbClr val="E7F2EA"/>
                    </a:solidFill>
                  </a:tcPr>
                </a:tc>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Nothing</a:t>
                      </a:r>
                      <a:endParaRPr lang="en-US" sz="1300" dirty="0">
                        <a:latin typeface="DM Sans" charset="0"/>
                        <a:ea typeface="DM Sans" charset="0"/>
                        <a:cs typeface="DM Sans" charset="0"/>
                      </a:endParaRPr>
                    </a:p>
                  </a:txBody>
                  <a:tcPr marL="57785" marR="57785" marT="57785" marB="57785">
                    <a:lnL w="12700" cap="flat" cmpd="sng" algn="ctr">
                      <a:solidFill>
                        <a:srgbClr val="B9C1BB"/>
                      </a:solidFill>
                      <a:prstDash val="solid"/>
                      <a:round/>
                      <a:headEnd type="none" w="med" len="med"/>
                      <a:tailEnd type="none" w="med" len="med"/>
                    </a:lnL>
                    <a:lnR w="12700" cap="flat" cmpd="sng" algn="ctr">
                      <a:solidFill>
                        <a:srgbClr val="B9C1BB"/>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9C1BB"/>
                      </a:solidFill>
                      <a:prstDash val="solid"/>
                      <a:round/>
                      <a:headEnd type="none" w="med" len="med"/>
                      <a:tailEnd type="none" w="med" len="med"/>
                    </a:lnB>
                    <a:solidFill>
                      <a:srgbClr val="E7F2EA"/>
                    </a:solidFill>
                  </a:tcPr>
                </a:tc>
                <a:extLst>
                  <a:ext uri="{0D108BD9-81ED-4DB2-BD59-A6C34878D82A}">
                    <a16:rowId xmlns:a16="http://schemas.microsoft.com/office/drawing/2014/main" val="10002"/>
                  </a:ext>
                </a:extLst>
              </a:tr>
              <a:tr h="356870">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Canvass</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9C1BB"/>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Procurement</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9C1BB"/>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Awarded by procurement</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9C1BB"/>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Nothing</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9C1BB"/>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3"/>
                  </a:ext>
                </a:extLst>
              </a:tr>
              <a:tr h="356870">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Purchase order</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B9C1BB"/>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9C1BB"/>
                      </a:solidFill>
                      <a:prstDash val="solid"/>
                      <a:round/>
                      <a:headEnd type="none" w="med" len="med"/>
                      <a:tailEnd type="none" w="med" len="med"/>
                    </a:lnB>
                    <a:solidFill>
                      <a:srgbClr val="E7F2EA"/>
                    </a:solidFill>
                  </a:tcPr>
                </a:tc>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Procurement, Back Support</a:t>
                      </a:r>
                      <a:endParaRPr lang="en-US" sz="1300" dirty="0">
                        <a:latin typeface="DM Sans" charset="0"/>
                        <a:ea typeface="DM Sans" charset="0"/>
                        <a:cs typeface="DM Sans" charset="0"/>
                      </a:endParaRPr>
                    </a:p>
                  </a:txBody>
                  <a:tcPr marL="57785" marR="57785" marT="57785" marB="57785">
                    <a:lnL w="12700" cap="flat" cmpd="sng" algn="ctr">
                      <a:solidFill>
                        <a:srgbClr val="B9C1BB"/>
                      </a:solidFill>
                      <a:prstDash val="solid"/>
                      <a:round/>
                      <a:headEnd type="none" w="med" len="med"/>
                      <a:tailEnd type="none" w="med" len="med"/>
                    </a:lnL>
                    <a:lnR w="12700" cap="flat" cmpd="sng" algn="ctr">
                      <a:solidFill>
                        <a:srgbClr val="B9C1BB"/>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9C1BB"/>
                      </a:solidFill>
                      <a:prstDash val="solid"/>
                      <a:round/>
                      <a:headEnd type="none" w="med" len="med"/>
                      <a:tailEnd type="none" w="med" len="med"/>
                    </a:lnB>
                    <a:solidFill>
                      <a:srgbClr val="E7F2EA"/>
                    </a:solidFill>
                  </a:tcPr>
                </a:tc>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Purchasing Mgr (+ CEO &gt; ₱100k)</a:t>
                      </a:r>
                      <a:endParaRPr lang="en-US" sz="1300" dirty="0">
                        <a:latin typeface="DM Sans" charset="0"/>
                        <a:ea typeface="DM Sans" charset="0"/>
                        <a:cs typeface="DM Sans" charset="0"/>
                      </a:endParaRPr>
                    </a:p>
                  </a:txBody>
                  <a:tcPr marL="57785" marR="57785" marT="57785" marB="57785">
                    <a:lnL w="12700" cap="flat" cmpd="sng" algn="ctr">
                      <a:solidFill>
                        <a:srgbClr val="B9C1BB"/>
                      </a:solidFill>
                      <a:prstDash val="solid"/>
                      <a:round/>
                      <a:headEnd type="none" w="med" len="med"/>
                      <a:tailEnd type="none" w="med" len="med"/>
                    </a:lnL>
                    <a:lnR w="12700" cap="flat" cmpd="sng" algn="ctr">
                      <a:solidFill>
                        <a:srgbClr val="B9C1BB"/>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9C1BB"/>
                      </a:solidFill>
                      <a:prstDash val="solid"/>
                      <a:round/>
                      <a:headEnd type="none" w="med" len="med"/>
                      <a:tailEnd type="none" w="med" len="med"/>
                    </a:lnB>
                    <a:solidFill>
                      <a:srgbClr val="E7F2EA"/>
                    </a:solidFill>
                  </a:tcPr>
                </a:tc>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Re-commits at price</a:t>
                      </a:r>
                      <a:endParaRPr lang="en-US" sz="1300" dirty="0">
                        <a:latin typeface="DM Sans" charset="0"/>
                        <a:ea typeface="DM Sans" charset="0"/>
                        <a:cs typeface="DM Sans" charset="0"/>
                      </a:endParaRPr>
                    </a:p>
                  </a:txBody>
                  <a:tcPr marL="57785" marR="57785" marT="57785" marB="57785">
                    <a:lnL w="12700" cap="flat" cmpd="sng" algn="ctr">
                      <a:solidFill>
                        <a:srgbClr val="B9C1BB"/>
                      </a:solidFill>
                      <a:prstDash val="solid"/>
                      <a:round/>
                      <a:headEnd type="none" w="med" len="med"/>
                      <a:tailEnd type="none" w="med" len="med"/>
                    </a:lnL>
                    <a:lnR w="12700" cap="flat" cmpd="sng" algn="ctr">
                      <a:solidFill>
                        <a:srgbClr val="B9C1BB"/>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9C1BB"/>
                      </a:solidFill>
                      <a:prstDash val="solid"/>
                      <a:round/>
                      <a:headEnd type="none" w="med" len="med"/>
                      <a:tailEnd type="none" w="med" len="med"/>
                    </a:lnB>
                    <a:solidFill>
                      <a:srgbClr val="E7F2EA"/>
                    </a:solidFill>
                  </a:tcPr>
                </a:tc>
                <a:extLst>
                  <a:ext uri="{0D108BD9-81ED-4DB2-BD59-A6C34878D82A}">
                    <a16:rowId xmlns:a16="http://schemas.microsoft.com/office/drawing/2014/main" val="10004"/>
                  </a:ext>
                </a:extLst>
              </a:tr>
              <a:tr h="356870">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Incoming</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9C1BB"/>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Warehouse</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9C1BB"/>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Back Support › Purchasing Mgr</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9C1BB"/>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Incurs the cost</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9C1BB"/>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5"/>
                  </a:ext>
                </a:extLst>
              </a:tr>
              <a:tr h="356870">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Outgoing</a:t>
                      </a:r>
                      <a:endParaRPr lang="en-US" sz="1300" dirty="0">
                        <a:latin typeface="DM Sans" charset="0"/>
                        <a:ea typeface="DM Sans" charset="0"/>
                        <a:cs typeface="DM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B9C1BB"/>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9C1BB"/>
                      </a:solidFill>
                      <a:prstDash val="solid"/>
                      <a:round/>
                      <a:headEnd type="none" w="med" len="med"/>
                      <a:tailEnd type="none" w="med" len="med"/>
                    </a:lnB>
                    <a:solidFill>
                      <a:srgbClr val="E7F2EA"/>
                    </a:solidFill>
                  </a:tcPr>
                </a:tc>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Warehouse</a:t>
                      </a:r>
                      <a:endParaRPr lang="en-US" sz="1300" dirty="0">
                        <a:latin typeface="DM Sans" charset="0"/>
                        <a:ea typeface="DM Sans" charset="0"/>
                        <a:cs typeface="DM Sans" charset="0"/>
                      </a:endParaRPr>
                    </a:p>
                  </a:txBody>
                  <a:tcPr marL="57785" marR="57785" marT="57785" marB="57785">
                    <a:lnL w="12700" cap="flat" cmpd="sng" algn="ctr">
                      <a:solidFill>
                        <a:srgbClr val="B9C1BB"/>
                      </a:solidFill>
                      <a:prstDash val="solid"/>
                      <a:round/>
                      <a:headEnd type="none" w="med" len="med"/>
                      <a:tailEnd type="none" w="med" len="med"/>
                    </a:lnL>
                    <a:lnR w="12700" cap="flat" cmpd="sng" algn="ctr">
                      <a:solidFill>
                        <a:srgbClr val="B9C1BB"/>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9C1BB"/>
                      </a:solidFill>
                      <a:prstDash val="solid"/>
                      <a:round/>
                      <a:headEnd type="none" w="med" len="med"/>
                      <a:tailEnd type="none" w="med" len="med"/>
                    </a:lnB>
                    <a:solidFill>
                      <a:srgbClr val="E7F2EA"/>
                    </a:solidFill>
                  </a:tcPr>
                </a:tc>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Issuer’s supervisor</a:t>
                      </a:r>
                      <a:endParaRPr lang="en-US" sz="1300" dirty="0">
                        <a:latin typeface="DM Sans" charset="0"/>
                        <a:ea typeface="DM Sans" charset="0"/>
                        <a:cs typeface="DM Sans" charset="0"/>
                      </a:endParaRPr>
                    </a:p>
                  </a:txBody>
                  <a:tcPr marL="57785" marR="57785" marT="57785" marB="57785">
                    <a:lnL w="12700" cap="flat" cmpd="sng" algn="ctr">
                      <a:solidFill>
                        <a:srgbClr val="B9C1BB"/>
                      </a:solidFill>
                      <a:prstDash val="solid"/>
                      <a:round/>
                      <a:headEnd type="none" w="med" len="med"/>
                      <a:tailEnd type="none" w="med" len="med"/>
                    </a:lnL>
                    <a:lnR w="12700" cap="flat" cmpd="sng" algn="ctr">
                      <a:solidFill>
                        <a:srgbClr val="B9C1BB"/>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9C1BB"/>
                      </a:solidFill>
                      <a:prstDash val="solid"/>
                      <a:round/>
                      <a:headEnd type="none" w="med" len="med"/>
                      <a:tailEnd type="none" w="med" len="med"/>
                    </a:lnB>
                    <a:solidFill>
                      <a:srgbClr val="E7F2EA"/>
                    </a:solidFill>
                  </a:tcPr>
                </a:tc>
                <a:tc>
                  <a:txBody>
                    <a:bodyPr/>
                    <a:lstStyle/>
                    <a:p>
                      <a:pPr marL="0" indent="0">
                        <a:lnSpc>
                          <a:spcPts val="1820"/>
                        </a:lnSpc>
                        <a:buNone/>
                      </a:pPr>
                      <a:r>
                        <a:rPr lang="en-US" sz="1300" dirty="0">
                          <a:solidFill>
                            <a:srgbClr val="1B2238"/>
                          </a:solidFill>
                          <a:latin typeface="DM Sans" pitchFamily="34" charset="0"/>
                          <a:ea typeface="DM Sans" pitchFamily="34" charset="-122"/>
                          <a:cs typeface="DM Sans" pitchFamily="34" charset="-120"/>
                        </a:rPr>
                        <a:t>Charges the project</a:t>
                      </a:r>
                      <a:endParaRPr lang="en-US" sz="1300" dirty="0">
                        <a:latin typeface="DM Sans" charset="0"/>
                        <a:ea typeface="DM Sans" charset="0"/>
                        <a:cs typeface="DM Sans" charset="0"/>
                      </a:endParaRPr>
                    </a:p>
                  </a:txBody>
                  <a:tcPr marL="57785" marR="57785" marT="57785" marB="57785">
                    <a:lnL w="12700" cap="flat" cmpd="sng" algn="ctr">
                      <a:solidFill>
                        <a:srgbClr val="B9C1BB"/>
                      </a:solidFill>
                      <a:prstDash val="solid"/>
                      <a:round/>
                      <a:headEnd type="none" w="med" len="med"/>
                      <a:tailEnd type="none" w="med" len="med"/>
                    </a:lnL>
                    <a:lnR w="12700" cap="flat" cmpd="sng" algn="ctr">
                      <a:solidFill>
                        <a:srgbClr val="B9C1BB"/>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9C1BB"/>
                      </a:solidFill>
                      <a:prstDash val="solid"/>
                      <a:round/>
                      <a:headEnd type="none" w="med" len="med"/>
                      <a:tailEnd type="none" w="med" len="med"/>
                    </a:lnB>
                    <a:solidFill>
                      <a:srgbClr val="E7F2EA"/>
                    </a:solidFill>
                  </a:tcPr>
                </a:tc>
                <a:extLst>
                  <a:ext uri="{0D108BD9-81ED-4DB2-BD59-A6C34878D82A}">
                    <a16:rowId xmlns:a16="http://schemas.microsoft.com/office/drawing/2014/main" val="10006"/>
                  </a:ext>
                </a:extLst>
              </a:tr>
            </a:tbl>
          </a:graphicData>
        </a:graphic>
      </p:graphicFrame>
      <p:sp>
        <p:nvSpPr>
          <p:cNvPr id="5" name="Text 2"/>
          <p:cNvSpPr/>
          <p:nvPr/>
        </p:nvSpPr>
        <p:spPr>
          <a:xfrm>
            <a:off x="812800" y="4480570"/>
            <a:ext cx="10566400" cy="751840"/>
          </a:xfrm>
          <a:prstGeom prst="roundRect">
            <a:avLst>
              <a:gd name="adj" fmla="val 10135"/>
            </a:avLst>
          </a:prstGeom>
          <a:solidFill>
            <a:srgbClr val="E7F2EA"/>
          </a:solidFill>
          <a:ln/>
        </p:spPr>
        <p:txBody>
          <a:bodyPr wrap="square" lIns="155482" tIns="104682" rIns="0" bIns="79282" rtlCol="0" anchor="t">
            <a:normAutofit/>
          </a:bodyPr>
          <a:lstStyle/>
          <a:p>
            <a:pPr marL="0" indent="0" algn="l">
              <a:lnSpc>
                <a:spcPts val="1960"/>
              </a:lnSpc>
              <a:buNone/>
            </a:pPr>
            <a:r>
              <a:rPr lang="en-US" sz="1400" dirty="0">
                <a:solidFill>
                  <a:srgbClr val="1B2238"/>
                </a:solidFill>
                <a:latin typeface="DM Sans" pitchFamily="34" charset="0"/>
                <a:ea typeface="DM Sans" pitchFamily="34" charset="-122"/>
                <a:cs typeface="DM Sans" pitchFamily="34" charset="-120"/>
              </a:rPr>
              <a:t>Direct-to-job purchases charge the project at </a:t>
            </a:r>
            <a:r>
              <a:rPr lang="en-US" sz="1400" b="1" dirty="0">
                <a:solidFill>
                  <a:srgbClr val="1B2238"/>
                </a:solidFill>
                <a:latin typeface="DM Sans" pitchFamily="34" charset="0"/>
                <a:ea typeface="DM Sans" pitchFamily="34" charset="-122"/>
                <a:cs typeface="DM Sans" pitchFamily="34" charset="-120"/>
              </a:rPr>
              <a:t>receiving</a:t>
            </a:r>
            <a:r>
              <a:rPr lang="en-US" sz="1400" dirty="0">
                <a:solidFill>
                  <a:srgbClr val="1B2238"/>
                </a:solidFill>
                <a:latin typeface="DM Sans" pitchFamily="34" charset="0"/>
                <a:ea typeface="DM Sans" pitchFamily="34" charset="-122"/>
                <a:cs typeface="DM Sans" pitchFamily="34" charset="-120"/>
              </a:rPr>
              <a:t>. Stock purchases build inventory and charge a project only when </a:t>
            </a:r>
            <a:r>
              <a:rPr lang="en-US" sz="1400" b="1" dirty="0">
                <a:solidFill>
                  <a:srgbClr val="1B2238"/>
                </a:solidFill>
                <a:latin typeface="DM Sans" pitchFamily="34" charset="0"/>
                <a:ea typeface="DM Sans" pitchFamily="34" charset="-122"/>
                <a:cs typeface="DM Sans" pitchFamily="34" charset="-120"/>
              </a:rPr>
              <a:t>issued</a:t>
            </a:r>
            <a:r>
              <a:rPr lang="en-US" sz="1400" dirty="0">
                <a:solidFill>
                  <a:srgbClr val="1B2238"/>
                </a:solidFill>
                <a:latin typeface="DM Sans" pitchFamily="34" charset="0"/>
                <a:ea typeface="DM Sans" pitchFamily="34" charset="-122"/>
                <a:cs typeface="DM Sans" pitchFamily="34" charset="-120"/>
              </a:rPr>
              <a:t>.</a:t>
            </a:r>
            <a:endParaRPr lang="en-US" sz="1400" dirty="0"/>
          </a:p>
        </p:txBody>
      </p:sp>
      <p:sp>
        <p:nvSpPr>
          <p:cNvPr id="6" name="Text 3"/>
          <p:cNvSpPr/>
          <p:nvPr/>
        </p:nvSpPr>
        <p:spPr>
          <a:xfrm>
            <a:off x="812800" y="6238255"/>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DM Sans" pitchFamily="34" charset="0"/>
                <a:ea typeface="DM Sans" pitchFamily="34" charset="-122"/>
                <a:cs typeface="DM Sans" pitchFamily="34" charset="-120"/>
              </a:rPr>
              <a:t>G-CORE Training · G-CHAIN · The flow</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E7D41"/>
                </a:solidFill>
                <a:latin typeface="DM Sans" pitchFamily="34" charset="0"/>
                <a:ea typeface="DM Sans" pitchFamily="34" charset="-122"/>
                <a:cs typeface="DM Sans" pitchFamily="34" charset="-120"/>
              </a:rPr>
              <a:t>G-CHAIN · PURCHASE REQUEST</a:t>
            </a:r>
            <a:endParaRPr lang="en-US" sz="1200" dirty="0"/>
          </a:p>
        </p:txBody>
      </p:sp>
      <p:sp>
        <p:nvSpPr>
          <p:cNvPr id="3" name="Text 1"/>
          <p:cNvSpPr>
            <a:spLocks noGrp="1"/>
          </p:cNvSpPr>
          <p:nvPr>
            <p:ph type="title"/>
          </p:nvPr>
        </p:nvSpPr>
        <p:spPr>
          <a:xfrm>
            <a:off x="812800" y="112777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B2238"/>
                </a:solidFill>
                <a:latin typeface="Domine" pitchFamily="18" charset="0"/>
                <a:ea typeface="Domine" pitchFamily="18" charset="-122"/>
                <a:cs typeface="Domine" pitchFamily="18" charset="-120"/>
              </a:rPr>
              <a:t>A full-page requisition with a live budget</a:t>
            </a:r>
            <a:endParaRPr lang="en-US" sz="3000" dirty="0"/>
          </a:p>
        </p:txBody>
      </p:sp>
      <p:sp>
        <p:nvSpPr>
          <p:cNvPr id="4" name="Text 2"/>
          <p:cNvSpPr/>
          <p:nvPr/>
        </p:nvSpPr>
        <p:spPr>
          <a:xfrm>
            <a:off x="812800" y="1769120"/>
            <a:ext cx="6121908" cy="541020"/>
          </a:xfrm>
          <a:prstGeom prst="rect">
            <a:avLst/>
          </a:prstGeom>
          <a:noFill/>
          <a:ln/>
        </p:spPr>
        <p:txBody>
          <a:bodyPr wrap="square" lIns="0" tIns="0" rIns="0" bIns="0" rtlCol="0" anchor="t">
            <a:normAutofit/>
          </a:bodyPr>
          <a:lstStyle/>
          <a:p>
            <a:pPr marL="0" indent="0" algn="l">
              <a:lnSpc>
                <a:spcPts val="2030"/>
              </a:lnSpc>
              <a:buNone/>
            </a:pPr>
            <a:r>
              <a:rPr lang="en-US" sz="1400" b="1" dirty="0">
                <a:solidFill>
                  <a:srgbClr val="1B2238"/>
                </a:solidFill>
                <a:latin typeface="DM Sans" pitchFamily="34" charset="0"/>
                <a:ea typeface="DM Sans" pitchFamily="34" charset="-122"/>
                <a:cs typeface="DM Sans" pitchFamily="34" charset="-120"/>
              </a:rPr>
              <a:t>Start from the project’s Purchase Requisition tab</a:t>
            </a:r>
            <a:r>
              <a:rPr lang="en-US" sz="1400" dirty="0">
                <a:solidFill>
                  <a:srgbClr val="1B2238"/>
                </a:solidFill>
                <a:latin typeface="DM Sans" pitchFamily="34" charset="0"/>
                <a:ea typeface="DM Sans" pitchFamily="34" charset="-122"/>
                <a:cs typeface="DM Sans" pitchFamily="34" charset="-120"/>
              </a:rPr>
              <a:t> — project fixed, direct to project. Stock replenishment starts from the G-CHAIN register.</a:t>
            </a:r>
            <a:endParaRPr lang="en-US" sz="1400" dirty="0"/>
          </a:p>
        </p:txBody>
      </p:sp>
      <p:sp>
        <p:nvSpPr>
          <p:cNvPr id="5" name="Text 3"/>
          <p:cNvSpPr/>
          <p:nvPr/>
        </p:nvSpPr>
        <p:spPr>
          <a:xfrm>
            <a:off x="812800" y="2399035"/>
            <a:ext cx="6121908" cy="541020"/>
          </a:xfrm>
          <a:prstGeom prst="rect">
            <a:avLst/>
          </a:prstGeom>
          <a:noFill/>
          <a:ln/>
        </p:spPr>
        <p:txBody>
          <a:bodyPr wrap="square" lIns="0" tIns="0" rIns="0" bIns="0" rtlCol="0" anchor="t">
            <a:normAutofit/>
          </a:bodyPr>
          <a:lstStyle/>
          <a:p>
            <a:pPr marL="0" indent="0" algn="l">
              <a:lnSpc>
                <a:spcPts val="2030"/>
              </a:lnSpc>
              <a:buNone/>
            </a:pPr>
            <a:r>
              <a:rPr lang="en-US" sz="1400" b="1" dirty="0">
                <a:solidFill>
                  <a:srgbClr val="1B2238"/>
                </a:solidFill>
                <a:latin typeface="DM Sans" pitchFamily="34" charset="0"/>
                <a:ea typeface="DM Sans" pitchFamily="34" charset="-122"/>
                <a:cs typeface="DM Sans" pitchFamily="34" charset="-120"/>
              </a:rPr>
              <a:t>Fill lines three ways:</a:t>
            </a:r>
            <a:r>
              <a:rPr lang="en-US" sz="1400" dirty="0">
                <a:solidFill>
                  <a:srgbClr val="1B2238"/>
                </a:solidFill>
                <a:latin typeface="DM Sans" pitchFamily="34" charset="0"/>
                <a:ea typeface="DM Sans" pitchFamily="34" charset="-122"/>
                <a:cs typeface="DM Sans" pitchFamily="34" charset="-120"/>
              </a:rPr>
              <a:t> type and pick (costing lines, item master), </a:t>
            </a:r>
            <a:r>
              <a:rPr lang="en-US" sz="1400" b="1" dirty="0">
                <a:solidFill>
                  <a:srgbClr val="1B2238"/>
                </a:solidFill>
                <a:latin typeface="DM Sans" pitchFamily="34" charset="0"/>
                <a:ea typeface="DM Sans" pitchFamily="34" charset="-122"/>
                <a:cs typeface="DM Sans" pitchFamily="34" charset="-120"/>
              </a:rPr>
              <a:t>Add from costing…</a:t>
            </a:r>
            <a:r>
              <a:rPr lang="en-US" sz="1400" dirty="0">
                <a:solidFill>
                  <a:srgbClr val="1B2238"/>
                </a:solidFill>
                <a:latin typeface="DM Sans" pitchFamily="34" charset="0"/>
                <a:ea typeface="DM Sans" pitchFamily="34" charset="-122"/>
                <a:cs typeface="DM Sans" pitchFamily="34" charset="-120"/>
              </a:rPr>
              <a:t>, or </a:t>
            </a:r>
            <a:r>
              <a:rPr lang="en-US" sz="1400" b="1" dirty="0">
                <a:solidFill>
                  <a:srgbClr val="1B2238"/>
                </a:solidFill>
                <a:latin typeface="DM Sans" pitchFamily="34" charset="0"/>
                <a:ea typeface="DM Sans" pitchFamily="34" charset="-122"/>
                <a:cs typeface="DM Sans" pitchFamily="34" charset="-120"/>
              </a:rPr>
              <a:t>Import CSV</a:t>
            </a:r>
            <a:r>
              <a:rPr lang="en-US" sz="1400" dirty="0">
                <a:solidFill>
                  <a:srgbClr val="1B2238"/>
                </a:solidFill>
                <a:latin typeface="DM Sans" pitchFamily="34" charset="0"/>
                <a:ea typeface="DM Sans" pitchFamily="34" charset="-122"/>
                <a:cs typeface="DM Sans" pitchFamily="34" charset="-120"/>
              </a:rPr>
              <a:t> / paste a block.</a:t>
            </a:r>
            <a:endParaRPr lang="en-US" sz="1400" dirty="0"/>
          </a:p>
        </p:txBody>
      </p:sp>
      <p:sp>
        <p:nvSpPr>
          <p:cNvPr id="6" name="Text 4"/>
          <p:cNvSpPr/>
          <p:nvPr/>
        </p:nvSpPr>
        <p:spPr>
          <a:xfrm>
            <a:off x="812800" y="3028950"/>
            <a:ext cx="6121908" cy="54102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1B2238"/>
                </a:solidFill>
                <a:latin typeface="DM Sans" pitchFamily="34" charset="0"/>
                <a:ea typeface="DM Sans" pitchFamily="34" charset="-122"/>
                <a:cs typeface="DM Sans" pitchFamily="34" charset="-120"/>
              </a:rPr>
              <a:t>Each line: budget line, part no., item, unit, qty, estimated unit cost. A preferred supplier fills from the costing’s suppliers.</a:t>
            </a:r>
            <a:endParaRPr lang="en-US" sz="1400" dirty="0"/>
          </a:p>
        </p:txBody>
      </p:sp>
      <p:sp>
        <p:nvSpPr>
          <p:cNvPr id="7" name="Shape 5"/>
          <p:cNvSpPr/>
          <p:nvPr/>
        </p:nvSpPr>
        <p:spPr>
          <a:xfrm>
            <a:off x="6959600" y="1769120"/>
            <a:ext cx="4419600" cy="2392680"/>
          </a:xfrm>
          <a:prstGeom prst="roundRect">
            <a:avLst>
              <a:gd name="adj" fmla="val 4246"/>
            </a:avLst>
          </a:prstGeom>
          <a:solidFill>
            <a:srgbClr val="1B2238"/>
          </a:solidFill>
          <a:ln/>
        </p:spPr>
      </p:sp>
      <p:sp>
        <p:nvSpPr>
          <p:cNvPr id="8" name="Text 6"/>
          <p:cNvSpPr/>
          <p:nvPr/>
        </p:nvSpPr>
        <p:spPr>
          <a:xfrm>
            <a:off x="7188200" y="1997720"/>
            <a:ext cx="408127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FD3AE"/>
                </a:solidFill>
                <a:latin typeface="DM Sans" pitchFamily="34" charset="0"/>
                <a:ea typeface="DM Sans" pitchFamily="34" charset="-122"/>
                <a:cs typeface="DM Sans" pitchFamily="34" charset="-120"/>
              </a:rPr>
              <a:t>BUDGET — LIVE</a:t>
            </a:r>
            <a:endParaRPr lang="en-US" sz="1200" dirty="0"/>
          </a:p>
        </p:txBody>
      </p:sp>
      <p:sp>
        <p:nvSpPr>
          <p:cNvPr id="9" name="Text 7"/>
          <p:cNvSpPr/>
          <p:nvPr/>
        </p:nvSpPr>
        <p:spPr>
          <a:xfrm>
            <a:off x="7188200" y="2299965"/>
            <a:ext cx="408127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Beside the lines: available per budget line, less what you ask for.</a:t>
            </a:r>
            <a:endParaRPr lang="en-US" sz="1400" dirty="0"/>
          </a:p>
        </p:txBody>
      </p:sp>
      <p:sp>
        <p:nvSpPr>
          <p:cNvPr id="10" name="Text 8"/>
          <p:cNvSpPr/>
          <p:nvPr/>
        </p:nvSpPr>
        <p:spPr>
          <a:xfrm>
            <a:off x="7188200" y="2886720"/>
            <a:ext cx="4081272" cy="50419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C9CEDB"/>
                </a:solidFill>
                <a:latin typeface="DM Sans" pitchFamily="34" charset="0"/>
                <a:ea typeface="DM Sans" pitchFamily="34" charset="-122"/>
                <a:cs typeface="DM Sans" pitchFamily="34" charset="-120"/>
              </a:rPr>
              <a:t>Red = over. Over budget is </a:t>
            </a:r>
            <a:r>
              <a:rPr lang="en-US" sz="1300" b="1" dirty="0">
                <a:solidFill>
                  <a:srgbClr val="C9CEDB"/>
                </a:solidFill>
                <a:latin typeface="DM Sans" pitchFamily="34" charset="0"/>
                <a:ea typeface="DM Sans" pitchFamily="34" charset="-122"/>
                <a:cs typeface="DM Sans" pitchFamily="34" charset="-120"/>
              </a:rPr>
              <a:t>refused at submit</a:t>
            </a:r>
            <a:r>
              <a:rPr lang="en-US" sz="1300" dirty="0">
                <a:solidFill>
                  <a:srgbClr val="C9CEDB"/>
                </a:solidFill>
                <a:latin typeface="DM Sans" pitchFamily="34" charset="0"/>
                <a:ea typeface="DM Sans" pitchFamily="34" charset="-122"/>
                <a:cs typeface="DM Sans" pitchFamily="34" charset="-120"/>
              </a:rPr>
              <a:t> while the over-budget guard is on.</a:t>
            </a:r>
            <a:endParaRPr lang="en-US" sz="1300" dirty="0"/>
          </a:p>
        </p:txBody>
      </p:sp>
      <p:sp>
        <p:nvSpPr>
          <p:cNvPr id="11" name="Text 9"/>
          <p:cNvSpPr/>
          <p:nvPr/>
        </p:nvSpPr>
        <p:spPr>
          <a:xfrm>
            <a:off x="7188200" y="3454400"/>
            <a:ext cx="4081272" cy="50419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C9CEDB"/>
                </a:solidFill>
                <a:latin typeface="DM Sans" pitchFamily="34" charset="0"/>
                <a:ea typeface="DM Sans" pitchFamily="34" charset="-122"/>
                <a:cs typeface="DM Sans" pitchFamily="34" charset="-120"/>
              </a:rPr>
              <a:t>Route: </a:t>
            </a:r>
            <a:r>
              <a:rPr lang="en-US" sz="1300" b="1" dirty="0">
                <a:solidFill>
                  <a:srgbClr val="C9CEDB"/>
                </a:solidFill>
                <a:latin typeface="DM Sans" pitchFamily="34" charset="0"/>
                <a:ea typeface="DM Sans" pitchFamily="34" charset="-122"/>
                <a:cs typeface="DM Sans" pitchFamily="34" charset="-120"/>
              </a:rPr>
              <a:t>Technical Manager › Team Leader</a:t>
            </a:r>
            <a:r>
              <a:rPr lang="en-US" sz="1300" dirty="0">
                <a:solidFill>
                  <a:srgbClr val="C9CEDB"/>
                </a:solidFill>
                <a:latin typeface="DM Sans" pitchFamily="34" charset="0"/>
                <a:ea typeface="DM Sans" pitchFamily="34" charset="-122"/>
                <a:cs typeface="DM Sans" pitchFamily="34" charset="-120"/>
              </a:rPr>
              <a:t>. Approved, it commits the estimate.</a:t>
            </a:r>
            <a:endParaRPr lang="en-US" sz="1300" dirty="0"/>
          </a:p>
        </p:txBody>
      </p:sp>
      <p:sp>
        <p:nvSpPr>
          <p:cNvPr id="12" name="Text 10"/>
          <p:cNvSpPr/>
          <p:nvPr/>
        </p:nvSpPr>
        <p:spPr>
          <a:xfrm>
            <a:off x="812800" y="6238255"/>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DM Sans" pitchFamily="34" charset="0"/>
                <a:ea typeface="DM Sans" pitchFamily="34" charset="-122"/>
                <a:cs typeface="DM Sans" pitchFamily="34" charset="-120"/>
              </a:rPr>
              <a:t>G-CORE Training · G-CHAIN · Purchase Requests</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B2238"/>
        </a:solidFill>
        <a:effectLst/>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FD3AE"/>
                </a:solidFill>
                <a:latin typeface="DM Sans" pitchFamily="34" charset="0"/>
                <a:ea typeface="DM Sans" pitchFamily="34" charset="-122"/>
                <a:cs typeface="DM Sans" pitchFamily="34" charset="-120"/>
              </a:rPr>
              <a:t>ON SCREEN · G-CHAIN PROCUREMENT</a:t>
            </a:r>
            <a:endParaRPr lang="en-US" sz="1200" dirty="0"/>
          </a:p>
        </p:txBody>
      </p:sp>
      <p:sp>
        <p:nvSpPr>
          <p:cNvPr id="3" name="Text 1"/>
          <p:cNvSpPr>
            <a:spLocks noGrp="1"/>
          </p:cNvSpPr>
          <p:nvPr>
            <p:ph type="title"/>
          </p:nvPr>
        </p:nvSpPr>
        <p:spPr>
          <a:xfrm>
            <a:off x="609600" y="746770"/>
            <a:ext cx="11301984"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F7F5F0"/>
                </a:solidFill>
                <a:latin typeface="Domine" pitchFamily="18" charset="0"/>
                <a:ea typeface="Domine" pitchFamily="18" charset="-122"/>
                <a:cs typeface="Domine" pitchFamily="18" charset="-120"/>
              </a:rPr>
              <a:t>The purchase requisition page</a:t>
            </a:r>
            <a:endParaRPr lang="en-US" sz="2400" dirty="0"/>
          </a:p>
        </p:txBody>
      </p:sp>
      <p:sp>
        <p:nvSpPr>
          <p:cNvPr id="4" name="Shape 2"/>
          <p:cNvSpPr/>
          <p:nvPr/>
        </p:nvSpPr>
        <p:spPr>
          <a:xfrm>
            <a:off x="609600" y="1173485"/>
            <a:ext cx="8001000" cy="4502150"/>
          </a:xfrm>
          <a:prstGeom prst="roundRect">
            <a:avLst>
              <a:gd name="adj" fmla="val 1693"/>
            </a:avLst>
          </a:prstGeom>
          <a:solidFill>
            <a:srgbClr val="F7F5F0"/>
          </a:solidFill>
          <a:ln/>
        </p:spPr>
      </p:sp>
      <p:pic>
        <p:nvPicPr>
          <p:cNvPr id="5" name="Image 0" descr="G-CORE screen: The purchase requisition page"/>
          <p:cNvPicPr>
            <a:picLocks noChangeAspect="1"/>
          </p:cNvPicPr>
          <p:nvPr/>
        </p:nvPicPr>
        <p:blipFill>
          <a:blip r:embed="rId3"/>
          <a:srcRect l="-106" r="-106"/>
          <a:stretch/>
        </p:blipFill>
        <p:spPr>
          <a:xfrm>
            <a:off x="622300" y="1186185"/>
            <a:ext cx="7975600" cy="4476750"/>
          </a:xfrm>
          <a:prstGeom prst="roundRect">
            <a:avLst>
              <a:gd name="adj" fmla="val 1418"/>
            </a:avLst>
          </a:prstGeom>
        </p:spPr>
      </p:pic>
      <p:sp>
        <p:nvSpPr>
          <p:cNvPr id="6" name="Shape 3"/>
          <p:cNvSpPr/>
          <p:nvPr/>
        </p:nvSpPr>
        <p:spPr>
          <a:xfrm>
            <a:off x="615950" y="1179835"/>
            <a:ext cx="7988300" cy="4489450"/>
          </a:xfrm>
          <a:prstGeom prst="roundRect">
            <a:avLst>
              <a:gd name="adj" fmla="val 1556"/>
            </a:avLst>
          </a:prstGeom>
          <a:noFill/>
          <a:ln w="12700">
            <a:solidFill>
              <a:srgbClr val="3A4466"/>
            </a:solidFill>
            <a:prstDash val="solid"/>
          </a:ln>
        </p:spPr>
      </p:sp>
      <p:sp>
        <p:nvSpPr>
          <p:cNvPr id="7" name="Text 4"/>
          <p:cNvSpPr/>
          <p:nvPr/>
        </p:nvSpPr>
        <p:spPr>
          <a:xfrm>
            <a:off x="8864600" y="1275085"/>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9FD3A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1</a:t>
            </a:r>
            <a:endParaRPr lang="en-US" sz="1300" dirty="0"/>
          </a:p>
        </p:txBody>
      </p:sp>
      <p:sp>
        <p:nvSpPr>
          <p:cNvPr id="8" name="Text 5"/>
          <p:cNvSpPr/>
          <p:nvPr/>
        </p:nvSpPr>
        <p:spPr>
          <a:xfrm>
            <a:off x="9283700" y="1275085"/>
            <a:ext cx="2367661"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Header: kind, project or warehouse, purpose, needed by.</a:t>
            </a:r>
            <a:endParaRPr lang="en-US" sz="1400" dirty="0"/>
          </a:p>
        </p:txBody>
      </p:sp>
      <p:sp>
        <p:nvSpPr>
          <p:cNvPr id="9" name="Text 6"/>
          <p:cNvSpPr/>
          <p:nvPr/>
        </p:nvSpPr>
        <p:spPr>
          <a:xfrm>
            <a:off x="8864600" y="2225055"/>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9FD3A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2</a:t>
            </a:r>
            <a:endParaRPr lang="en-US" sz="1300" dirty="0"/>
          </a:p>
        </p:txBody>
      </p:sp>
      <p:sp>
        <p:nvSpPr>
          <p:cNvPr id="10" name="Text 7"/>
          <p:cNvSpPr/>
          <p:nvPr/>
        </p:nvSpPr>
        <p:spPr>
          <a:xfrm>
            <a:off x="9283700" y="2225055"/>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Lines: budget line, part no., item, qty, est. cost.</a:t>
            </a:r>
            <a:endParaRPr lang="en-US" sz="1400" dirty="0"/>
          </a:p>
        </p:txBody>
      </p:sp>
      <p:sp>
        <p:nvSpPr>
          <p:cNvPr id="11" name="Text 8"/>
          <p:cNvSpPr/>
          <p:nvPr/>
        </p:nvSpPr>
        <p:spPr>
          <a:xfrm>
            <a:off x="8864600" y="2926085"/>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9FD3A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3</a:t>
            </a:r>
            <a:endParaRPr lang="en-US" sz="1300" dirty="0"/>
          </a:p>
        </p:txBody>
      </p:sp>
      <p:sp>
        <p:nvSpPr>
          <p:cNvPr id="12" name="Text 9"/>
          <p:cNvSpPr/>
          <p:nvPr/>
        </p:nvSpPr>
        <p:spPr>
          <a:xfrm>
            <a:off x="9283700" y="2926085"/>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Import CSV or paste rows from Excel.</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E7D41"/>
                </a:solidFill>
                <a:latin typeface="DM Sans" pitchFamily="34" charset="0"/>
                <a:ea typeface="DM Sans" pitchFamily="34" charset="-122"/>
                <a:cs typeface="DM Sans" pitchFamily="34" charset="-120"/>
              </a:rPr>
              <a:t>G-CHAIN · RFQ AND CANVASS</a:t>
            </a:r>
            <a:endParaRPr lang="en-US" sz="1200" dirty="0"/>
          </a:p>
        </p:txBody>
      </p:sp>
      <p:sp>
        <p:nvSpPr>
          <p:cNvPr id="3" name="Text 1"/>
          <p:cNvSpPr>
            <a:spLocks noGrp="1"/>
          </p:cNvSpPr>
          <p:nvPr>
            <p:ph type="title"/>
          </p:nvPr>
        </p:nvSpPr>
        <p:spPr>
          <a:xfrm>
            <a:off x="812800" y="112777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B2238"/>
                </a:solidFill>
                <a:latin typeface="Domine" pitchFamily="18" charset="0"/>
                <a:ea typeface="Domine" pitchFamily="18" charset="-122"/>
                <a:cs typeface="Domine" pitchFamily="18" charset="-120"/>
              </a:rPr>
              <a:t>Ask suppliers, compare, award</a:t>
            </a:r>
            <a:endParaRPr lang="en-US" sz="3000" dirty="0"/>
          </a:p>
        </p:txBody>
      </p:sp>
      <p:sp>
        <p:nvSpPr>
          <p:cNvPr id="4" name="Shape 2"/>
          <p:cNvSpPr/>
          <p:nvPr/>
        </p:nvSpPr>
        <p:spPr>
          <a:xfrm>
            <a:off x="815975" y="1772295"/>
            <a:ext cx="5175250" cy="2244090"/>
          </a:xfrm>
          <a:prstGeom prst="roundRect">
            <a:avLst>
              <a:gd name="adj" fmla="val 4386"/>
            </a:avLst>
          </a:prstGeom>
          <a:solidFill>
            <a:srgbClr val="FFFDF8"/>
          </a:solidFill>
          <a:ln w="6350">
            <a:solidFill>
              <a:srgbClr val="E4DFD3"/>
            </a:solidFill>
            <a:prstDash val="solid"/>
          </a:ln>
        </p:spPr>
      </p:sp>
      <p:sp>
        <p:nvSpPr>
          <p:cNvPr id="5" name="Text 3"/>
          <p:cNvSpPr/>
          <p:nvPr/>
        </p:nvSpPr>
        <p:spPr>
          <a:xfrm>
            <a:off x="1021080" y="1977405"/>
            <a:ext cx="4907991"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B2238"/>
                </a:solidFill>
                <a:latin typeface="DM Sans" pitchFamily="34" charset="0"/>
                <a:ea typeface="DM Sans" pitchFamily="34" charset="-122"/>
                <a:cs typeface="DM Sans" pitchFamily="34" charset="-120"/>
              </a:rPr>
              <a:t>Request for Quotation</a:t>
            </a:r>
            <a:endParaRPr lang="en-US" sz="1700" dirty="0"/>
          </a:p>
        </p:txBody>
      </p:sp>
      <p:sp>
        <p:nvSpPr>
          <p:cNvPr id="6" name="Text 4"/>
          <p:cNvSpPr/>
          <p:nvPr/>
        </p:nvSpPr>
        <p:spPr>
          <a:xfrm>
            <a:off x="1112774" y="2325365"/>
            <a:ext cx="4808677" cy="1511300"/>
          </a:xfrm>
          <a:prstGeom prst="rect">
            <a:avLst/>
          </a:prstGeom>
          <a:noFill/>
          <a:ln/>
        </p:spPr>
        <p:txBody>
          <a:bodyPr wrap="square" lIns="0" tIns="0" rIns="0" bIns="0" rtlCol="0" anchor="t">
            <a:normAutofit/>
          </a:bodyPr>
          <a:lstStyle/>
          <a:p>
            <a:pPr marL="162306" indent="-162306" algn="l">
              <a:lnSpc>
                <a:spcPts val="1950"/>
              </a:lnSpc>
              <a:buSzPct val="100000"/>
              <a:buChar char="•"/>
            </a:pPr>
            <a:r>
              <a:rPr lang="en-US" sz="1300" dirty="0">
                <a:solidFill>
                  <a:srgbClr val="4A5160"/>
                </a:solidFill>
                <a:latin typeface="DM Sans" pitchFamily="34" charset="0"/>
                <a:ea typeface="DM Sans" pitchFamily="34" charset="-122"/>
                <a:cs typeface="DM Sans" pitchFamily="34" charset="-120"/>
              </a:rPr>
              <a:t>From an </a:t>
            </a:r>
            <a:r>
              <a:rPr lang="en-US" sz="1300" b="1" dirty="0">
                <a:solidFill>
                  <a:srgbClr val="4A5160"/>
                </a:solidFill>
                <a:latin typeface="DM Sans" pitchFamily="34" charset="0"/>
                <a:ea typeface="DM Sans" pitchFamily="34" charset="-122"/>
                <a:cs typeface="DM Sans" pitchFamily="34" charset="-120"/>
              </a:rPr>
              <a:t>approved</a:t>
            </a:r>
            <a:r>
              <a:rPr lang="en-US" sz="1300" dirty="0">
                <a:solidFill>
                  <a:srgbClr val="4A5160"/>
                </a:solidFill>
                <a:latin typeface="DM Sans" pitchFamily="34" charset="0"/>
                <a:ea typeface="DM Sans" pitchFamily="34" charset="-122"/>
                <a:cs typeface="DM Sans" pitchFamily="34" charset="-120"/>
              </a:rPr>
              <a:t> PR: “Request quotations”</a:t>
            </a:r>
            <a:endParaRPr lang="en-US" sz="1300" dirty="0"/>
          </a:p>
          <a:p>
            <a:pPr marL="162306" indent="-162306" algn="l">
              <a:lnSpc>
                <a:spcPts val="1950"/>
              </a:lnSpc>
              <a:buSzPct val="100000"/>
              <a:buChar char="•"/>
            </a:pPr>
            <a:r>
              <a:rPr lang="en-US" sz="1300" dirty="0">
                <a:solidFill>
                  <a:srgbClr val="4A5160"/>
                </a:solidFill>
                <a:latin typeface="DM Sans" pitchFamily="34" charset="0"/>
                <a:ea typeface="DM Sans" pitchFamily="34" charset="-122"/>
                <a:cs typeface="DM Sans" pitchFamily="34" charset="-120"/>
              </a:rPr>
              <a:t>Tick the lines, add the suppliers asked</a:t>
            </a:r>
            <a:endParaRPr lang="en-US" sz="1300" dirty="0"/>
          </a:p>
          <a:p>
            <a:pPr marL="162306" indent="-162306" algn="l">
              <a:lnSpc>
                <a:spcPts val="1950"/>
              </a:lnSpc>
              <a:buSzPct val="100000"/>
              <a:buChar char="•"/>
            </a:pPr>
            <a:r>
              <a:rPr lang="en-US" sz="1300" b="1" dirty="0">
                <a:solidFill>
                  <a:srgbClr val="4A5160"/>
                </a:solidFill>
                <a:latin typeface="DM Sans" pitchFamily="34" charset="0"/>
                <a:ea typeface="DM Sans" pitchFamily="34" charset="-122"/>
                <a:cs typeface="DM Sans" pitchFamily="34" charset="-120"/>
              </a:rPr>
              <a:t>Print one paper per supplier</a:t>
            </a:r>
            <a:r>
              <a:rPr lang="en-US" sz="1300" dirty="0">
                <a:solidFill>
                  <a:srgbClr val="4A5160"/>
                </a:solidFill>
                <a:latin typeface="DM Sans" pitchFamily="34" charset="0"/>
                <a:ea typeface="DM Sans" pitchFamily="34" charset="-122"/>
                <a:cs typeface="DM Sans" pitchFamily="34" charset="-120"/>
              </a:rPr>
              <a:t> — never another’s name or price</a:t>
            </a:r>
            <a:endParaRPr lang="en-US" sz="1300" dirty="0"/>
          </a:p>
          <a:p>
            <a:pPr marL="162306" indent="-162306" algn="l">
              <a:lnSpc>
                <a:spcPts val="1950"/>
              </a:lnSpc>
              <a:buSzPct val="100000"/>
              <a:buChar char="•"/>
            </a:pPr>
            <a:r>
              <a:rPr lang="en-US" sz="1300" dirty="0">
                <a:solidFill>
                  <a:srgbClr val="4A5160"/>
                </a:solidFill>
                <a:latin typeface="DM Sans" pitchFamily="34" charset="0"/>
                <a:ea typeface="DM Sans" pitchFamily="34" charset="-122"/>
                <a:cs typeface="DM Sans" pitchFamily="34" charset="-120"/>
              </a:rPr>
              <a:t>Mark sent, then record each supplier’s quote per line and attach their paper</a:t>
            </a:r>
            <a:endParaRPr lang="en-US" sz="1300" dirty="0"/>
          </a:p>
        </p:txBody>
      </p:sp>
      <p:sp>
        <p:nvSpPr>
          <p:cNvPr id="7" name="Shape 5"/>
          <p:cNvSpPr/>
          <p:nvPr/>
        </p:nvSpPr>
        <p:spPr>
          <a:xfrm>
            <a:off x="6200775" y="1772295"/>
            <a:ext cx="5175250" cy="2244090"/>
          </a:xfrm>
          <a:prstGeom prst="roundRect">
            <a:avLst>
              <a:gd name="adj" fmla="val 4386"/>
            </a:avLst>
          </a:prstGeom>
          <a:solidFill>
            <a:srgbClr val="FFFDF8"/>
          </a:solidFill>
          <a:ln w="6350">
            <a:solidFill>
              <a:srgbClr val="E4DFD3"/>
            </a:solidFill>
            <a:prstDash val="solid"/>
          </a:ln>
        </p:spPr>
      </p:sp>
      <p:sp>
        <p:nvSpPr>
          <p:cNvPr id="8" name="Text 6"/>
          <p:cNvSpPr/>
          <p:nvPr/>
        </p:nvSpPr>
        <p:spPr>
          <a:xfrm>
            <a:off x="6405880" y="1977405"/>
            <a:ext cx="4907991"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B2238"/>
                </a:solidFill>
                <a:latin typeface="DM Sans" pitchFamily="34" charset="0"/>
                <a:ea typeface="DM Sans" pitchFamily="34" charset="-122"/>
                <a:cs typeface="DM Sans" pitchFamily="34" charset="-120"/>
              </a:rPr>
              <a:t>Canvass sheet</a:t>
            </a:r>
            <a:endParaRPr lang="en-US" sz="1700" dirty="0"/>
          </a:p>
        </p:txBody>
      </p:sp>
      <p:sp>
        <p:nvSpPr>
          <p:cNvPr id="9" name="Text 7"/>
          <p:cNvSpPr/>
          <p:nvPr/>
        </p:nvSpPr>
        <p:spPr>
          <a:xfrm>
            <a:off x="6497574" y="2325365"/>
            <a:ext cx="4808677" cy="1511300"/>
          </a:xfrm>
          <a:prstGeom prst="rect">
            <a:avLst/>
          </a:prstGeom>
          <a:noFill/>
          <a:ln/>
        </p:spPr>
        <p:txBody>
          <a:bodyPr wrap="square" lIns="0" tIns="0" rIns="0" bIns="0" rtlCol="0" anchor="t">
            <a:normAutofit/>
          </a:bodyPr>
          <a:lstStyle/>
          <a:p>
            <a:pPr marL="162306" indent="-162306" algn="l">
              <a:lnSpc>
                <a:spcPts val="1950"/>
              </a:lnSpc>
              <a:buSzPct val="100000"/>
              <a:buChar char="•"/>
            </a:pPr>
            <a:r>
              <a:rPr lang="en-US" sz="1300" dirty="0">
                <a:solidFill>
                  <a:srgbClr val="4A5160"/>
                </a:solidFill>
                <a:latin typeface="DM Sans" pitchFamily="34" charset="0"/>
                <a:ea typeface="DM Sans" pitchFamily="34" charset="-122"/>
                <a:cs typeface="DM Sans" pitchFamily="34" charset="-120"/>
              </a:rPr>
              <a:t>“Start canvass” on the RFQ: up to six suppliers side by side</a:t>
            </a:r>
            <a:endParaRPr lang="en-US" sz="1300" dirty="0"/>
          </a:p>
          <a:p>
            <a:pPr marL="162306" indent="-162306" algn="l">
              <a:lnSpc>
                <a:spcPts val="1950"/>
              </a:lnSpc>
              <a:buSzPct val="100000"/>
              <a:buChar char="•"/>
            </a:pPr>
            <a:r>
              <a:rPr lang="en-US" sz="1300" dirty="0">
                <a:solidFill>
                  <a:srgbClr val="4A5160"/>
                </a:solidFill>
                <a:latin typeface="DM Sans" pitchFamily="34" charset="0"/>
                <a:ea typeface="DM Sans" pitchFamily="34" charset="-122"/>
                <a:cs typeface="DM Sans" pitchFamily="34" charset="-120"/>
              </a:rPr>
              <a:t>Reference budget = the PR’s estimate; savings in pesos and %</a:t>
            </a:r>
            <a:endParaRPr lang="en-US" sz="1300" dirty="0"/>
          </a:p>
          <a:p>
            <a:pPr marL="162306" indent="-162306" algn="l">
              <a:lnSpc>
                <a:spcPts val="1950"/>
              </a:lnSpc>
              <a:buSzPct val="100000"/>
              <a:buChar char="•"/>
            </a:pPr>
            <a:r>
              <a:rPr lang="en-US" sz="1300" b="1" dirty="0">
                <a:solidFill>
                  <a:srgbClr val="4A5160"/>
                </a:solidFill>
                <a:latin typeface="DM Sans" pitchFamily="34" charset="0"/>
                <a:ea typeface="DM Sans" pitchFamily="34" charset="-122"/>
                <a:cs typeface="DM Sans" pitchFamily="34" charset="-120"/>
              </a:rPr>
              <a:t>Recommend</a:t>
            </a:r>
            <a:r>
              <a:rPr lang="en-US" sz="1300" dirty="0">
                <a:solidFill>
                  <a:srgbClr val="4A5160"/>
                </a:solidFill>
                <a:latin typeface="DM Sans" pitchFamily="34" charset="0"/>
                <a:ea typeface="DM Sans" pitchFamily="34" charset="-122"/>
                <a:cs typeface="DM Sans" pitchFamily="34" charset="-120"/>
              </a:rPr>
              <a:t> a column, then </a:t>
            </a:r>
            <a:r>
              <a:rPr lang="en-US" sz="1300" b="1" dirty="0">
                <a:solidFill>
                  <a:srgbClr val="4A5160"/>
                </a:solidFill>
                <a:latin typeface="DM Sans" pitchFamily="34" charset="0"/>
                <a:ea typeface="DM Sans" pitchFamily="34" charset="-122"/>
                <a:cs typeface="DM Sans" pitchFamily="34" charset="-120"/>
              </a:rPr>
              <a:t>Award</a:t>
            </a:r>
            <a:r>
              <a:rPr lang="en-US" sz="1300" dirty="0">
                <a:solidFill>
                  <a:srgbClr val="4A5160"/>
                </a:solidFill>
                <a:latin typeface="DM Sans" pitchFamily="34" charset="0"/>
                <a:ea typeface="DM Sans" pitchFamily="34" charset="-122"/>
                <a:cs typeface="DM Sans" pitchFamily="34" charset="-120"/>
              </a:rPr>
              <a:t> — the RFQ closes</a:t>
            </a:r>
            <a:endParaRPr lang="en-US" sz="1300" dirty="0"/>
          </a:p>
          <a:p>
            <a:pPr marL="162306" indent="-162306" algn="l">
              <a:lnSpc>
                <a:spcPts val="1950"/>
              </a:lnSpc>
              <a:buSzPct val="100000"/>
              <a:buChar char="•"/>
            </a:pPr>
            <a:r>
              <a:rPr lang="en-US" sz="1300" dirty="0">
                <a:solidFill>
                  <a:srgbClr val="4A5160"/>
                </a:solidFill>
                <a:latin typeface="DM Sans" pitchFamily="34" charset="0"/>
                <a:ea typeface="DM Sans" pitchFamily="34" charset="-122"/>
                <a:cs typeface="DM Sans" pitchFamily="34" charset="-120"/>
              </a:rPr>
              <a:t>The landscape Canvass Sheet signs Canvassed by and Awarded by</a:t>
            </a:r>
            <a:endParaRPr lang="en-US" sz="1300" dirty="0"/>
          </a:p>
        </p:txBody>
      </p:sp>
      <p:sp>
        <p:nvSpPr>
          <p:cNvPr id="10" name="Text 8"/>
          <p:cNvSpPr/>
          <p:nvPr/>
        </p:nvSpPr>
        <p:spPr>
          <a:xfrm>
            <a:off x="812800" y="6238255"/>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DM Sans" pitchFamily="34" charset="0"/>
                <a:ea typeface="DM Sans" pitchFamily="34" charset="-122"/>
                <a:cs typeface="DM Sans" pitchFamily="34" charset="-120"/>
              </a:rPr>
              <a:t>G-CORE Training · G-CHAIN · RFQ and Canvass</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B2238"/>
        </a:solidFill>
        <a:effectLst/>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FD3AE"/>
                </a:solidFill>
                <a:latin typeface="DM Sans" pitchFamily="34" charset="0"/>
                <a:ea typeface="DM Sans" pitchFamily="34" charset="-122"/>
                <a:cs typeface="DM Sans" pitchFamily="34" charset="-120"/>
              </a:rPr>
              <a:t>ON SCREEN · G-CHAIN PROCUREMENT</a:t>
            </a:r>
            <a:endParaRPr lang="en-US" sz="1200" dirty="0"/>
          </a:p>
        </p:txBody>
      </p:sp>
      <p:sp>
        <p:nvSpPr>
          <p:cNvPr id="3" name="Text 1"/>
          <p:cNvSpPr>
            <a:spLocks noGrp="1"/>
          </p:cNvSpPr>
          <p:nvPr>
            <p:ph type="title"/>
          </p:nvPr>
        </p:nvSpPr>
        <p:spPr>
          <a:xfrm>
            <a:off x="609600" y="746770"/>
            <a:ext cx="11301984"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F7F5F0"/>
                </a:solidFill>
                <a:latin typeface="Domine" pitchFamily="18" charset="0"/>
                <a:ea typeface="Domine" pitchFamily="18" charset="-122"/>
                <a:cs typeface="Domine" pitchFamily="18" charset="-120"/>
              </a:rPr>
              <a:t>The canvass comparison sheet</a:t>
            </a:r>
            <a:endParaRPr lang="en-US" sz="2400" dirty="0"/>
          </a:p>
        </p:txBody>
      </p:sp>
      <p:sp>
        <p:nvSpPr>
          <p:cNvPr id="4" name="Shape 2"/>
          <p:cNvSpPr/>
          <p:nvPr/>
        </p:nvSpPr>
        <p:spPr>
          <a:xfrm>
            <a:off x="609600" y="1173485"/>
            <a:ext cx="8001000" cy="4502150"/>
          </a:xfrm>
          <a:prstGeom prst="roundRect">
            <a:avLst>
              <a:gd name="adj" fmla="val 1693"/>
            </a:avLst>
          </a:prstGeom>
          <a:solidFill>
            <a:srgbClr val="F7F5F0"/>
          </a:solidFill>
          <a:ln/>
        </p:spPr>
      </p:sp>
      <p:pic>
        <p:nvPicPr>
          <p:cNvPr id="5" name="Image 0" descr="G-CORE screen: The canvass comparison sheet"/>
          <p:cNvPicPr>
            <a:picLocks noChangeAspect="1"/>
          </p:cNvPicPr>
          <p:nvPr/>
        </p:nvPicPr>
        <p:blipFill>
          <a:blip r:embed="rId3"/>
          <a:srcRect l="-106" r="-106"/>
          <a:stretch/>
        </p:blipFill>
        <p:spPr>
          <a:xfrm>
            <a:off x="622300" y="1186185"/>
            <a:ext cx="7975600" cy="4476750"/>
          </a:xfrm>
          <a:prstGeom prst="roundRect">
            <a:avLst>
              <a:gd name="adj" fmla="val 1418"/>
            </a:avLst>
          </a:prstGeom>
        </p:spPr>
      </p:pic>
      <p:sp>
        <p:nvSpPr>
          <p:cNvPr id="6" name="Shape 3"/>
          <p:cNvSpPr/>
          <p:nvPr/>
        </p:nvSpPr>
        <p:spPr>
          <a:xfrm>
            <a:off x="615950" y="1179835"/>
            <a:ext cx="7988300" cy="4489450"/>
          </a:xfrm>
          <a:prstGeom prst="roundRect">
            <a:avLst>
              <a:gd name="adj" fmla="val 1556"/>
            </a:avLst>
          </a:prstGeom>
          <a:noFill/>
          <a:ln w="12700">
            <a:solidFill>
              <a:srgbClr val="3A4466"/>
            </a:solidFill>
            <a:prstDash val="solid"/>
          </a:ln>
        </p:spPr>
      </p:sp>
      <p:sp>
        <p:nvSpPr>
          <p:cNvPr id="7" name="Text 4"/>
          <p:cNvSpPr/>
          <p:nvPr/>
        </p:nvSpPr>
        <p:spPr>
          <a:xfrm>
            <a:off x="8864600" y="1275085"/>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9FD3A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1</a:t>
            </a:r>
            <a:endParaRPr lang="en-US" sz="1300" dirty="0"/>
          </a:p>
        </p:txBody>
      </p:sp>
      <p:sp>
        <p:nvSpPr>
          <p:cNvPr id="8" name="Text 5"/>
          <p:cNvSpPr/>
          <p:nvPr/>
        </p:nvSpPr>
        <p:spPr>
          <a:xfrm>
            <a:off x="9283700" y="1275085"/>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Reference budget vs each supplier, line by line.</a:t>
            </a:r>
            <a:endParaRPr lang="en-US" sz="1400" dirty="0"/>
          </a:p>
        </p:txBody>
      </p:sp>
      <p:sp>
        <p:nvSpPr>
          <p:cNvPr id="9" name="Text 6"/>
          <p:cNvSpPr/>
          <p:nvPr/>
        </p:nvSpPr>
        <p:spPr>
          <a:xfrm>
            <a:off x="8864600" y="1976115"/>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9FD3A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2</a:t>
            </a:r>
            <a:endParaRPr lang="en-US" sz="1300" dirty="0"/>
          </a:p>
        </p:txBody>
      </p:sp>
      <p:sp>
        <p:nvSpPr>
          <p:cNvPr id="10" name="Text 7"/>
          <p:cNvSpPr/>
          <p:nvPr/>
        </p:nvSpPr>
        <p:spPr>
          <a:xfrm>
            <a:off x="9283700" y="1976115"/>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Savings vs the budget, in pesos and %.</a:t>
            </a:r>
            <a:endParaRPr lang="en-US" sz="1400" dirty="0"/>
          </a:p>
        </p:txBody>
      </p:sp>
      <p:sp>
        <p:nvSpPr>
          <p:cNvPr id="11" name="Text 8"/>
          <p:cNvSpPr/>
          <p:nvPr/>
        </p:nvSpPr>
        <p:spPr>
          <a:xfrm>
            <a:off x="8864600" y="2677170"/>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9FD3A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3</a:t>
            </a:r>
            <a:endParaRPr lang="en-US" sz="1300" dirty="0"/>
          </a:p>
        </p:txBody>
      </p:sp>
      <p:sp>
        <p:nvSpPr>
          <p:cNvPr id="12" name="Text 9"/>
          <p:cNvSpPr/>
          <p:nvPr/>
        </p:nvSpPr>
        <p:spPr>
          <a:xfrm>
            <a:off x="9283700" y="2677170"/>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Recommend, then Award to the winner.</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E7D41"/>
                </a:solidFill>
                <a:latin typeface="DM Sans" pitchFamily="34" charset="0"/>
                <a:ea typeface="DM Sans" pitchFamily="34" charset="-122"/>
                <a:cs typeface="DM Sans" pitchFamily="34" charset="-120"/>
              </a:rPr>
              <a:t>G-CHAIN · PURCHASE ORDER AND INCOMING</a:t>
            </a:r>
            <a:endParaRPr lang="en-US" sz="1200" dirty="0"/>
          </a:p>
        </p:txBody>
      </p:sp>
      <p:sp>
        <p:nvSpPr>
          <p:cNvPr id="3" name="Text 1"/>
          <p:cNvSpPr>
            <a:spLocks noGrp="1"/>
          </p:cNvSpPr>
          <p:nvPr>
            <p:ph type="title"/>
          </p:nvPr>
        </p:nvSpPr>
        <p:spPr>
          <a:xfrm>
            <a:off x="812800" y="112777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B2238"/>
                </a:solidFill>
                <a:latin typeface="Domine" pitchFamily="18" charset="0"/>
                <a:ea typeface="Domine" pitchFamily="18" charset="-122"/>
                <a:cs typeface="Domine" pitchFamily="18" charset="-120"/>
              </a:rPr>
              <a:t>Order it, then receive it</a:t>
            </a:r>
            <a:endParaRPr lang="en-US" sz="3000" dirty="0"/>
          </a:p>
        </p:txBody>
      </p:sp>
      <p:sp>
        <p:nvSpPr>
          <p:cNvPr id="4" name="Shape 2"/>
          <p:cNvSpPr/>
          <p:nvPr/>
        </p:nvSpPr>
        <p:spPr>
          <a:xfrm>
            <a:off x="815975" y="1772295"/>
            <a:ext cx="5175250" cy="1996440"/>
          </a:xfrm>
          <a:prstGeom prst="roundRect">
            <a:avLst>
              <a:gd name="adj" fmla="val 4930"/>
            </a:avLst>
          </a:prstGeom>
          <a:solidFill>
            <a:srgbClr val="FFFDF8"/>
          </a:solidFill>
          <a:ln w="6350">
            <a:solidFill>
              <a:srgbClr val="E4DFD3"/>
            </a:solidFill>
            <a:prstDash val="solid"/>
          </a:ln>
        </p:spPr>
      </p:sp>
      <p:sp>
        <p:nvSpPr>
          <p:cNvPr id="5" name="Text 3"/>
          <p:cNvSpPr/>
          <p:nvPr/>
        </p:nvSpPr>
        <p:spPr>
          <a:xfrm>
            <a:off x="1021080" y="1977405"/>
            <a:ext cx="4907991"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B2238"/>
                </a:solidFill>
                <a:latin typeface="DM Sans" pitchFamily="34" charset="0"/>
                <a:ea typeface="DM Sans" pitchFamily="34" charset="-122"/>
                <a:cs typeface="DM Sans" pitchFamily="34" charset="-120"/>
              </a:rPr>
              <a:t>Purchase order</a:t>
            </a:r>
            <a:endParaRPr lang="en-US" sz="1700" dirty="0"/>
          </a:p>
        </p:txBody>
      </p:sp>
      <p:sp>
        <p:nvSpPr>
          <p:cNvPr id="6" name="Text 4"/>
          <p:cNvSpPr/>
          <p:nvPr/>
        </p:nvSpPr>
        <p:spPr>
          <a:xfrm>
            <a:off x="1112774" y="2325365"/>
            <a:ext cx="4808677" cy="1263650"/>
          </a:xfrm>
          <a:prstGeom prst="rect">
            <a:avLst/>
          </a:prstGeom>
          <a:noFill/>
          <a:ln/>
        </p:spPr>
        <p:txBody>
          <a:bodyPr wrap="square" lIns="0" tIns="0" rIns="0" bIns="0" rtlCol="0" anchor="t">
            <a:normAutofit/>
          </a:bodyPr>
          <a:lstStyle/>
          <a:p>
            <a:pPr marL="162306" indent="-162306" algn="l">
              <a:lnSpc>
                <a:spcPts val="1950"/>
              </a:lnSpc>
              <a:buSzPct val="100000"/>
              <a:buChar char="•"/>
            </a:pPr>
            <a:r>
              <a:rPr lang="en-US" sz="1300" dirty="0">
                <a:solidFill>
                  <a:srgbClr val="4A5160"/>
                </a:solidFill>
                <a:latin typeface="DM Sans" pitchFamily="34" charset="0"/>
                <a:ea typeface="DM Sans" pitchFamily="34" charset="-122"/>
                <a:cs typeface="DM Sans" pitchFamily="34" charset="-120"/>
              </a:rPr>
              <a:t>Full page, pre-filled from the PR or the awarded canvass</a:t>
            </a:r>
            <a:endParaRPr lang="en-US" sz="1300" dirty="0"/>
          </a:p>
          <a:p>
            <a:pPr marL="162306" indent="-162306" algn="l">
              <a:lnSpc>
                <a:spcPts val="1950"/>
              </a:lnSpc>
              <a:buSzPct val="100000"/>
              <a:buChar char="•"/>
            </a:pPr>
            <a:r>
              <a:rPr lang="en-US" sz="1300" dirty="0">
                <a:solidFill>
                  <a:srgbClr val="4A5160"/>
                </a:solidFill>
                <a:latin typeface="DM Sans" pitchFamily="34" charset="0"/>
                <a:ea typeface="DM Sans" pitchFamily="34" charset="-122"/>
                <a:cs typeface="DM Sans" pitchFamily="34" charset="-120"/>
              </a:rPr>
              <a:t>Budget panel shows what is left after issue</a:t>
            </a:r>
            <a:endParaRPr lang="en-US" sz="1300" dirty="0"/>
          </a:p>
          <a:p>
            <a:pPr marL="162306" indent="-162306" algn="l">
              <a:lnSpc>
                <a:spcPts val="1950"/>
              </a:lnSpc>
              <a:buSzPct val="100000"/>
              <a:buChar char="•"/>
            </a:pPr>
            <a:r>
              <a:rPr lang="en-US" sz="1300" dirty="0">
                <a:solidFill>
                  <a:srgbClr val="4A5160"/>
                </a:solidFill>
                <a:latin typeface="DM Sans" pitchFamily="34" charset="0"/>
                <a:ea typeface="DM Sans" pitchFamily="34" charset="-122"/>
                <a:cs typeface="DM Sans" pitchFamily="34" charset="-120"/>
              </a:rPr>
              <a:t>Route: </a:t>
            </a:r>
            <a:r>
              <a:rPr lang="en-US" sz="1300" b="1" dirty="0">
                <a:solidFill>
                  <a:srgbClr val="4A5160"/>
                </a:solidFill>
                <a:latin typeface="DM Sans" pitchFamily="34" charset="0"/>
                <a:ea typeface="DM Sans" pitchFamily="34" charset="-122"/>
                <a:cs typeface="DM Sans" pitchFamily="34" charset="-120"/>
              </a:rPr>
              <a:t>Purchasing Manager</a:t>
            </a:r>
            <a:r>
              <a:rPr lang="en-US" sz="1300" dirty="0">
                <a:solidFill>
                  <a:srgbClr val="4A5160"/>
                </a:solidFill>
                <a:latin typeface="DM Sans" pitchFamily="34" charset="0"/>
                <a:ea typeface="DM Sans" pitchFamily="34" charset="-122"/>
                <a:cs typeface="DM Sans" pitchFamily="34" charset="-120"/>
              </a:rPr>
              <a:t>; + </a:t>
            </a:r>
            <a:r>
              <a:rPr lang="en-US" sz="1300" b="1" dirty="0">
                <a:solidFill>
                  <a:srgbClr val="4A5160"/>
                </a:solidFill>
                <a:latin typeface="DM Sans" pitchFamily="34" charset="0"/>
                <a:ea typeface="DM Sans" pitchFamily="34" charset="-122"/>
                <a:cs typeface="DM Sans" pitchFamily="34" charset="-120"/>
              </a:rPr>
              <a:t>CEO</a:t>
            </a:r>
            <a:r>
              <a:rPr lang="en-US" sz="1300" dirty="0">
                <a:solidFill>
                  <a:srgbClr val="4A5160"/>
                </a:solidFill>
                <a:latin typeface="DM Sans" pitchFamily="34" charset="0"/>
                <a:ea typeface="DM Sans" pitchFamily="34" charset="-122"/>
                <a:cs typeface="DM Sans" pitchFamily="34" charset="-120"/>
              </a:rPr>
              <a:t> above ₱100,000</a:t>
            </a:r>
            <a:endParaRPr lang="en-US" sz="1300" dirty="0"/>
          </a:p>
          <a:p>
            <a:pPr marL="162306" indent="-162306" algn="l">
              <a:lnSpc>
                <a:spcPts val="1950"/>
              </a:lnSpc>
              <a:buSzPct val="100000"/>
              <a:buChar char="•"/>
            </a:pPr>
            <a:r>
              <a:rPr lang="en-US" sz="1300" dirty="0">
                <a:solidFill>
                  <a:srgbClr val="4A5160"/>
                </a:solidFill>
                <a:latin typeface="DM Sans" pitchFamily="34" charset="0"/>
                <a:ea typeface="DM Sans" pitchFamily="34" charset="-122"/>
                <a:cs typeface="DM Sans" pitchFamily="34" charset="-120"/>
              </a:rPr>
              <a:t>The paper goes to the supplier: Supplier and Ship to blocks, no internal notes</a:t>
            </a:r>
            <a:endParaRPr lang="en-US" sz="1300" dirty="0"/>
          </a:p>
        </p:txBody>
      </p:sp>
      <p:sp>
        <p:nvSpPr>
          <p:cNvPr id="7" name="Shape 5"/>
          <p:cNvSpPr/>
          <p:nvPr/>
        </p:nvSpPr>
        <p:spPr>
          <a:xfrm>
            <a:off x="6200775" y="1772295"/>
            <a:ext cx="5175250" cy="1996440"/>
          </a:xfrm>
          <a:prstGeom prst="roundRect">
            <a:avLst>
              <a:gd name="adj" fmla="val 4930"/>
            </a:avLst>
          </a:prstGeom>
          <a:solidFill>
            <a:srgbClr val="FFFDF8"/>
          </a:solidFill>
          <a:ln w="6350">
            <a:solidFill>
              <a:srgbClr val="E4DFD3"/>
            </a:solidFill>
            <a:prstDash val="solid"/>
          </a:ln>
        </p:spPr>
      </p:sp>
      <p:sp>
        <p:nvSpPr>
          <p:cNvPr id="8" name="Text 6"/>
          <p:cNvSpPr/>
          <p:nvPr/>
        </p:nvSpPr>
        <p:spPr>
          <a:xfrm>
            <a:off x="6405880" y="1977405"/>
            <a:ext cx="4907991"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B2238"/>
                </a:solidFill>
                <a:latin typeface="DM Sans" pitchFamily="34" charset="0"/>
                <a:ea typeface="DM Sans" pitchFamily="34" charset="-122"/>
                <a:cs typeface="DM Sans" pitchFamily="34" charset="-120"/>
              </a:rPr>
              <a:t>Incoming report</a:t>
            </a:r>
            <a:endParaRPr lang="en-US" sz="1700" dirty="0"/>
          </a:p>
        </p:txBody>
      </p:sp>
      <p:sp>
        <p:nvSpPr>
          <p:cNvPr id="9" name="Text 7"/>
          <p:cNvSpPr/>
          <p:nvPr/>
        </p:nvSpPr>
        <p:spPr>
          <a:xfrm>
            <a:off x="6497574" y="2325365"/>
            <a:ext cx="4808677" cy="1263650"/>
          </a:xfrm>
          <a:prstGeom prst="rect">
            <a:avLst/>
          </a:prstGeom>
          <a:noFill/>
          <a:ln/>
        </p:spPr>
        <p:txBody>
          <a:bodyPr wrap="square" lIns="0" tIns="0" rIns="0" bIns="0" rtlCol="0" anchor="t">
            <a:normAutofit/>
          </a:bodyPr>
          <a:lstStyle/>
          <a:p>
            <a:pPr marL="162306" indent="-162306" algn="l">
              <a:lnSpc>
                <a:spcPts val="1950"/>
              </a:lnSpc>
              <a:buSzPct val="100000"/>
              <a:buChar char="•"/>
            </a:pPr>
            <a:r>
              <a:rPr lang="en-US" sz="1300" dirty="0">
                <a:solidFill>
                  <a:srgbClr val="4A5160"/>
                </a:solidFill>
                <a:latin typeface="DM Sans" pitchFamily="34" charset="0"/>
                <a:ea typeface="DM Sans" pitchFamily="34" charset="-122"/>
                <a:cs typeface="DM Sans" pitchFamily="34" charset="-120"/>
              </a:rPr>
              <a:t>“Receive goods” on the PO: what is ordered, received, left</a:t>
            </a:r>
            <a:endParaRPr lang="en-US" sz="1300" dirty="0"/>
          </a:p>
          <a:p>
            <a:pPr marL="162306" indent="-162306" algn="l">
              <a:lnSpc>
                <a:spcPts val="1950"/>
              </a:lnSpc>
              <a:buSzPct val="100000"/>
              <a:buChar char="•"/>
            </a:pPr>
            <a:r>
              <a:rPr lang="en-US" sz="1300" dirty="0">
                <a:solidFill>
                  <a:srgbClr val="4A5160"/>
                </a:solidFill>
                <a:latin typeface="DM Sans" pitchFamily="34" charset="0"/>
                <a:ea typeface="DM Sans" pitchFamily="34" charset="-122"/>
                <a:cs typeface="DM Sans" pitchFamily="34" charset="-120"/>
              </a:rPr>
              <a:t>Or </a:t>
            </a:r>
            <a:r>
              <a:rPr lang="en-US" sz="1300" b="1" dirty="0">
                <a:solidFill>
                  <a:srgbClr val="4A5160"/>
                </a:solidFill>
                <a:latin typeface="DM Sans" pitchFamily="34" charset="0"/>
                <a:ea typeface="DM Sans" pitchFamily="34" charset="-122"/>
                <a:cs typeface="DM Sans" pitchFamily="34" charset="-120"/>
              </a:rPr>
              <a:t>without a PO</a:t>
            </a:r>
            <a:r>
              <a:rPr lang="en-US" sz="1300" dirty="0">
                <a:solidFill>
                  <a:srgbClr val="4A5160"/>
                </a:solidFill>
                <a:latin typeface="DM Sans" pitchFamily="34" charset="0"/>
                <a:ea typeface="DM Sans" pitchFamily="34" charset="-122"/>
                <a:cs typeface="DM Sans" pitchFamily="34" charset="-120"/>
              </a:rPr>
              <a:t> — supplier, reason, items into stock</a:t>
            </a:r>
            <a:endParaRPr lang="en-US" sz="1300" dirty="0"/>
          </a:p>
          <a:p>
            <a:pPr marL="162306" indent="-162306" algn="l">
              <a:lnSpc>
                <a:spcPts val="1950"/>
              </a:lnSpc>
              <a:buSzPct val="100000"/>
              <a:buChar char="•"/>
            </a:pPr>
            <a:r>
              <a:rPr lang="en-US" sz="1300" dirty="0">
                <a:solidFill>
                  <a:srgbClr val="4A5160"/>
                </a:solidFill>
                <a:latin typeface="DM Sans" pitchFamily="34" charset="0"/>
                <a:ea typeface="DM Sans" pitchFamily="34" charset="-122"/>
                <a:cs typeface="DM Sans" pitchFamily="34" charset="-120"/>
              </a:rPr>
              <a:t>Attach the DR, packing list and photos</a:t>
            </a:r>
            <a:endParaRPr lang="en-US" sz="1300" dirty="0"/>
          </a:p>
          <a:p>
            <a:pPr marL="162306" indent="-162306" algn="l">
              <a:lnSpc>
                <a:spcPts val="1950"/>
              </a:lnSpc>
              <a:buSzPct val="100000"/>
              <a:buChar char="•"/>
            </a:pPr>
            <a:r>
              <a:rPr lang="en-US" sz="1300" dirty="0">
                <a:solidFill>
                  <a:srgbClr val="4A5160"/>
                </a:solidFill>
                <a:latin typeface="DM Sans" pitchFamily="34" charset="0"/>
                <a:ea typeface="DM Sans" pitchFamily="34" charset="-122"/>
                <a:cs typeface="DM Sans" pitchFamily="34" charset="-120"/>
              </a:rPr>
              <a:t>Route: </a:t>
            </a:r>
            <a:r>
              <a:rPr lang="en-US" sz="1300" b="1" dirty="0">
                <a:solidFill>
                  <a:srgbClr val="4A5160"/>
                </a:solidFill>
                <a:latin typeface="DM Sans" pitchFamily="34" charset="0"/>
                <a:ea typeface="DM Sans" pitchFamily="34" charset="-122"/>
                <a:cs typeface="DM Sans" pitchFamily="34" charset="-120"/>
              </a:rPr>
              <a:t>Back Support › Purchasing Manager</a:t>
            </a:r>
            <a:r>
              <a:rPr lang="en-US" sz="1300" dirty="0">
                <a:solidFill>
                  <a:srgbClr val="4A5160"/>
                </a:solidFill>
                <a:latin typeface="DM Sans" pitchFamily="34" charset="0"/>
                <a:ea typeface="DM Sans" pitchFamily="34" charset="-122"/>
                <a:cs typeface="DM Sans" pitchFamily="34" charset="-120"/>
              </a:rPr>
              <a:t>. A draft moves nothing; approval posts stock and cost</a:t>
            </a:r>
            <a:endParaRPr lang="en-US" sz="1300" dirty="0"/>
          </a:p>
        </p:txBody>
      </p:sp>
      <p:sp>
        <p:nvSpPr>
          <p:cNvPr id="10" name="Text 8"/>
          <p:cNvSpPr/>
          <p:nvPr/>
        </p:nvSpPr>
        <p:spPr>
          <a:xfrm>
            <a:off x="812800" y="6238255"/>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DM Sans" pitchFamily="34" charset="0"/>
                <a:ea typeface="DM Sans" pitchFamily="34" charset="-122"/>
                <a:cs typeface="DM Sans" pitchFamily="34" charset="-120"/>
              </a:rPr>
              <a:t>G-CORE Training · G-CHAIN · Purchase Orders and Incoming</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B2238"/>
        </a:solidFill>
        <a:effectLst/>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FD3AE"/>
                </a:solidFill>
                <a:latin typeface="DM Sans" pitchFamily="34" charset="0"/>
                <a:ea typeface="DM Sans" pitchFamily="34" charset="-122"/>
                <a:cs typeface="DM Sans" pitchFamily="34" charset="-120"/>
              </a:rPr>
              <a:t>ON SCREEN · G-CHAIN PROCUREMENT</a:t>
            </a:r>
            <a:endParaRPr lang="en-US" sz="1200" dirty="0"/>
          </a:p>
        </p:txBody>
      </p:sp>
      <p:sp>
        <p:nvSpPr>
          <p:cNvPr id="3" name="Text 1"/>
          <p:cNvSpPr>
            <a:spLocks noGrp="1"/>
          </p:cNvSpPr>
          <p:nvPr>
            <p:ph type="title"/>
          </p:nvPr>
        </p:nvSpPr>
        <p:spPr>
          <a:xfrm>
            <a:off x="609600" y="746770"/>
            <a:ext cx="11301984"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F7F5F0"/>
                </a:solidFill>
                <a:latin typeface="Domine" pitchFamily="18" charset="0"/>
                <a:ea typeface="Domine" pitchFamily="18" charset="-122"/>
                <a:cs typeface="Domine" pitchFamily="18" charset="-120"/>
              </a:rPr>
              <a:t>An issued purchase order</a:t>
            </a:r>
            <a:endParaRPr lang="en-US" sz="2400" dirty="0"/>
          </a:p>
        </p:txBody>
      </p:sp>
      <p:sp>
        <p:nvSpPr>
          <p:cNvPr id="4" name="Shape 2"/>
          <p:cNvSpPr/>
          <p:nvPr/>
        </p:nvSpPr>
        <p:spPr>
          <a:xfrm>
            <a:off x="609600" y="1173485"/>
            <a:ext cx="8001000" cy="4502150"/>
          </a:xfrm>
          <a:prstGeom prst="roundRect">
            <a:avLst>
              <a:gd name="adj" fmla="val 1693"/>
            </a:avLst>
          </a:prstGeom>
          <a:solidFill>
            <a:srgbClr val="F7F5F0"/>
          </a:solidFill>
          <a:ln/>
        </p:spPr>
      </p:sp>
      <p:pic>
        <p:nvPicPr>
          <p:cNvPr id="5" name="Image 0" descr="G-CORE screen: An issued purchase order"/>
          <p:cNvPicPr>
            <a:picLocks noChangeAspect="1"/>
          </p:cNvPicPr>
          <p:nvPr/>
        </p:nvPicPr>
        <p:blipFill>
          <a:blip r:embed="rId3"/>
          <a:srcRect l="-106" r="-106"/>
          <a:stretch/>
        </p:blipFill>
        <p:spPr>
          <a:xfrm>
            <a:off x="622300" y="1186185"/>
            <a:ext cx="7975600" cy="4476750"/>
          </a:xfrm>
          <a:prstGeom prst="roundRect">
            <a:avLst>
              <a:gd name="adj" fmla="val 1418"/>
            </a:avLst>
          </a:prstGeom>
        </p:spPr>
      </p:pic>
      <p:sp>
        <p:nvSpPr>
          <p:cNvPr id="6" name="Shape 3"/>
          <p:cNvSpPr/>
          <p:nvPr/>
        </p:nvSpPr>
        <p:spPr>
          <a:xfrm>
            <a:off x="615950" y="1179835"/>
            <a:ext cx="7988300" cy="4489450"/>
          </a:xfrm>
          <a:prstGeom prst="roundRect">
            <a:avLst>
              <a:gd name="adj" fmla="val 1556"/>
            </a:avLst>
          </a:prstGeom>
          <a:noFill/>
          <a:ln w="12700">
            <a:solidFill>
              <a:srgbClr val="3A4466"/>
            </a:solidFill>
            <a:prstDash val="solid"/>
          </a:ln>
        </p:spPr>
      </p:sp>
      <p:sp>
        <p:nvSpPr>
          <p:cNvPr id="7" name="Text 4"/>
          <p:cNvSpPr/>
          <p:nvPr/>
        </p:nvSpPr>
        <p:spPr>
          <a:xfrm>
            <a:off x="8864600" y="1275085"/>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9FD3A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1</a:t>
            </a:r>
            <a:endParaRPr lang="en-US" sz="1300" dirty="0"/>
          </a:p>
        </p:txBody>
      </p:sp>
      <p:sp>
        <p:nvSpPr>
          <p:cNvPr id="8" name="Text 5"/>
          <p:cNvSpPr/>
          <p:nvPr/>
        </p:nvSpPr>
        <p:spPr>
          <a:xfrm>
            <a:off x="9283700" y="1275085"/>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Receive goods opens the Incoming report.</a:t>
            </a:r>
            <a:endParaRPr lang="en-US" sz="1400" dirty="0"/>
          </a:p>
        </p:txBody>
      </p:sp>
      <p:sp>
        <p:nvSpPr>
          <p:cNvPr id="9" name="Text 6"/>
          <p:cNvSpPr/>
          <p:nvPr/>
        </p:nvSpPr>
        <p:spPr>
          <a:xfrm>
            <a:off x="8864600" y="1976115"/>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9FD3A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2</a:t>
            </a:r>
            <a:endParaRPr lang="en-US" sz="1300" dirty="0"/>
          </a:p>
        </p:txBody>
      </p:sp>
      <p:sp>
        <p:nvSpPr>
          <p:cNvPr id="10" name="Text 7"/>
          <p:cNvSpPr/>
          <p:nvPr/>
        </p:nvSpPr>
        <p:spPr>
          <a:xfrm>
            <a:off x="9283700" y="1976115"/>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Received and outstanding per line.</a:t>
            </a:r>
            <a:endParaRPr lang="en-US" sz="1400" dirty="0"/>
          </a:p>
        </p:txBody>
      </p:sp>
      <p:sp>
        <p:nvSpPr>
          <p:cNvPr id="11" name="Text 8"/>
          <p:cNvSpPr/>
          <p:nvPr/>
        </p:nvSpPr>
        <p:spPr>
          <a:xfrm>
            <a:off x="8864600" y="2677170"/>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9FD3A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3</a:t>
            </a:r>
            <a:endParaRPr lang="en-US" sz="1300" dirty="0"/>
          </a:p>
        </p:txBody>
      </p:sp>
      <p:sp>
        <p:nvSpPr>
          <p:cNvPr id="12" name="Text 9"/>
          <p:cNvSpPr/>
          <p:nvPr/>
        </p:nvSpPr>
        <p:spPr>
          <a:xfrm>
            <a:off x="9283700" y="2677170"/>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Supplier bills appear once A/P records them.</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B2238"/>
        </a:solidFill>
        <a:effectLst/>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FD3AE"/>
                </a:solidFill>
                <a:latin typeface="DM Sans" pitchFamily="34" charset="0"/>
                <a:ea typeface="DM Sans" pitchFamily="34" charset="-122"/>
                <a:cs typeface="DM Sans" pitchFamily="34" charset="-120"/>
              </a:rPr>
              <a:t>ON SCREEN · G-CHAIN WAREHOUSE</a:t>
            </a:r>
            <a:endParaRPr lang="en-US" sz="1200" dirty="0"/>
          </a:p>
        </p:txBody>
      </p:sp>
      <p:sp>
        <p:nvSpPr>
          <p:cNvPr id="3" name="Text 1"/>
          <p:cNvSpPr>
            <a:spLocks noGrp="1"/>
          </p:cNvSpPr>
          <p:nvPr>
            <p:ph type="title"/>
          </p:nvPr>
        </p:nvSpPr>
        <p:spPr>
          <a:xfrm>
            <a:off x="609600" y="746770"/>
            <a:ext cx="11301984"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F7F5F0"/>
                </a:solidFill>
                <a:latin typeface="Domine" pitchFamily="18" charset="0"/>
                <a:ea typeface="Domine" pitchFamily="18" charset="-122"/>
                <a:cs typeface="Domine" pitchFamily="18" charset="-120"/>
              </a:rPr>
              <a:t>An Incoming report, before approval</a:t>
            </a:r>
            <a:endParaRPr lang="en-US" sz="2400" dirty="0"/>
          </a:p>
        </p:txBody>
      </p:sp>
      <p:sp>
        <p:nvSpPr>
          <p:cNvPr id="4" name="Shape 2"/>
          <p:cNvSpPr/>
          <p:nvPr/>
        </p:nvSpPr>
        <p:spPr>
          <a:xfrm>
            <a:off x="609600" y="1173485"/>
            <a:ext cx="8001000" cy="4502150"/>
          </a:xfrm>
          <a:prstGeom prst="roundRect">
            <a:avLst>
              <a:gd name="adj" fmla="val 1693"/>
            </a:avLst>
          </a:prstGeom>
          <a:solidFill>
            <a:srgbClr val="F7F5F0"/>
          </a:solidFill>
          <a:ln/>
        </p:spPr>
      </p:sp>
      <p:pic>
        <p:nvPicPr>
          <p:cNvPr id="5" name="Image 0" descr="G-CORE screen: An Incoming report, before approval"/>
          <p:cNvPicPr>
            <a:picLocks noChangeAspect="1"/>
          </p:cNvPicPr>
          <p:nvPr/>
        </p:nvPicPr>
        <p:blipFill>
          <a:blip r:embed="rId3"/>
          <a:srcRect l="-106" r="-106"/>
          <a:stretch/>
        </p:blipFill>
        <p:spPr>
          <a:xfrm>
            <a:off x="622300" y="1186185"/>
            <a:ext cx="7975600" cy="4476750"/>
          </a:xfrm>
          <a:prstGeom prst="roundRect">
            <a:avLst>
              <a:gd name="adj" fmla="val 1418"/>
            </a:avLst>
          </a:prstGeom>
        </p:spPr>
      </p:pic>
      <p:sp>
        <p:nvSpPr>
          <p:cNvPr id="6" name="Shape 3"/>
          <p:cNvSpPr/>
          <p:nvPr/>
        </p:nvSpPr>
        <p:spPr>
          <a:xfrm>
            <a:off x="615950" y="1179835"/>
            <a:ext cx="7988300" cy="4489450"/>
          </a:xfrm>
          <a:prstGeom prst="roundRect">
            <a:avLst>
              <a:gd name="adj" fmla="val 1556"/>
            </a:avLst>
          </a:prstGeom>
          <a:noFill/>
          <a:ln w="12700">
            <a:solidFill>
              <a:srgbClr val="3A4466"/>
            </a:solidFill>
            <a:prstDash val="solid"/>
          </a:ln>
        </p:spPr>
      </p:sp>
      <p:sp>
        <p:nvSpPr>
          <p:cNvPr id="7" name="Text 4"/>
          <p:cNvSpPr/>
          <p:nvPr/>
        </p:nvSpPr>
        <p:spPr>
          <a:xfrm>
            <a:off x="8864600" y="1275085"/>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9FD3A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1</a:t>
            </a:r>
            <a:endParaRPr lang="en-US" sz="1300" dirty="0"/>
          </a:p>
        </p:txBody>
      </p:sp>
      <p:sp>
        <p:nvSpPr>
          <p:cNvPr id="8" name="Text 5"/>
          <p:cNvSpPr/>
          <p:nvPr/>
        </p:nvSpPr>
        <p:spPr>
          <a:xfrm>
            <a:off x="9283700" y="1275085"/>
            <a:ext cx="2330768"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A draft moves no stock.</a:t>
            </a:r>
            <a:endParaRPr lang="en-US" sz="1400" dirty="0"/>
          </a:p>
        </p:txBody>
      </p:sp>
      <p:sp>
        <p:nvSpPr>
          <p:cNvPr id="9" name="Text 6"/>
          <p:cNvSpPr/>
          <p:nvPr/>
        </p:nvSpPr>
        <p:spPr>
          <a:xfrm>
            <a:off x="8864600" y="1783085"/>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9FD3A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2</a:t>
            </a:r>
            <a:endParaRPr lang="en-US" sz="1300" dirty="0"/>
          </a:p>
        </p:txBody>
      </p:sp>
      <p:sp>
        <p:nvSpPr>
          <p:cNvPr id="10" name="Text 7"/>
          <p:cNvSpPr/>
          <p:nvPr/>
        </p:nvSpPr>
        <p:spPr>
          <a:xfrm>
            <a:off x="9283700" y="1783085"/>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Route: Back Support › Purchasing Manager.</a:t>
            </a:r>
            <a:endParaRPr lang="en-US" sz="1400" dirty="0"/>
          </a:p>
        </p:txBody>
      </p:sp>
      <p:sp>
        <p:nvSpPr>
          <p:cNvPr id="11" name="Text 8"/>
          <p:cNvSpPr/>
          <p:nvPr/>
        </p:nvSpPr>
        <p:spPr>
          <a:xfrm>
            <a:off x="8864600" y="2484115"/>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9FD3A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3</a:t>
            </a:r>
            <a:endParaRPr lang="en-US" sz="1300" dirty="0"/>
          </a:p>
        </p:txBody>
      </p:sp>
      <p:sp>
        <p:nvSpPr>
          <p:cNvPr id="12" name="Text 9"/>
          <p:cNvSpPr/>
          <p:nvPr/>
        </p:nvSpPr>
        <p:spPr>
          <a:xfrm>
            <a:off x="9283700" y="2484115"/>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Attach the DR and packing list.</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E7D41"/>
                </a:solidFill>
                <a:latin typeface="DM Sans" pitchFamily="34" charset="0"/>
                <a:ea typeface="DM Sans" pitchFamily="34" charset="-122"/>
                <a:cs typeface="DM Sans" pitchFamily="34" charset="-120"/>
              </a:rPr>
              <a:t>G-CHAIN · WAREHOUSE</a:t>
            </a:r>
            <a:endParaRPr lang="en-US" sz="1200" dirty="0"/>
          </a:p>
        </p:txBody>
      </p:sp>
      <p:sp>
        <p:nvSpPr>
          <p:cNvPr id="3" name="Text 1"/>
          <p:cNvSpPr>
            <a:spLocks noGrp="1"/>
          </p:cNvSpPr>
          <p:nvPr>
            <p:ph type="title"/>
          </p:nvPr>
        </p:nvSpPr>
        <p:spPr>
          <a:xfrm>
            <a:off x="812800" y="112777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B2238"/>
                </a:solidFill>
                <a:latin typeface="Domine" pitchFamily="18" charset="0"/>
                <a:ea typeface="Domine" pitchFamily="18" charset="-122"/>
                <a:cs typeface="Domine" pitchFamily="18" charset="-120"/>
              </a:rPr>
              <a:t>Keeping and releasing stock</a:t>
            </a:r>
            <a:endParaRPr lang="en-US" sz="3000" dirty="0"/>
          </a:p>
        </p:txBody>
      </p:sp>
      <p:sp>
        <p:nvSpPr>
          <p:cNvPr id="4" name="Shape 2"/>
          <p:cNvSpPr/>
          <p:nvPr/>
        </p:nvSpPr>
        <p:spPr>
          <a:xfrm>
            <a:off x="815975" y="1772295"/>
            <a:ext cx="5200650" cy="1384935"/>
          </a:xfrm>
          <a:prstGeom prst="roundRect">
            <a:avLst>
              <a:gd name="adj" fmla="val 7107"/>
            </a:avLst>
          </a:prstGeom>
          <a:solidFill>
            <a:srgbClr val="FFFDF8"/>
          </a:solidFill>
          <a:ln w="6350">
            <a:solidFill>
              <a:srgbClr val="E4DFD3"/>
            </a:solidFill>
            <a:prstDash val="solid"/>
          </a:ln>
        </p:spPr>
      </p:sp>
      <p:sp>
        <p:nvSpPr>
          <p:cNvPr id="5" name="Text 3"/>
          <p:cNvSpPr/>
          <p:nvPr/>
        </p:nvSpPr>
        <p:spPr>
          <a:xfrm>
            <a:off x="995680" y="1952005"/>
            <a:ext cx="498647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238"/>
                </a:solidFill>
                <a:latin typeface="DM Sans" pitchFamily="34" charset="0"/>
                <a:ea typeface="DM Sans" pitchFamily="34" charset="-122"/>
                <a:cs typeface="DM Sans" pitchFamily="34" charset="-120"/>
              </a:rPr>
              <a:t>Inventory</a:t>
            </a:r>
            <a:endParaRPr lang="en-US" sz="1600" dirty="0"/>
          </a:p>
        </p:txBody>
      </p:sp>
      <p:sp>
        <p:nvSpPr>
          <p:cNvPr id="6" name="Text 4"/>
          <p:cNvSpPr/>
          <p:nvPr/>
        </p:nvSpPr>
        <p:spPr>
          <a:xfrm>
            <a:off x="995680" y="2259335"/>
            <a:ext cx="4986477" cy="743585"/>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160"/>
                </a:solidFill>
                <a:latin typeface="DM Sans" pitchFamily="34" charset="0"/>
                <a:ea typeface="DM Sans" pitchFamily="34" charset="-122"/>
                <a:cs typeface="DM Sans" pitchFamily="34" charset="-120"/>
              </a:rPr>
              <a:t>Cards, category tiles, stock status (In stock · Low · Critical · On order), List or Kanban. Low stock raises a </a:t>
            </a:r>
            <a:r>
              <a:rPr lang="en-US" sz="1300" b="1" dirty="0">
                <a:solidFill>
                  <a:srgbClr val="4A5160"/>
                </a:solidFill>
                <a:latin typeface="DM Sans" pitchFamily="34" charset="0"/>
                <a:ea typeface="DM Sans" pitchFamily="34" charset="-122"/>
                <a:cs typeface="DM Sans" pitchFamily="34" charset="-120"/>
              </a:rPr>
              <a:t>draft reorder PR</a:t>
            </a:r>
            <a:r>
              <a:rPr lang="en-US" sz="1300" dirty="0">
                <a:solidFill>
                  <a:srgbClr val="4A5160"/>
                </a:solidFill>
                <a:latin typeface="DM Sans" pitchFamily="34" charset="0"/>
                <a:ea typeface="DM Sans" pitchFamily="34" charset="-122"/>
                <a:cs typeface="DM Sans" pitchFamily="34" charset="-120"/>
              </a:rPr>
              <a:t> for the supervisor to submit.</a:t>
            </a:r>
            <a:endParaRPr lang="en-US" sz="1300" dirty="0"/>
          </a:p>
        </p:txBody>
      </p:sp>
      <p:sp>
        <p:nvSpPr>
          <p:cNvPr id="7" name="Shape 5"/>
          <p:cNvSpPr/>
          <p:nvPr/>
        </p:nvSpPr>
        <p:spPr>
          <a:xfrm>
            <a:off x="6175375" y="1772295"/>
            <a:ext cx="5200650" cy="1384935"/>
          </a:xfrm>
          <a:prstGeom prst="roundRect">
            <a:avLst>
              <a:gd name="adj" fmla="val 7107"/>
            </a:avLst>
          </a:prstGeom>
          <a:solidFill>
            <a:srgbClr val="FFFDF8"/>
          </a:solidFill>
          <a:ln w="6350">
            <a:solidFill>
              <a:srgbClr val="E4DFD3"/>
            </a:solidFill>
            <a:prstDash val="solid"/>
          </a:ln>
        </p:spPr>
      </p:sp>
      <p:sp>
        <p:nvSpPr>
          <p:cNvPr id="8" name="Text 6"/>
          <p:cNvSpPr/>
          <p:nvPr/>
        </p:nvSpPr>
        <p:spPr>
          <a:xfrm>
            <a:off x="6355080" y="1952005"/>
            <a:ext cx="498647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238"/>
                </a:solidFill>
                <a:latin typeface="DM Sans" pitchFamily="34" charset="0"/>
                <a:ea typeface="DM Sans" pitchFamily="34" charset="-122"/>
                <a:cs typeface="DM Sans" pitchFamily="34" charset="-120"/>
              </a:rPr>
              <a:t>Outgoing — receive proof</a:t>
            </a:r>
            <a:endParaRPr lang="en-US" sz="1600" dirty="0"/>
          </a:p>
        </p:txBody>
      </p:sp>
      <p:sp>
        <p:nvSpPr>
          <p:cNvPr id="9" name="Text 7"/>
          <p:cNvSpPr/>
          <p:nvPr/>
        </p:nvSpPr>
        <p:spPr>
          <a:xfrm>
            <a:off x="6355080" y="2259335"/>
            <a:ext cx="4986477" cy="50419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160"/>
                </a:solidFill>
                <a:latin typeface="DM Sans" pitchFamily="34" charset="0"/>
                <a:ea typeface="DM Sans" pitchFamily="34" charset="-122"/>
                <a:cs typeface="DM Sans" pitchFamily="34" charset="-120"/>
              </a:rPr>
              <a:t>Issue to a person or project; the requestor </a:t>
            </a:r>
            <a:r>
              <a:rPr lang="en-US" sz="1300" b="1" dirty="0">
                <a:solidFill>
                  <a:srgbClr val="4A5160"/>
                </a:solidFill>
                <a:latin typeface="DM Sans" pitchFamily="34" charset="0"/>
                <a:ea typeface="DM Sans" pitchFamily="34" charset="-122"/>
                <a:cs typeface="DM Sans" pitchFamily="34" charset="-120"/>
              </a:rPr>
              <a:t>confirms receipt</a:t>
            </a:r>
            <a:r>
              <a:rPr lang="en-US" sz="1300" dirty="0">
                <a:solidFill>
                  <a:srgbClr val="4A5160"/>
                </a:solidFill>
                <a:latin typeface="DM Sans" pitchFamily="34" charset="0"/>
                <a:ea typeface="DM Sans" pitchFamily="34" charset="-122"/>
                <a:cs typeface="DM Sans" pitchFamily="34" charset="-120"/>
              </a:rPr>
              <a:t>. Prints as a Delivery Receipt, no prices.</a:t>
            </a:r>
            <a:endParaRPr lang="en-US" sz="1300" dirty="0"/>
          </a:p>
        </p:txBody>
      </p:sp>
      <p:sp>
        <p:nvSpPr>
          <p:cNvPr id="10" name="Shape 8"/>
          <p:cNvSpPr/>
          <p:nvPr/>
        </p:nvSpPr>
        <p:spPr>
          <a:xfrm>
            <a:off x="815975" y="3315965"/>
            <a:ext cx="5200650" cy="1384935"/>
          </a:xfrm>
          <a:prstGeom prst="roundRect">
            <a:avLst>
              <a:gd name="adj" fmla="val 7107"/>
            </a:avLst>
          </a:prstGeom>
          <a:solidFill>
            <a:srgbClr val="FFFDF8"/>
          </a:solidFill>
          <a:ln w="6350">
            <a:solidFill>
              <a:srgbClr val="E4DFD3"/>
            </a:solidFill>
            <a:prstDash val="solid"/>
          </a:ln>
        </p:spPr>
      </p:sp>
      <p:sp>
        <p:nvSpPr>
          <p:cNvPr id="11" name="Text 9"/>
          <p:cNvSpPr/>
          <p:nvPr/>
        </p:nvSpPr>
        <p:spPr>
          <a:xfrm>
            <a:off x="995680" y="3495675"/>
            <a:ext cx="498647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238"/>
                </a:solidFill>
                <a:latin typeface="DM Sans" pitchFamily="34" charset="0"/>
                <a:ea typeface="DM Sans" pitchFamily="34" charset="-122"/>
                <a:cs typeface="DM Sans" pitchFamily="34" charset="-120"/>
              </a:rPr>
              <a:t>Pull-out slip — release</a:t>
            </a:r>
            <a:endParaRPr lang="en-US" sz="1600" dirty="0"/>
          </a:p>
        </p:txBody>
      </p:sp>
      <p:sp>
        <p:nvSpPr>
          <p:cNvPr id="12" name="Text 10"/>
          <p:cNvSpPr/>
          <p:nvPr/>
        </p:nvSpPr>
        <p:spPr>
          <a:xfrm>
            <a:off x="995680" y="3803030"/>
            <a:ext cx="4986477" cy="50419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160"/>
                </a:solidFill>
                <a:latin typeface="DM Sans" pitchFamily="34" charset="0"/>
                <a:ea typeface="DM Sans" pitchFamily="34" charset="-122"/>
                <a:cs typeface="DM Sans" pitchFamily="34" charset="-120"/>
              </a:rPr>
              <a:t>From an issued sales order, a PR, or no source (supplier return, testing). Courier block and gate clearance on paper.</a:t>
            </a:r>
            <a:endParaRPr lang="en-US" sz="1300" dirty="0"/>
          </a:p>
        </p:txBody>
      </p:sp>
      <p:sp>
        <p:nvSpPr>
          <p:cNvPr id="13" name="Shape 11"/>
          <p:cNvSpPr/>
          <p:nvPr/>
        </p:nvSpPr>
        <p:spPr>
          <a:xfrm>
            <a:off x="6175375" y="3315965"/>
            <a:ext cx="5200650" cy="1384935"/>
          </a:xfrm>
          <a:prstGeom prst="roundRect">
            <a:avLst>
              <a:gd name="adj" fmla="val 7107"/>
            </a:avLst>
          </a:prstGeom>
          <a:solidFill>
            <a:srgbClr val="FFFDF8"/>
          </a:solidFill>
          <a:ln w="6350">
            <a:solidFill>
              <a:srgbClr val="E4DFD3"/>
            </a:solidFill>
            <a:prstDash val="solid"/>
          </a:ln>
        </p:spPr>
      </p:sp>
      <p:sp>
        <p:nvSpPr>
          <p:cNvPr id="14" name="Text 12"/>
          <p:cNvSpPr/>
          <p:nvPr/>
        </p:nvSpPr>
        <p:spPr>
          <a:xfrm>
            <a:off x="6355080" y="3495675"/>
            <a:ext cx="498647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238"/>
                </a:solidFill>
                <a:latin typeface="DM Sans" pitchFamily="34" charset="0"/>
                <a:ea typeface="DM Sans" pitchFamily="34" charset="-122"/>
                <a:cs typeface="DM Sans" pitchFamily="34" charset="-120"/>
              </a:rPr>
              <a:t>Borrow slip — anyone</a:t>
            </a:r>
            <a:endParaRPr lang="en-US" sz="1600" dirty="0"/>
          </a:p>
        </p:txBody>
      </p:sp>
      <p:sp>
        <p:nvSpPr>
          <p:cNvPr id="15" name="Text 13"/>
          <p:cNvSpPr/>
          <p:nvPr/>
        </p:nvSpPr>
        <p:spPr>
          <a:xfrm>
            <a:off x="6355080" y="3803030"/>
            <a:ext cx="4986477" cy="743585"/>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160"/>
                </a:solidFill>
                <a:latin typeface="DM Sans" pitchFamily="34" charset="0"/>
                <a:ea typeface="DM Sans" pitchFamily="34" charset="-122"/>
                <a:cs typeface="DM Sans" pitchFamily="34" charset="-120"/>
              </a:rPr>
              <a:t>Team Leader / Technical Manager › Warehouse Supervisor approve; warehouse releases; return clearance records condition.</a:t>
            </a:r>
            <a:endParaRPr lang="en-US" sz="1300" dirty="0"/>
          </a:p>
        </p:txBody>
      </p:sp>
      <p:sp>
        <p:nvSpPr>
          <p:cNvPr id="16" name="Text 14"/>
          <p:cNvSpPr/>
          <p:nvPr/>
        </p:nvSpPr>
        <p:spPr>
          <a:xfrm>
            <a:off x="812800" y="6238255"/>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DM Sans" pitchFamily="34" charset="0"/>
                <a:ea typeface="DM Sans" pitchFamily="34" charset="-122"/>
                <a:cs typeface="DM Sans" pitchFamily="34" charset="-120"/>
              </a:rPr>
              <a:t>G-CORE Training · G-CHAIN · Warehouse</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B2238"/>
        </a:solidFill>
        <a:effectLst/>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FD3AE"/>
                </a:solidFill>
                <a:latin typeface="DM Sans" pitchFamily="34" charset="0"/>
                <a:ea typeface="DM Sans" pitchFamily="34" charset="-122"/>
                <a:cs typeface="DM Sans" pitchFamily="34" charset="-120"/>
              </a:rPr>
              <a:t>ON SCREEN · G-CHAIN WAREHOUSE</a:t>
            </a:r>
            <a:endParaRPr lang="en-US" sz="1200" dirty="0"/>
          </a:p>
        </p:txBody>
      </p:sp>
      <p:sp>
        <p:nvSpPr>
          <p:cNvPr id="3" name="Text 1"/>
          <p:cNvSpPr>
            <a:spLocks noGrp="1"/>
          </p:cNvSpPr>
          <p:nvPr>
            <p:ph type="title"/>
          </p:nvPr>
        </p:nvSpPr>
        <p:spPr>
          <a:xfrm>
            <a:off x="609600" y="746770"/>
            <a:ext cx="11301984"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F7F5F0"/>
                </a:solidFill>
                <a:latin typeface="Domine" pitchFamily="18" charset="0"/>
                <a:ea typeface="Domine" pitchFamily="18" charset="-122"/>
                <a:cs typeface="Domine" pitchFamily="18" charset="-120"/>
              </a:rPr>
              <a:t>Inventory</a:t>
            </a:r>
            <a:endParaRPr lang="en-US" sz="2400" dirty="0"/>
          </a:p>
        </p:txBody>
      </p:sp>
      <p:sp>
        <p:nvSpPr>
          <p:cNvPr id="4" name="Shape 2"/>
          <p:cNvSpPr/>
          <p:nvPr/>
        </p:nvSpPr>
        <p:spPr>
          <a:xfrm>
            <a:off x="609600" y="1173485"/>
            <a:ext cx="8001000" cy="4502150"/>
          </a:xfrm>
          <a:prstGeom prst="roundRect">
            <a:avLst>
              <a:gd name="adj" fmla="val 1693"/>
            </a:avLst>
          </a:prstGeom>
          <a:solidFill>
            <a:srgbClr val="F7F5F0"/>
          </a:solidFill>
          <a:ln/>
        </p:spPr>
      </p:sp>
      <p:pic>
        <p:nvPicPr>
          <p:cNvPr id="5" name="Image 0" descr="G-CORE screen: Inventory"/>
          <p:cNvPicPr>
            <a:picLocks noChangeAspect="1"/>
          </p:cNvPicPr>
          <p:nvPr/>
        </p:nvPicPr>
        <p:blipFill>
          <a:blip r:embed="rId3"/>
          <a:srcRect l="-106" r="-106"/>
          <a:stretch/>
        </p:blipFill>
        <p:spPr>
          <a:xfrm>
            <a:off x="622300" y="1186185"/>
            <a:ext cx="7975600" cy="4476750"/>
          </a:xfrm>
          <a:prstGeom prst="roundRect">
            <a:avLst>
              <a:gd name="adj" fmla="val 1418"/>
            </a:avLst>
          </a:prstGeom>
        </p:spPr>
      </p:pic>
      <p:sp>
        <p:nvSpPr>
          <p:cNvPr id="6" name="Shape 3"/>
          <p:cNvSpPr/>
          <p:nvPr/>
        </p:nvSpPr>
        <p:spPr>
          <a:xfrm>
            <a:off x="615950" y="1179835"/>
            <a:ext cx="7988300" cy="4489450"/>
          </a:xfrm>
          <a:prstGeom prst="roundRect">
            <a:avLst>
              <a:gd name="adj" fmla="val 1556"/>
            </a:avLst>
          </a:prstGeom>
          <a:noFill/>
          <a:ln w="12700">
            <a:solidFill>
              <a:srgbClr val="3A4466"/>
            </a:solidFill>
            <a:prstDash val="solid"/>
          </a:ln>
        </p:spPr>
      </p:sp>
      <p:sp>
        <p:nvSpPr>
          <p:cNvPr id="7" name="Text 4"/>
          <p:cNvSpPr/>
          <p:nvPr/>
        </p:nvSpPr>
        <p:spPr>
          <a:xfrm>
            <a:off x="8864600" y="1275085"/>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9FD3A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1</a:t>
            </a:r>
            <a:endParaRPr lang="en-US" sz="1300" dirty="0"/>
          </a:p>
        </p:txBody>
      </p:sp>
      <p:sp>
        <p:nvSpPr>
          <p:cNvPr id="8" name="Text 5"/>
          <p:cNvSpPr/>
          <p:nvPr/>
        </p:nvSpPr>
        <p:spPr>
          <a:xfrm>
            <a:off x="9283700" y="1275085"/>
            <a:ext cx="2367661"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Cards: items, valuation, reorder, critical, pending POs.</a:t>
            </a:r>
            <a:endParaRPr lang="en-US" sz="1400" dirty="0"/>
          </a:p>
        </p:txBody>
      </p:sp>
      <p:sp>
        <p:nvSpPr>
          <p:cNvPr id="9" name="Text 6"/>
          <p:cNvSpPr/>
          <p:nvPr/>
        </p:nvSpPr>
        <p:spPr>
          <a:xfrm>
            <a:off x="8864600" y="2225055"/>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9FD3A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2</a:t>
            </a:r>
            <a:endParaRPr lang="en-US" sz="1300" dirty="0"/>
          </a:p>
        </p:txBody>
      </p:sp>
      <p:sp>
        <p:nvSpPr>
          <p:cNvPr id="10" name="Text 7"/>
          <p:cNvSpPr/>
          <p:nvPr/>
        </p:nvSpPr>
        <p:spPr>
          <a:xfrm>
            <a:off x="9283700" y="2225055"/>
            <a:ext cx="2646998"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Category tiles filter the list.</a:t>
            </a:r>
            <a:endParaRPr lang="en-US" sz="1400" dirty="0"/>
          </a:p>
        </p:txBody>
      </p:sp>
      <p:sp>
        <p:nvSpPr>
          <p:cNvPr id="11" name="Text 8"/>
          <p:cNvSpPr/>
          <p:nvPr/>
        </p:nvSpPr>
        <p:spPr>
          <a:xfrm>
            <a:off x="8864600" y="2733055"/>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9FD3A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3</a:t>
            </a:r>
            <a:endParaRPr lang="en-US" sz="1300" dirty="0"/>
          </a:p>
        </p:txBody>
      </p:sp>
      <p:sp>
        <p:nvSpPr>
          <p:cNvPr id="12" name="Text 9"/>
          <p:cNvSpPr/>
          <p:nvPr/>
        </p:nvSpPr>
        <p:spPr>
          <a:xfrm>
            <a:off x="9283700" y="2733055"/>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Status: In stock, Low, On order, Critical.</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B2238"/>
        </a:solidFill>
        <a:effectLst/>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FD3AE"/>
                </a:solidFill>
                <a:latin typeface="DM Sans" pitchFamily="34" charset="0"/>
                <a:ea typeface="DM Sans" pitchFamily="34" charset="-122"/>
                <a:cs typeface="DM Sans" pitchFamily="34" charset="-120"/>
              </a:rPr>
              <a:t>ON SCREEN · G-CHAIN WAREHOUSE</a:t>
            </a:r>
            <a:endParaRPr lang="en-US" sz="1200" dirty="0"/>
          </a:p>
        </p:txBody>
      </p:sp>
      <p:sp>
        <p:nvSpPr>
          <p:cNvPr id="3" name="Text 1"/>
          <p:cNvSpPr>
            <a:spLocks noGrp="1"/>
          </p:cNvSpPr>
          <p:nvPr>
            <p:ph type="title"/>
          </p:nvPr>
        </p:nvSpPr>
        <p:spPr>
          <a:xfrm>
            <a:off x="609600" y="746770"/>
            <a:ext cx="11301984"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F7F5F0"/>
                </a:solidFill>
                <a:latin typeface="Domine" pitchFamily="18" charset="0"/>
                <a:ea typeface="Domine" pitchFamily="18" charset="-122"/>
                <a:cs typeface="Domine" pitchFamily="18" charset="-120"/>
              </a:rPr>
              <a:t>An Outgoing slip (Delivery Receipt)</a:t>
            </a:r>
            <a:endParaRPr lang="en-US" sz="2400" dirty="0"/>
          </a:p>
        </p:txBody>
      </p:sp>
      <p:sp>
        <p:nvSpPr>
          <p:cNvPr id="4" name="Shape 2"/>
          <p:cNvSpPr/>
          <p:nvPr/>
        </p:nvSpPr>
        <p:spPr>
          <a:xfrm>
            <a:off x="609600" y="1173485"/>
            <a:ext cx="8001000" cy="4502150"/>
          </a:xfrm>
          <a:prstGeom prst="roundRect">
            <a:avLst>
              <a:gd name="adj" fmla="val 1693"/>
            </a:avLst>
          </a:prstGeom>
          <a:solidFill>
            <a:srgbClr val="F7F5F0"/>
          </a:solidFill>
          <a:ln/>
        </p:spPr>
      </p:sp>
      <p:pic>
        <p:nvPicPr>
          <p:cNvPr id="5" name="Image 0" descr="G-CORE screen: An Outgoing slip (Delivery Receipt)"/>
          <p:cNvPicPr>
            <a:picLocks noChangeAspect="1"/>
          </p:cNvPicPr>
          <p:nvPr/>
        </p:nvPicPr>
        <p:blipFill>
          <a:blip r:embed="rId3"/>
          <a:srcRect l="-106" r="-106"/>
          <a:stretch/>
        </p:blipFill>
        <p:spPr>
          <a:xfrm>
            <a:off x="622300" y="1186185"/>
            <a:ext cx="7975600" cy="4476750"/>
          </a:xfrm>
          <a:prstGeom prst="roundRect">
            <a:avLst>
              <a:gd name="adj" fmla="val 1418"/>
            </a:avLst>
          </a:prstGeom>
        </p:spPr>
      </p:pic>
      <p:sp>
        <p:nvSpPr>
          <p:cNvPr id="6" name="Shape 3"/>
          <p:cNvSpPr/>
          <p:nvPr/>
        </p:nvSpPr>
        <p:spPr>
          <a:xfrm>
            <a:off x="615950" y="1179835"/>
            <a:ext cx="7988300" cy="4489450"/>
          </a:xfrm>
          <a:prstGeom prst="roundRect">
            <a:avLst>
              <a:gd name="adj" fmla="val 1556"/>
            </a:avLst>
          </a:prstGeom>
          <a:noFill/>
          <a:ln w="12700">
            <a:solidFill>
              <a:srgbClr val="3A4466"/>
            </a:solidFill>
            <a:prstDash val="solid"/>
          </a:ln>
        </p:spPr>
      </p:sp>
      <p:sp>
        <p:nvSpPr>
          <p:cNvPr id="7" name="Text 4"/>
          <p:cNvSpPr/>
          <p:nvPr/>
        </p:nvSpPr>
        <p:spPr>
          <a:xfrm>
            <a:off x="8864600" y="1275085"/>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9FD3A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1</a:t>
            </a:r>
            <a:endParaRPr lang="en-US" sz="1300" dirty="0"/>
          </a:p>
        </p:txBody>
      </p:sp>
      <p:sp>
        <p:nvSpPr>
          <p:cNvPr id="8" name="Text 5"/>
          <p:cNvSpPr/>
          <p:nvPr/>
        </p:nvSpPr>
        <p:spPr>
          <a:xfrm>
            <a:off x="9283700" y="1275085"/>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Requested by, deliver to, carrier.</a:t>
            </a:r>
            <a:endParaRPr lang="en-US" sz="1400" dirty="0"/>
          </a:p>
        </p:txBody>
      </p:sp>
      <p:sp>
        <p:nvSpPr>
          <p:cNvPr id="9" name="Text 6"/>
          <p:cNvSpPr/>
          <p:nvPr/>
        </p:nvSpPr>
        <p:spPr>
          <a:xfrm>
            <a:off x="8864600" y="1976115"/>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9FD3A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2</a:t>
            </a:r>
            <a:endParaRPr lang="en-US" sz="1300" dirty="0"/>
          </a:p>
        </p:txBody>
      </p:sp>
      <p:sp>
        <p:nvSpPr>
          <p:cNvPr id="10" name="Text 7"/>
          <p:cNvSpPr/>
          <p:nvPr/>
        </p:nvSpPr>
        <p:spPr>
          <a:xfrm>
            <a:off x="9283700" y="1976115"/>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Items with serial and condition — no prices.</a:t>
            </a:r>
            <a:endParaRPr lang="en-US" sz="1400" dirty="0"/>
          </a:p>
        </p:txBody>
      </p:sp>
      <p:sp>
        <p:nvSpPr>
          <p:cNvPr id="11" name="Text 8"/>
          <p:cNvSpPr/>
          <p:nvPr/>
        </p:nvSpPr>
        <p:spPr>
          <a:xfrm>
            <a:off x="8864600" y="2677170"/>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9FD3A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3</a:t>
            </a:r>
            <a:endParaRPr lang="en-US" sz="1300" dirty="0"/>
          </a:p>
        </p:txBody>
      </p:sp>
      <p:sp>
        <p:nvSpPr>
          <p:cNvPr id="12" name="Text 9"/>
          <p:cNvSpPr/>
          <p:nvPr/>
        </p:nvSpPr>
        <p:spPr>
          <a:xfrm>
            <a:off x="9283700" y="2677170"/>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The receiver confirms receipt in G-CORE.</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E7D41"/>
                </a:solidFill>
                <a:latin typeface="DM Sans" pitchFamily="34" charset="0"/>
                <a:ea typeface="DM Sans" pitchFamily="34" charset="-122"/>
                <a:cs typeface="DM Sans" pitchFamily="34" charset="-120"/>
              </a:rPr>
              <a:t>G-CHAIN · REPORTS</a:t>
            </a:r>
            <a:endParaRPr lang="en-US" sz="1200" dirty="0"/>
          </a:p>
        </p:txBody>
      </p:sp>
      <p:sp>
        <p:nvSpPr>
          <p:cNvPr id="3" name="Text 1"/>
          <p:cNvSpPr>
            <a:spLocks noGrp="1"/>
          </p:cNvSpPr>
          <p:nvPr>
            <p:ph type="title"/>
          </p:nvPr>
        </p:nvSpPr>
        <p:spPr>
          <a:xfrm>
            <a:off x="812800" y="112777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B2238"/>
                </a:solidFill>
                <a:latin typeface="Domine" pitchFamily="18" charset="0"/>
                <a:ea typeface="Domine" pitchFamily="18" charset="-122"/>
                <a:cs typeface="Domine" pitchFamily="18" charset="-120"/>
              </a:rPr>
              <a:t>A Report button on every list</a:t>
            </a:r>
            <a:endParaRPr lang="en-US" sz="3000" dirty="0"/>
          </a:p>
        </p:txBody>
      </p:sp>
      <p:sp>
        <p:nvSpPr>
          <p:cNvPr id="4" name="Text 2"/>
          <p:cNvSpPr/>
          <p:nvPr/>
        </p:nvSpPr>
        <p:spPr>
          <a:xfrm>
            <a:off x="812800" y="1769120"/>
            <a:ext cx="5101590" cy="85407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1B2238"/>
                </a:solidFill>
                <a:latin typeface="DM Sans" pitchFamily="34" charset="0"/>
                <a:ea typeface="DM Sans" pitchFamily="34" charset="-122"/>
                <a:cs typeface="DM Sans" pitchFamily="34" charset="-120"/>
              </a:rPr>
              <a:t>Every G-CHAIN list has a </a:t>
            </a:r>
            <a:r>
              <a:rPr lang="en-US" sz="1500" b="1" dirty="0">
                <a:solidFill>
                  <a:srgbClr val="1B2238"/>
                </a:solidFill>
                <a:latin typeface="DM Sans" pitchFamily="34" charset="0"/>
                <a:ea typeface="DM Sans" pitchFamily="34" charset="-122"/>
                <a:cs typeface="DM Sans" pitchFamily="34" charset="-120"/>
              </a:rPr>
              <a:t>Report</a:t>
            </a:r>
            <a:r>
              <a:rPr lang="en-US" sz="1500" dirty="0">
                <a:solidFill>
                  <a:srgbClr val="1B2238"/>
                </a:solidFill>
                <a:latin typeface="DM Sans" pitchFamily="34" charset="0"/>
                <a:ea typeface="DM Sans" pitchFamily="34" charset="-122"/>
                <a:cs typeface="DM Sans" pitchFamily="34" charset="-120"/>
              </a:rPr>
              <a:t> button beside its “+ New”. It opens that menu’s report over a period you choose.</a:t>
            </a:r>
            <a:endParaRPr lang="en-US" sz="1500" dirty="0"/>
          </a:p>
        </p:txBody>
      </p:sp>
      <p:sp>
        <p:nvSpPr>
          <p:cNvPr id="5" name="Text 3"/>
          <p:cNvSpPr/>
          <p:nvPr/>
        </p:nvSpPr>
        <p:spPr>
          <a:xfrm>
            <a:off x="812800" y="2712095"/>
            <a:ext cx="5101590"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1B2238"/>
                </a:solidFill>
                <a:latin typeface="DM Sans" pitchFamily="34" charset="0"/>
                <a:ea typeface="DM Sans" pitchFamily="34" charset="-122"/>
                <a:cs typeface="DM Sans" pitchFamily="34" charset="-120"/>
              </a:rPr>
              <a:t>Presets: This month · Last month · This quarter · Year to date · Last 12 months — or type the dates.</a:t>
            </a:r>
            <a:endParaRPr lang="en-US" sz="1500" dirty="0"/>
          </a:p>
        </p:txBody>
      </p:sp>
      <p:sp>
        <p:nvSpPr>
          <p:cNvPr id="6" name="Text 4"/>
          <p:cNvSpPr/>
          <p:nvPr/>
        </p:nvSpPr>
        <p:spPr>
          <a:xfrm>
            <a:off x="812800" y="3378845"/>
            <a:ext cx="5101590" cy="577850"/>
          </a:xfrm>
          <a:prstGeom prst="rect">
            <a:avLst/>
          </a:prstGeom>
          <a:noFill/>
          <a:ln/>
        </p:spPr>
        <p:txBody>
          <a:bodyPr wrap="square" lIns="0" tIns="0" rIns="0" bIns="0" rtlCol="0" anchor="t">
            <a:normAutofit/>
          </a:bodyPr>
          <a:lstStyle/>
          <a:p>
            <a:pPr marL="0" indent="0" algn="l">
              <a:lnSpc>
                <a:spcPts val="2175"/>
              </a:lnSpc>
              <a:buNone/>
            </a:pPr>
            <a:r>
              <a:rPr lang="en-US" sz="1500" b="1" dirty="0">
                <a:solidFill>
                  <a:srgbClr val="1B2238"/>
                </a:solidFill>
                <a:latin typeface="DM Sans" pitchFamily="34" charset="0"/>
                <a:ea typeface="DM Sans" pitchFamily="34" charset="-122"/>
                <a:cs typeface="DM Sans" pitchFamily="34" charset="-120"/>
              </a:rPr>
              <a:t>Export CSV</a:t>
            </a:r>
            <a:r>
              <a:rPr lang="en-US" sz="1500" dirty="0">
                <a:solidFill>
                  <a:srgbClr val="1B2238"/>
                </a:solidFill>
                <a:latin typeface="DM Sans" pitchFamily="34" charset="0"/>
                <a:ea typeface="DM Sans" pitchFamily="34" charset="-122"/>
                <a:cs typeface="DM Sans" pitchFamily="34" charset="-120"/>
              </a:rPr>
              <a:t> or </a:t>
            </a:r>
            <a:r>
              <a:rPr lang="en-US" sz="1500" b="1" dirty="0">
                <a:solidFill>
                  <a:srgbClr val="1B2238"/>
                </a:solidFill>
                <a:latin typeface="DM Sans" pitchFamily="34" charset="0"/>
                <a:ea typeface="DM Sans" pitchFamily="34" charset="-122"/>
                <a:cs typeface="DM Sans" pitchFamily="34" charset="-120"/>
              </a:rPr>
              <a:t>Print</a:t>
            </a:r>
            <a:r>
              <a:rPr lang="en-US" sz="1500" dirty="0">
                <a:solidFill>
                  <a:srgbClr val="1B2238"/>
                </a:solidFill>
                <a:latin typeface="DM Sans" pitchFamily="34" charset="0"/>
                <a:ea typeface="DM Sans" pitchFamily="34" charset="-122"/>
                <a:cs typeface="DM Sans" pitchFamily="34" charset="-120"/>
              </a:rPr>
              <a:t>. Every figure is read from the documents themselves.</a:t>
            </a:r>
            <a:endParaRPr lang="en-US" sz="1500" dirty="0"/>
          </a:p>
        </p:txBody>
      </p:sp>
      <p:sp>
        <p:nvSpPr>
          <p:cNvPr id="7" name="Shape 5"/>
          <p:cNvSpPr/>
          <p:nvPr/>
        </p:nvSpPr>
        <p:spPr>
          <a:xfrm>
            <a:off x="5969000" y="1897707"/>
            <a:ext cx="5410200" cy="1905000"/>
          </a:xfrm>
          <a:prstGeom prst="roundRect">
            <a:avLst>
              <a:gd name="adj" fmla="val 5333"/>
            </a:avLst>
          </a:prstGeom>
          <a:solidFill>
            <a:srgbClr val="1B2238"/>
          </a:solidFill>
          <a:ln/>
        </p:spPr>
      </p:sp>
      <p:sp>
        <p:nvSpPr>
          <p:cNvPr id="8" name="Text 6"/>
          <p:cNvSpPr/>
          <p:nvPr/>
        </p:nvSpPr>
        <p:spPr>
          <a:xfrm>
            <a:off x="6197600" y="2126307"/>
            <a:ext cx="5101590"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FD3AE"/>
                </a:solidFill>
                <a:latin typeface="DM Sans" pitchFamily="34" charset="0"/>
                <a:ea typeface="DM Sans" pitchFamily="34" charset="-122"/>
                <a:cs typeface="DM Sans" pitchFamily="34" charset="-120"/>
              </a:rPr>
              <a:t>TRY IT</a:t>
            </a:r>
            <a:endParaRPr lang="en-US" sz="1200" dirty="0"/>
          </a:p>
        </p:txBody>
      </p:sp>
      <p:sp>
        <p:nvSpPr>
          <p:cNvPr id="9" name="Text 7"/>
          <p:cNvSpPr/>
          <p:nvPr/>
        </p:nvSpPr>
        <p:spPr>
          <a:xfrm>
            <a:off x="6197600" y="2441253"/>
            <a:ext cx="5101590" cy="54102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F7F5F0"/>
                </a:solidFill>
                <a:latin typeface="DM Sans" pitchFamily="34" charset="0"/>
                <a:ea typeface="DM Sans" pitchFamily="34" charset="-122"/>
                <a:cs typeface="DM Sans" pitchFamily="34" charset="-120"/>
              </a:rPr>
              <a:t>Purchase Orders › Report › Last 12 months → the </a:t>
            </a:r>
            <a:r>
              <a:rPr lang="en-US" sz="1400" b="1" dirty="0">
                <a:solidFill>
                  <a:srgbClr val="F7F5F0"/>
                </a:solidFill>
                <a:latin typeface="DM Sans" pitchFamily="34" charset="0"/>
                <a:ea typeface="DM Sans" pitchFamily="34" charset="-122"/>
                <a:cs typeface="DM Sans" pitchFamily="34" charset="-120"/>
              </a:rPr>
              <a:t>supplier-by-month</a:t>
            </a:r>
            <a:r>
              <a:rPr lang="en-US" sz="1400" dirty="0">
                <a:solidFill>
                  <a:srgbClr val="F7F5F0"/>
                </a:solidFill>
                <a:latin typeface="DM Sans" pitchFamily="34" charset="0"/>
                <a:ea typeface="DM Sans" pitchFamily="34" charset="-122"/>
                <a:cs typeface="DM Sans" pitchFamily="34" charset="-120"/>
              </a:rPr>
              <a:t> matrix.</a:t>
            </a:r>
            <a:endParaRPr lang="en-US" sz="1400" dirty="0"/>
          </a:p>
        </p:txBody>
      </p:sp>
      <p:sp>
        <p:nvSpPr>
          <p:cNvPr id="10" name="Text 8"/>
          <p:cNvSpPr/>
          <p:nvPr/>
        </p:nvSpPr>
        <p:spPr>
          <a:xfrm>
            <a:off x="6197600" y="3058492"/>
            <a:ext cx="5101590" cy="54102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F7F5F0"/>
                </a:solidFill>
                <a:latin typeface="DM Sans" pitchFamily="34" charset="0"/>
                <a:ea typeface="DM Sans" pitchFamily="34" charset="-122"/>
                <a:cs typeface="DM Sans" pitchFamily="34" charset="-120"/>
              </a:rPr>
              <a:t>Incoming › Report → goods received by month, by quantity and value.</a:t>
            </a:r>
            <a:endParaRPr lang="en-US" sz="1400" dirty="0"/>
          </a:p>
        </p:txBody>
      </p:sp>
      <p:sp>
        <p:nvSpPr>
          <p:cNvPr id="11" name="Text 9"/>
          <p:cNvSpPr/>
          <p:nvPr/>
        </p:nvSpPr>
        <p:spPr>
          <a:xfrm>
            <a:off x="812800" y="6238255"/>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DM Sans" pitchFamily="34" charset="0"/>
                <a:ea typeface="DM Sans" pitchFamily="34" charset="-122"/>
                <a:cs typeface="DM Sans" pitchFamily="34" charset="-120"/>
              </a:rPr>
              <a:t>G-CORE Training · G-CHAIN · Reports</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B2238"/>
        </a:solidFill>
        <a:effectLst/>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FD3AE"/>
                </a:solidFill>
                <a:latin typeface="DM Sans" pitchFamily="34" charset="0"/>
                <a:ea typeface="DM Sans" pitchFamily="34" charset="-122"/>
                <a:cs typeface="DM Sans" pitchFamily="34" charset="-120"/>
              </a:rPr>
              <a:t>ON SCREEN · G-CHAIN</a:t>
            </a:r>
            <a:endParaRPr lang="en-US" sz="1200" dirty="0"/>
          </a:p>
        </p:txBody>
      </p:sp>
      <p:sp>
        <p:nvSpPr>
          <p:cNvPr id="3" name="Text 1"/>
          <p:cNvSpPr>
            <a:spLocks noGrp="1"/>
          </p:cNvSpPr>
          <p:nvPr>
            <p:ph type="title"/>
          </p:nvPr>
        </p:nvSpPr>
        <p:spPr>
          <a:xfrm>
            <a:off x="609600" y="746770"/>
            <a:ext cx="11301984"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F7F5F0"/>
                </a:solidFill>
                <a:latin typeface="Domine" pitchFamily="18" charset="0"/>
                <a:ea typeface="Domine" pitchFamily="18" charset="-122"/>
                <a:cs typeface="Domine" pitchFamily="18" charset="-120"/>
              </a:rPr>
              <a:t>Supply Chain Reports</a:t>
            </a:r>
            <a:endParaRPr lang="en-US" sz="2400" dirty="0"/>
          </a:p>
        </p:txBody>
      </p:sp>
      <p:sp>
        <p:nvSpPr>
          <p:cNvPr id="4" name="Shape 2"/>
          <p:cNvSpPr/>
          <p:nvPr/>
        </p:nvSpPr>
        <p:spPr>
          <a:xfrm>
            <a:off x="609600" y="1173485"/>
            <a:ext cx="8001000" cy="4502150"/>
          </a:xfrm>
          <a:prstGeom prst="roundRect">
            <a:avLst>
              <a:gd name="adj" fmla="val 1693"/>
            </a:avLst>
          </a:prstGeom>
          <a:solidFill>
            <a:srgbClr val="F7F5F0"/>
          </a:solidFill>
          <a:ln/>
        </p:spPr>
      </p:sp>
      <p:pic>
        <p:nvPicPr>
          <p:cNvPr id="5" name="Image 0" descr="G-CORE screen: Supply Chain Reports"/>
          <p:cNvPicPr>
            <a:picLocks noChangeAspect="1"/>
          </p:cNvPicPr>
          <p:nvPr/>
        </p:nvPicPr>
        <p:blipFill>
          <a:blip r:embed="rId3"/>
          <a:srcRect l="-106" r="-106"/>
          <a:stretch/>
        </p:blipFill>
        <p:spPr>
          <a:xfrm>
            <a:off x="622300" y="1186185"/>
            <a:ext cx="7975600" cy="4476750"/>
          </a:xfrm>
          <a:prstGeom prst="roundRect">
            <a:avLst>
              <a:gd name="adj" fmla="val 1418"/>
            </a:avLst>
          </a:prstGeom>
        </p:spPr>
      </p:pic>
      <p:sp>
        <p:nvSpPr>
          <p:cNvPr id="6" name="Shape 3"/>
          <p:cNvSpPr/>
          <p:nvPr/>
        </p:nvSpPr>
        <p:spPr>
          <a:xfrm>
            <a:off x="615950" y="1179835"/>
            <a:ext cx="7988300" cy="4489450"/>
          </a:xfrm>
          <a:prstGeom prst="roundRect">
            <a:avLst>
              <a:gd name="adj" fmla="val 1556"/>
            </a:avLst>
          </a:prstGeom>
          <a:noFill/>
          <a:ln w="12700">
            <a:solidFill>
              <a:srgbClr val="3A4466"/>
            </a:solidFill>
            <a:prstDash val="solid"/>
          </a:ln>
        </p:spPr>
      </p:sp>
      <p:sp>
        <p:nvSpPr>
          <p:cNvPr id="7" name="Text 4"/>
          <p:cNvSpPr/>
          <p:nvPr/>
        </p:nvSpPr>
        <p:spPr>
          <a:xfrm>
            <a:off x="8864600" y="1275085"/>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9FD3A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1</a:t>
            </a:r>
            <a:endParaRPr lang="en-US" sz="1300" dirty="0"/>
          </a:p>
        </p:txBody>
      </p:sp>
      <p:sp>
        <p:nvSpPr>
          <p:cNvPr id="8" name="Text 5"/>
          <p:cNvSpPr/>
          <p:nvPr/>
        </p:nvSpPr>
        <p:spPr>
          <a:xfrm>
            <a:off x="9283700" y="1275085"/>
            <a:ext cx="229838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Pick a report per menu.</a:t>
            </a:r>
            <a:endParaRPr lang="en-US" sz="1400" dirty="0"/>
          </a:p>
        </p:txBody>
      </p:sp>
      <p:sp>
        <p:nvSpPr>
          <p:cNvPr id="9" name="Text 6"/>
          <p:cNvSpPr/>
          <p:nvPr/>
        </p:nvSpPr>
        <p:spPr>
          <a:xfrm>
            <a:off x="8864600" y="1783085"/>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9FD3A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2</a:t>
            </a:r>
            <a:endParaRPr lang="en-US" sz="1300" dirty="0"/>
          </a:p>
        </p:txBody>
      </p:sp>
      <p:sp>
        <p:nvSpPr>
          <p:cNvPr id="10" name="Text 7"/>
          <p:cNvSpPr/>
          <p:nvPr/>
        </p:nvSpPr>
        <p:spPr>
          <a:xfrm>
            <a:off x="9283700" y="1783085"/>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Period presets or your own dates.</a:t>
            </a:r>
            <a:endParaRPr lang="en-US" sz="1400" dirty="0"/>
          </a:p>
        </p:txBody>
      </p:sp>
      <p:sp>
        <p:nvSpPr>
          <p:cNvPr id="11" name="Text 8"/>
          <p:cNvSpPr/>
          <p:nvPr/>
        </p:nvSpPr>
        <p:spPr>
          <a:xfrm>
            <a:off x="8864600" y="2484115"/>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9FD3A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3</a:t>
            </a:r>
            <a:endParaRPr lang="en-US" sz="1300" dirty="0"/>
          </a:p>
        </p:txBody>
      </p:sp>
      <p:sp>
        <p:nvSpPr>
          <p:cNvPr id="12" name="Text 9"/>
          <p:cNvSpPr/>
          <p:nvPr/>
        </p:nvSpPr>
        <p:spPr>
          <a:xfrm>
            <a:off x="9283700" y="2484115"/>
            <a:ext cx="194224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Export CSV or Print.</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A0560C"/>
        </a:solidFill>
        <a:effectLst/>
      </p:bgPr>
    </p:bg>
    <p:spTree>
      <p:nvGrpSpPr>
        <p:cNvPr id="1" name=""/>
        <p:cNvGrpSpPr/>
        <p:nvPr/>
      </p:nvGrpSpPr>
      <p:grpSpPr>
        <a:xfrm>
          <a:off x="0" y="0"/>
          <a:ext cx="0" cy="0"/>
          <a:chOff x="0" y="0"/>
          <a:chExt cx="0" cy="0"/>
        </a:xfrm>
      </p:grpSpPr>
      <p:sp>
        <p:nvSpPr>
          <p:cNvPr id="2" name="Text 0"/>
          <p:cNvSpPr/>
          <p:nvPr/>
        </p:nvSpPr>
        <p:spPr>
          <a:xfrm>
            <a:off x="812800" y="2584698"/>
            <a:ext cx="10883392" cy="274320"/>
          </a:xfrm>
          <a:prstGeom prst="rect">
            <a:avLst/>
          </a:prstGeom>
          <a:noFill/>
          <a:ln/>
        </p:spPr>
        <p:txBody>
          <a:bodyPr wrap="square" lIns="0" tIns="0" rIns="0" bIns="0" rtlCol="0" anchor="t">
            <a:normAutofit/>
          </a:bodyPr>
          <a:lstStyle/>
          <a:p>
            <a:pPr marL="0" indent="0" algn="l">
              <a:lnSpc>
                <a:spcPts val="1960"/>
              </a:lnSpc>
              <a:buNone/>
            </a:pPr>
            <a:r>
              <a:rPr lang="en-US" sz="1400" kern="0" spc="200" dirty="0">
                <a:solidFill>
                  <a:srgbClr val="F6DFC2"/>
                </a:solidFill>
                <a:latin typeface="DM Sans" pitchFamily="34" charset="0"/>
                <a:ea typeface="DM Sans" pitchFamily="34" charset="-122"/>
                <a:cs typeface="DM Sans" pitchFamily="34" charset="-120"/>
              </a:rPr>
              <a:t>PART 5 · 25 MINUTES · 11:25</a:t>
            </a:r>
            <a:endParaRPr lang="en-US" sz="1400" dirty="0"/>
          </a:p>
        </p:txBody>
      </p:sp>
      <p:sp>
        <p:nvSpPr>
          <p:cNvPr id="3" name="Text 1"/>
          <p:cNvSpPr>
            <a:spLocks noGrp="1"/>
          </p:cNvSpPr>
          <p:nvPr>
            <p:ph type="title"/>
          </p:nvPr>
        </p:nvSpPr>
        <p:spPr>
          <a:xfrm>
            <a:off x="812800" y="3036813"/>
            <a:ext cx="10883392" cy="738584"/>
          </a:xfrm>
          <a:prstGeom prst="rect">
            <a:avLst/>
          </a:prstGeom>
          <a:noFill/>
          <a:ln/>
        </p:spPr>
        <p:txBody>
          <a:bodyPr wrap="square" lIns="0" tIns="0" rIns="0" bIns="0" rtlCol="0" anchor="t">
            <a:normAutofit/>
          </a:bodyPr>
          <a:lstStyle/>
          <a:p>
            <a:pPr marL="0" indent="0" algn="l">
              <a:lnSpc>
                <a:spcPts val="5616"/>
              </a:lnSpc>
              <a:buNone/>
            </a:pPr>
            <a:r>
              <a:rPr lang="en-US" sz="5200" b="1" i="0" dirty="0">
                <a:solidFill>
                  <a:srgbClr val="FBF6EF"/>
                </a:solidFill>
                <a:latin typeface="Domine" pitchFamily="18" charset="0"/>
                <a:ea typeface="Domine" pitchFamily="18" charset="-122"/>
                <a:cs typeface="Domine" pitchFamily="18" charset="-120"/>
              </a:rPr>
              <a:t>G-FIN money out</a:t>
            </a:r>
            <a:endParaRPr lang="en-US" sz="5200" dirty="0"/>
          </a:p>
        </p:txBody>
      </p:sp>
      <p:sp>
        <p:nvSpPr>
          <p:cNvPr id="4" name="Text 2"/>
          <p:cNvSpPr/>
          <p:nvPr/>
        </p:nvSpPr>
        <p:spPr>
          <a:xfrm>
            <a:off x="812800" y="3953197"/>
            <a:ext cx="9156700" cy="34544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F6DFC2"/>
                </a:solidFill>
                <a:latin typeface="DM Sans" pitchFamily="34" charset="0"/>
                <a:ea typeface="DM Sans" pitchFamily="34" charset="-122"/>
                <a:cs typeface="DM Sans" pitchFamily="34" charset="-120"/>
              </a:rPr>
              <a:t>Budget Requests · Budget Liquidations · Reimbursements · Cash Advances</a:t>
            </a:r>
            <a:endParaRPr lang="en-US" sz="1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0560C"/>
                </a:solidFill>
                <a:latin typeface="DM Sans" pitchFamily="34" charset="0"/>
                <a:ea typeface="DM Sans" pitchFamily="34" charset="-122"/>
                <a:cs typeface="DM Sans" pitchFamily="34" charset="-120"/>
              </a:rPr>
              <a:t>G-FIN · WHICH ONE DO I USE?</a:t>
            </a:r>
            <a:endParaRPr lang="en-US" sz="1200" dirty="0"/>
          </a:p>
        </p:txBody>
      </p:sp>
      <p:sp>
        <p:nvSpPr>
          <p:cNvPr id="3" name="Text 1"/>
          <p:cNvSpPr>
            <a:spLocks noGrp="1"/>
          </p:cNvSpPr>
          <p:nvPr>
            <p:ph type="title"/>
          </p:nvPr>
        </p:nvSpPr>
        <p:spPr>
          <a:xfrm>
            <a:off x="812800" y="112777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B2238"/>
                </a:solidFill>
                <a:latin typeface="Domine" pitchFamily="18" charset="0"/>
                <a:ea typeface="Domine" pitchFamily="18" charset="-122"/>
                <a:cs typeface="Domine" pitchFamily="18" charset="-120"/>
              </a:rPr>
              <a:t>Three ways money goes out to people</a:t>
            </a:r>
            <a:endParaRPr lang="en-US" sz="3000" dirty="0"/>
          </a:p>
        </p:txBody>
      </p:sp>
      <p:sp>
        <p:nvSpPr>
          <p:cNvPr id="4" name="Shape 2"/>
          <p:cNvSpPr/>
          <p:nvPr/>
        </p:nvSpPr>
        <p:spPr>
          <a:xfrm>
            <a:off x="815975" y="1772295"/>
            <a:ext cx="3414157" cy="1703070"/>
          </a:xfrm>
          <a:prstGeom prst="roundRect">
            <a:avLst>
              <a:gd name="adj" fmla="val 5779"/>
            </a:avLst>
          </a:prstGeom>
          <a:solidFill>
            <a:srgbClr val="FFFDF8"/>
          </a:solidFill>
          <a:ln w="6350">
            <a:solidFill>
              <a:srgbClr val="E4DFD3"/>
            </a:solidFill>
            <a:prstDash val="solid"/>
          </a:ln>
        </p:spPr>
      </p:sp>
      <p:sp>
        <p:nvSpPr>
          <p:cNvPr id="5" name="Text 3"/>
          <p:cNvSpPr/>
          <p:nvPr/>
        </p:nvSpPr>
        <p:spPr>
          <a:xfrm>
            <a:off x="1021080" y="1977405"/>
            <a:ext cx="3094065"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B2238"/>
                </a:solidFill>
                <a:latin typeface="DM Sans" pitchFamily="34" charset="0"/>
                <a:ea typeface="DM Sans" pitchFamily="34" charset="-122"/>
                <a:cs typeface="DM Sans" pitchFamily="34" charset="-120"/>
              </a:rPr>
              <a:t>Budget request</a:t>
            </a:r>
            <a:endParaRPr lang="en-US" sz="1700" dirty="0"/>
          </a:p>
        </p:txBody>
      </p:sp>
      <p:sp>
        <p:nvSpPr>
          <p:cNvPr id="6" name="Text 4"/>
          <p:cNvSpPr/>
          <p:nvPr/>
        </p:nvSpPr>
        <p:spPr>
          <a:xfrm>
            <a:off x="1021080" y="2312665"/>
            <a:ext cx="3094065" cy="982980"/>
          </a:xfrm>
          <a:prstGeom prst="rect">
            <a:avLst/>
          </a:prstGeom>
          <a:noFill/>
          <a:ln/>
        </p:spPr>
        <p:txBody>
          <a:bodyPr wrap="square" lIns="0" tIns="0" rIns="0" bIns="0" rtlCol="0" anchor="t">
            <a:normAutofit/>
          </a:bodyPr>
          <a:lstStyle/>
          <a:p>
            <a:pPr marL="0" indent="0" algn="l">
              <a:lnSpc>
                <a:spcPts val="1885"/>
              </a:lnSpc>
              <a:buNone/>
            </a:pPr>
            <a:r>
              <a:rPr lang="en-US" sz="1300" b="1" dirty="0">
                <a:solidFill>
                  <a:srgbClr val="4A5160"/>
                </a:solidFill>
                <a:latin typeface="DM Sans" pitchFamily="34" charset="0"/>
                <a:ea typeface="DM Sans" pitchFamily="34" charset="-122"/>
                <a:cs typeface="DM Sans" pitchFamily="34" charset="-120"/>
              </a:rPr>
              <a:t>Project cash before you spend.</a:t>
            </a:r>
            <a:r>
              <a:rPr lang="en-US" sz="1300" dirty="0">
                <a:solidFill>
                  <a:srgbClr val="4A5160"/>
                </a:solidFill>
                <a:latin typeface="DM Sans" pitchFamily="34" charset="0"/>
                <a:ea typeface="DM Sans" pitchFamily="34" charset="-122"/>
                <a:cs typeface="DM Sans" pitchFamily="34" charset="-120"/>
              </a:rPr>
              <a:t> Always names a project (office cash goes against an operations project). Liquidated afterwards.</a:t>
            </a:r>
            <a:endParaRPr lang="en-US" sz="1300" dirty="0"/>
          </a:p>
        </p:txBody>
      </p:sp>
      <p:sp>
        <p:nvSpPr>
          <p:cNvPr id="7" name="Shape 5"/>
          <p:cNvSpPr/>
          <p:nvPr/>
        </p:nvSpPr>
        <p:spPr>
          <a:xfrm>
            <a:off x="4388882" y="1772295"/>
            <a:ext cx="3414236" cy="1703070"/>
          </a:xfrm>
          <a:prstGeom prst="roundRect">
            <a:avLst>
              <a:gd name="adj" fmla="val 5779"/>
            </a:avLst>
          </a:prstGeom>
          <a:solidFill>
            <a:srgbClr val="FFFDF8"/>
          </a:solidFill>
          <a:ln w="6350">
            <a:solidFill>
              <a:srgbClr val="E4DFD3"/>
            </a:solidFill>
            <a:prstDash val="solid"/>
          </a:ln>
        </p:spPr>
      </p:sp>
      <p:sp>
        <p:nvSpPr>
          <p:cNvPr id="8" name="Text 6"/>
          <p:cNvSpPr/>
          <p:nvPr/>
        </p:nvSpPr>
        <p:spPr>
          <a:xfrm>
            <a:off x="4593987" y="1977405"/>
            <a:ext cx="3094147"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B2238"/>
                </a:solidFill>
                <a:latin typeface="DM Sans" pitchFamily="34" charset="0"/>
                <a:ea typeface="DM Sans" pitchFamily="34" charset="-122"/>
                <a:cs typeface="DM Sans" pitchFamily="34" charset="-120"/>
              </a:rPr>
              <a:t>Reimbursement</a:t>
            </a:r>
            <a:endParaRPr lang="en-US" sz="1700" dirty="0"/>
          </a:p>
        </p:txBody>
      </p:sp>
      <p:sp>
        <p:nvSpPr>
          <p:cNvPr id="9" name="Text 7"/>
          <p:cNvSpPr/>
          <p:nvPr/>
        </p:nvSpPr>
        <p:spPr>
          <a:xfrm>
            <a:off x="4593987" y="2312665"/>
            <a:ext cx="3094147" cy="743585"/>
          </a:xfrm>
          <a:prstGeom prst="rect">
            <a:avLst/>
          </a:prstGeom>
          <a:noFill/>
          <a:ln/>
        </p:spPr>
        <p:txBody>
          <a:bodyPr wrap="square" lIns="0" tIns="0" rIns="0" bIns="0" rtlCol="0" anchor="t">
            <a:normAutofit/>
          </a:bodyPr>
          <a:lstStyle/>
          <a:p>
            <a:pPr marL="0" indent="0" algn="l">
              <a:lnSpc>
                <a:spcPts val="1885"/>
              </a:lnSpc>
              <a:buNone/>
            </a:pPr>
            <a:r>
              <a:rPr lang="en-US" sz="1300" b="1" dirty="0">
                <a:solidFill>
                  <a:srgbClr val="4A5160"/>
                </a:solidFill>
                <a:latin typeface="DM Sans" pitchFamily="34" charset="0"/>
                <a:ea typeface="DM Sans" pitchFamily="34" charset="-122"/>
                <a:cs typeface="DM Sans" pitchFamily="34" charset="-120"/>
              </a:rPr>
              <a:t>You already paid from your pocket.</a:t>
            </a:r>
            <a:r>
              <a:rPr lang="en-US" sz="1300" dirty="0">
                <a:solidFill>
                  <a:srgbClr val="4A5160"/>
                </a:solidFill>
                <a:latin typeface="DM Sans" pitchFamily="34" charset="0"/>
                <a:ea typeface="DM Sans" pitchFamily="34" charset="-122"/>
                <a:cs typeface="DM Sans" pitchFamily="34" charset="-120"/>
              </a:rPr>
              <a:t> Itemised claim with receipts attached; paid back once approved.</a:t>
            </a:r>
            <a:endParaRPr lang="en-US" sz="1300" dirty="0"/>
          </a:p>
        </p:txBody>
      </p:sp>
      <p:sp>
        <p:nvSpPr>
          <p:cNvPr id="10" name="Shape 8"/>
          <p:cNvSpPr/>
          <p:nvPr/>
        </p:nvSpPr>
        <p:spPr>
          <a:xfrm>
            <a:off x="7961868" y="1772295"/>
            <a:ext cx="3414157" cy="1703070"/>
          </a:xfrm>
          <a:prstGeom prst="roundRect">
            <a:avLst>
              <a:gd name="adj" fmla="val 5779"/>
            </a:avLst>
          </a:prstGeom>
          <a:solidFill>
            <a:srgbClr val="FFFDF8"/>
          </a:solidFill>
          <a:ln w="6350">
            <a:solidFill>
              <a:srgbClr val="E4DFD3"/>
            </a:solidFill>
            <a:prstDash val="solid"/>
          </a:ln>
        </p:spPr>
      </p:sp>
      <p:sp>
        <p:nvSpPr>
          <p:cNvPr id="11" name="Text 9"/>
          <p:cNvSpPr/>
          <p:nvPr/>
        </p:nvSpPr>
        <p:spPr>
          <a:xfrm>
            <a:off x="8166974" y="1977405"/>
            <a:ext cx="3094065"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B2238"/>
                </a:solidFill>
                <a:latin typeface="DM Sans" pitchFamily="34" charset="0"/>
                <a:ea typeface="DM Sans" pitchFamily="34" charset="-122"/>
                <a:cs typeface="DM Sans" pitchFamily="34" charset="-120"/>
              </a:rPr>
              <a:t>Cash advance</a:t>
            </a:r>
            <a:endParaRPr lang="en-US" sz="1700" dirty="0"/>
          </a:p>
        </p:txBody>
      </p:sp>
      <p:sp>
        <p:nvSpPr>
          <p:cNvPr id="12" name="Text 10"/>
          <p:cNvSpPr/>
          <p:nvPr/>
        </p:nvSpPr>
        <p:spPr>
          <a:xfrm>
            <a:off x="8166974" y="2312665"/>
            <a:ext cx="3094065" cy="743585"/>
          </a:xfrm>
          <a:prstGeom prst="rect">
            <a:avLst/>
          </a:prstGeom>
          <a:noFill/>
          <a:ln/>
        </p:spPr>
        <p:txBody>
          <a:bodyPr wrap="square" lIns="0" tIns="0" rIns="0" bIns="0" rtlCol="0" anchor="t">
            <a:normAutofit/>
          </a:bodyPr>
          <a:lstStyle/>
          <a:p>
            <a:pPr marL="0" indent="0" algn="l">
              <a:lnSpc>
                <a:spcPts val="1885"/>
              </a:lnSpc>
              <a:buNone/>
            </a:pPr>
            <a:r>
              <a:rPr lang="en-US" sz="1300" b="1" dirty="0">
                <a:solidFill>
                  <a:srgbClr val="4A5160"/>
                </a:solidFill>
                <a:latin typeface="DM Sans" pitchFamily="34" charset="0"/>
                <a:ea typeface="DM Sans" pitchFamily="34" charset="-122"/>
                <a:cs typeface="DM Sans" pitchFamily="34" charset="-120"/>
              </a:rPr>
              <a:t>Money lent to an employee.</a:t>
            </a:r>
            <a:r>
              <a:rPr lang="en-US" sz="1300" dirty="0">
                <a:solidFill>
                  <a:srgbClr val="4A5160"/>
                </a:solidFill>
                <a:latin typeface="DM Sans" pitchFamily="34" charset="0"/>
                <a:ea typeface="DM Sans" pitchFamily="34" charset="-122"/>
                <a:cs typeface="DM Sans" pitchFamily="34" charset="-120"/>
              </a:rPr>
              <a:t> Repaid in payments, salary deduction included. Not for project purchases.</a:t>
            </a:r>
            <a:endParaRPr lang="en-US" sz="1300" dirty="0"/>
          </a:p>
        </p:txBody>
      </p:sp>
      <p:sp>
        <p:nvSpPr>
          <p:cNvPr id="13" name="Text 11"/>
          <p:cNvSpPr/>
          <p:nvPr/>
        </p:nvSpPr>
        <p:spPr>
          <a:xfrm>
            <a:off x="812800" y="3681735"/>
            <a:ext cx="10566400" cy="751840"/>
          </a:xfrm>
          <a:prstGeom prst="roundRect">
            <a:avLst>
              <a:gd name="adj" fmla="val 10135"/>
            </a:avLst>
          </a:prstGeom>
          <a:solidFill>
            <a:srgbClr val="F6E7D3"/>
          </a:solidFill>
          <a:ln/>
        </p:spPr>
        <p:txBody>
          <a:bodyPr wrap="square" lIns="155482" tIns="104682" rIns="0" bIns="79282" rtlCol="0" anchor="t">
            <a:normAutofit/>
          </a:bodyPr>
          <a:lstStyle/>
          <a:p>
            <a:pPr marL="0" indent="0" algn="l">
              <a:lnSpc>
                <a:spcPts val="1960"/>
              </a:lnSpc>
              <a:buNone/>
            </a:pPr>
            <a:r>
              <a:rPr lang="en-US" sz="1400" dirty="0">
                <a:solidFill>
                  <a:srgbClr val="1B2238"/>
                </a:solidFill>
                <a:latin typeface="DM Sans" pitchFamily="34" charset="0"/>
                <a:ea typeface="DM Sans" pitchFamily="34" charset="-122"/>
                <a:cs typeface="DM Sans" pitchFamily="34" charset="-120"/>
              </a:rPr>
              <a:t>Buying materials or a service for a project? That is a </a:t>
            </a:r>
            <a:r>
              <a:rPr lang="en-US" sz="1400" b="1" dirty="0">
                <a:solidFill>
                  <a:srgbClr val="1B2238"/>
                </a:solidFill>
                <a:latin typeface="DM Sans" pitchFamily="34" charset="0"/>
                <a:ea typeface="DM Sans" pitchFamily="34" charset="-122"/>
                <a:cs typeface="DM Sans" pitchFamily="34" charset="-120"/>
              </a:rPr>
              <a:t>purchase requisition</a:t>
            </a:r>
            <a:r>
              <a:rPr lang="en-US" sz="1400" dirty="0">
                <a:solidFill>
                  <a:srgbClr val="1B2238"/>
                </a:solidFill>
                <a:latin typeface="DM Sans" pitchFamily="34" charset="0"/>
                <a:ea typeface="DM Sans" pitchFamily="34" charset="-122"/>
                <a:cs typeface="DM Sans" pitchFamily="34" charset="-120"/>
              </a:rPr>
              <a:t> in G-CHAIN — a budget request is for cash the team spends directly.</a:t>
            </a:r>
            <a:endParaRPr lang="en-US" sz="1400" dirty="0"/>
          </a:p>
        </p:txBody>
      </p:sp>
      <p:sp>
        <p:nvSpPr>
          <p:cNvPr id="14" name="Text 12"/>
          <p:cNvSpPr/>
          <p:nvPr/>
        </p:nvSpPr>
        <p:spPr>
          <a:xfrm>
            <a:off x="812800" y="6238255"/>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DM Sans" pitchFamily="34" charset="0"/>
                <a:ea typeface="DM Sans" pitchFamily="34" charset="-122"/>
                <a:cs typeface="DM Sans" pitchFamily="34" charset="-120"/>
              </a:rPr>
              <a:t>G-CORE Training · G-FIN · Money out</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0560C"/>
                </a:solidFill>
                <a:latin typeface="DM Sans" pitchFamily="34" charset="0"/>
                <a:ea typeface="DM Sans" pitchFamily="34" charset="-122"/>
                <a:cs typeface="DM Sans" pitchFamily="34" charset="-120"/>
              </a:rPr>
              <a:t>G-FIN · BUDGET REQUEST</a:t>
            </a:r>
            <a:endParaRPr lang="en-US" sz="1200" dirty="0"/>
          </a:p>
        </p:txBody>
      </p:sp>
      <p:sp>
        <p:nvSpPr>
          <p:cNvPr id="3" name="Text 1"/>
          <p:cNvSpPr>
            <a:spLocks noGrp="1"/>
          </p:cNvSpPr>
          <p:nvPr>
            <p:ph type="title"/>
          </p:nvPr>
        </p:nvSpPr>
        <p:spPr>
          <a:xfrm>
            <a:off x="812800" y="112777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B2238"/>
                </a:solidFill>
                <a:latin typeface="Domine" pitchFamily="18" charset="0"/>
                <a:ea typeface="Domine" pitchFamily="18" charset="-122"/>
                <a:cs typeface="Domine" pitchFamily="18" charset="-120"/>
              </a:rPr>
              <a:t>Project cash: request → release</a:t>
            </a:r>
            <a:endParaRPr lang="en-US" sz="3000" dirty="0"/>
          </a:p>
        </p:txBody>
      </p:sp>
      <p:sp>
        <p:nvSpPr>
          <p:cNvPr id="4" name="Shape 2"/>
          <p:cNvSpPr/>
          <p:nvPr/>
        </p:nvSpPr>
        <p:spPr>
          <a:xfrm>
            <a:off x="815975" y="1772295"/>
            <a:ext cx="3431064" cy="1593850"/>
          </a:xfrm>
          <a:prstGeom prst="roundRect">
            <a:avLst>
              <a:gd name="adj" fmla="val 6175"/>
            </a:avLst>
          </a:prstGeom>
          <a:solidFill>
            <a:srgbClr val="FFFDF8"/>
          </a:solidFill>
          <a:ln w="6350">
            <a:solidFill>
              <a:srgbClr val="E4DFD3"/>
            </a:solidFill>
            <a:prstDash val="solid"/>
          </a:ln>
        </p:spPr>
      </p:sp>
      <p:sp>
        <p:nvSpPr>
          <p:cNvPr id="5" name="Text 3"/>
          <p:cNvSpPr/>
          <p:nvPr/>
        </p:nvSpPr>
        <p:spPr>
          <a:xfrm>
            <a:off x="995680" y="1952005"/>
            <a:ext cx="3163803"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0560C"/>
                </a:solidFill>
                <a:latin typeface="DM Sans" pitchFamily="34" charset="0"/>
                <a:ea typeface="DM Sans" pitchFamily="34" charset="-122"/>
                <a:cs typeface="DM Sans" pitchFamily="34" charset="-120"/>
              </a:rPr>
              <a:t>1 · REQUEST</a:t>
            </a:r>
            <a:endParaRPr lang="en-US" sz="1200" dirty="0"/>
          </a:p>
        </p:txBody>
      </p:sp>
      <p:sp>
        <p:nvSpPr>
          <p:cNvPr id="6" name="Text 4"/>
          <p:cNvSpPr/>
          <p:nvPr/>
        </p:nvSpPr>
        <p:spPr>
          <a:xfrm>
            <a:off x="995680" y="2228850"/>
            <a:ext cx="3163803" cy="98298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160"/>
                </a:solidFill>
                <a:latin typeface="DM Sans" pitchFamily="34" charset="0"/>
                <a:ea typeface="DM Sans" pitchFamily="34" charset="-122"/>
                <a:cs typeface="DM Sans" pitchFamily="34" charset="-120"/>
              </a:rPr>
              <a:t>From the project’s </a:t>
            </a:r>
            <a:r>
              <a:rPr lang="en-US" sz="1300" b="1" dirty="0">
                <a:solidFill>
                  <a:srgbClr val="4A5160"/>
                </a:solidFill>
                <a:latin typeface="DM Sans" pitchFamily="34" charset="0"/>
                <a:ea typeface="DM Sans" pitchFamily="34" charset="-122"/>
                <a:cs typeface="DM Sans" pitchFamily="34" charset="-120"/>
              </a:rPr>
              <a:t>Budget Requests</a:t>
            </a:r>
            <a:r>
              <a:rPr lang="en-US" sz="1300" dirty="0">
                <a:solidFill>
                  <a:srgbClr val="4A5160"/>
                </a:solidFill>
                <a:latin typeface="DM Sans" pitchFamily="34" charset="0"/>
                <a:ea typeface="DM Sans" pitchFamily="34" charset="-122"/>
                <a:cs typeface="DM Sans" pitchFamily="34" charset="-120"/>
              </a:rPr>
              <a:t> tab, or “+ Add budget request” in G-FIN: project, budget line, amount, date needed, purpose.</a:t>
            </a:r>
            <a:endParaRPr lang="en-US" sz="1300" dirty="0"/>
          </a:p>
        </p:txBody>
      </p:sp>
      <p:sp>
        <p:nvSpPr>
          <p:cNvPr id="7" name="Shape 5"/>
          <p:cNvSpPr/>
          <p:nvPr/>
        </p:nvSpPr>
        <p:spPr>
          <a:xfrm>
            <a:off x="4380389" y="1772295"/>
            <a:ext cx="3431143" cy="1593850"/>
          </a:xfrm>
          <a:prstGeom prst="roundRect">
            <a:avLst>
              <a:gd name="adj" fmla="val 6175"/>
            </a:avLst>
          </a:prstGeom>
          <a:solidFill>
            <a:srgbClr val="FFFDF8"/>
          </a:solidFill>
          <a:ln w="6350">
            <a:solidFill>
              <a:srgbClr val="E4DFD3"/>
            </a:solidFill>
            <a:prstDash val="solid"/>
          </a:ln>
        </p:spPr>
      </p:sp>
      <p:sp>
        <p:nvSpPr>
          <p:cNvPr id="8" name="Text 6"/>
          <p:cNvSpPr/>
          <p:nvPr/>
        </p:nvSpPr>
        <p:spPr>
          <a:xfrm>
            <a:off x="4560094" y="1952005"/>
            <a:ext cx="3163885"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0560C"/>
                </a:solidFill>
                <a:latin typeface="DM Sans" pitchFamily="34" charset="0"/>
                <a:ea typeface="DM Sans" pitchFamily="34" charset="-122"/>
                <a:cs typeface="DM Sans" pitchFamily="34" charset="-120"/>
              </a:rPr>
              <a:t>2 · APPROVE</a:t>
            </a:r>
            <a:endParaRPr lang="en-US" sz="1200" dirty="0"/>
          </a:p>
        </p:txBody>
      </p:sp>
      <p:sp>
        <p:nvSpPr>
          <p:cNvPr id="9" name="Text 7"/>
          <p:cNvSpPr/>
          <p:nvPr/>
        </p:nvSpPr>
        <p:spPr>
          <a:xfrm>
            <a:off x="4560094" y="2228850"/>
            <a:ext cx="3163885" cy="743585"/>
          </a:xfrm>
          <a:prstGeom prst="rect">
            <a:avLst/>
          </a:prstGeom>
          <a:noFill/>
          <a:ln/>
        </p:spPr>
        <p:txBody>
          <a:bodyPr wrap="square" lIns="0" tIns="0" rIns="0" bIns="0" rtlCol="0" anchor="t">
            <a:normAutofit/>
          </a:bodyPr>
          <a:lstStyle/>
          <a:p>
            <a:pPr marL="0" indent="0" algn="l">
              <a:lnSpc>
                <a:spcPts val="1885"/>
              </a:lnSpc>
              <a:buNone/>
            </a:pPr>
            <a:r>
              <a:rPr lang="en-US" sz="1300" b="1" dirty="0">
                <a:solidFill>
                  <a:srgbClr val="4A5160"/>
                </a:solidFill>
                <a:latin typeface="DM Sans" pitchFamily="34" charset="0"/>
                <a:ea typeface="DM Sans" pitchFamily="34" charset="-122"/>
                <a:cs typeface="DM Sans" pitchFamily="34" charset="-120"/>
              </a:rPr>
              <a:t>Team Leader › Back Support › Finance Manager</a:t>
            </a:r>
            <a:r>
              <a:rPr lang="en-US" sz="1300" dirty="0">
                <a:solidFill>
                  <a:srgbClr val="4A5160"/>
                </a:solidFill>
                <a:latin typeface="DM Sans" pitchFamily="34" charset="0"/>
                <a:ea typeface="DM Sans" pitchFamily="34" charset="-122"/>
                <a:cs typeface="DM Sans" pitchFamily="34" charset="-120"/>
              </a:rPr>
              <a:t>, plus </a:t>
            </a:r>
            <a:r>
              <a:rPr lang="en-US" sz="1300" b="1" dirty="0">
                <a:solidFill>
                  <a:srgbClr val="4A5160"/>
                </a:solidFill>
                <a:latin typeface="DM Sans" pitchFamily="34" charset="0"/>
                <a:ea typeface="DM Sans" pitchFamily="34" charset="-122"/>
                <a:cs typeface="DM Sans" pitchFamily="34" charset="-120"/>
              </a:rPr>
              <a:t>CEO / President</a:t>
            </a:r>
            <a:r>
              <a:rPr lang="en-US" sz="1300" dirty="0">
                <a:solidFill>
                  <a:srgbClr val="4A5160"/>
                </a:solidFill>
                <a:latin typeface="DM Sans" pitchFamily="34" charset="0"/>
                <a:ea typeface="DM Sans" pitchFamily="34" charset="-122"/>
                <a:cs typeface="DM Sans" pitchFamily="34" charset="-120"/>
              </a:rPr>
              <a:t> above ₱100,000.</a:t>
            </a:r>
            <a:endParaRPr lang="en-US" sz="1300" dirty="0"/>
          </a:p>
        </p:txBody>
      </p:sp>
      <p:sp>
        <p:nvSpPr>
          <p:cNvPr id="10" name="Shape 8"/>
          <p:cNvSpPr/>
          <p:nvPr/>
        </p:nvSpPr>
        <p:spPr>
          <a:xfrm>
            <a:off x="7944882" y="1772295"/>
            <a:ext cx="3431143" cy="1593850"/>
          </a:xfrm>
          <a:prstGeom prst="roundRect">
            <a:avLst>
              <a:gd name="adj" fmla="val 6175"/>
            </a:avLst>
          </a:prstGeom>
          <a:solidFill>
            <a:srgbClr val="FFFDF8"/>
          </a:solidFill>
          <a:ln w="6350">
            <a:solidFill>
              <a:srgbClr val="E4DFD3"/>
            </a:solidFill>
            <a:prstDash val="solid"/>
          </a:ln>
        </p:spPr>
      </p:sp>
      <p:sp>
        <p:nvSpPr>
          <p:cNvPr id="11" name="Text 9"/>
          <p:cNvSpPr/>
          <p:nvPr/>
        </p:nvSpPr>
        <p:spPr>
          <a:xfrm>
            <a:off x="8124587" y="1952005"/>
            <a:ext cx="3163885"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0560C"/>
                </a:solidFill>
                <a:latin typeface="DM Sans" pitchFamily="34" charset="0"/>
                <a:ea typeface="DM Sans" pitchFamily="34" charset="-122"/>
                <a:cs typeface="DM Sans" pitchFamily="34" charset="-120"/>
              </a:rPr>
              <a:t>3 · RELEASE</a:t>
            </a:r>
            <a:endParaRPr lang="en-US" sz="1200" dirty="0"/>
          </a:p>
        </p:txBody>
      </p:sp>
      <p:sp>
        <p:nvSpPr>
          <p:cNvPr id="12" name="Text 10"/>
          <p:cNvSpPr/>
          <p:nvPr/>
        </p:nvSpPr>
        <p:spPr>
          <a:xfrm>
            <a:off x="8124587" y="2228850"/>
            <a:ext cx="3163885" cy="50419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160"/>
                </a:solidFill>
                <a:latin typeface="DM Sans" pitchFamily="34" charset="0"/>
                <a:ea typeface="DM Sans" pitchFamily="34" charset="-122"/>
                <a:cs typeface="DM Sans" pitchFamily="34" charset="-120"/>
              </a:rPr>
              <a:t>Finance releases it in </a:t>
            </a:r>
            <a:r>
              <a:rPr lang="en-US" sz="1300" b="1" dirty="0">
                <a:solidFill>
                  <a:srgbClr val="4A5160"/>
                </a:solidFill>
                <a:latin typeface="DM Sans" pitchFamily="34" charset="0"/>
                <a:ea typeface="DM Sans" pitchFamily="34" charset="-122"/>
                <a:cs typeface="DM Sans" pitchFamily="34" charset="-120"/>
              </a:rPr>
              <a:t>one voucher</a:t>
            </a:r>
            <a:r>
              <a:rPr lang="en-US" sz="1300" dirty="0">
                <a:solidFill>
                  <a:srgbClr val="4A5160"/>
                </a:solidFill>
                <a:latin typeface="DM Sans" pitchFamily="34" charset="0"/>
                <a:ea typeface="DM Sans" pitchFamily="34" charset="-122"/>
                <a:cs typeface="DM Sans" pitchFamily="34" charset="-120"/>
              </a:rPr>
              <a:t>. The liquidation deadline starts counting.</a:t>
            </a:r>
            <a:endParaRPr lang="en-US" sz="1300" dirty="0"/>
          </a:p>
        </p:txBody>
      </p:sp>
      <p:sp>
        <p:nvSpPr>
          <p:cNvPr id="13" name="Text 11"/>
          <p:cNvSpPr/>
          <p:nvPr/>
        </p:nvSpPr>
        <p:spPr>
          <a:xfrm>
            <a:off x="812800" y="3572520"/>
            <a:ext cx="10566400" cy="751840"/>
          </a:xfrm>
          <a:prstGeom prst="roundRect">
            <a:avLst>
              <a:gd name="adj" fmla="val 10135"/>
            </a:avLst>
          </a:prstGeom>
          <a:solidFill>
            <a:srgbClr val="F6E7D3"/>
          </a:solidFill>
          <a:ln/>
        </p:spPr>
        <p:txBody>
          <a:bodyPr wrap="square" lIns="155482" tIns="104682" rIns="0" bIns="79282" rtlCol="0" anchor="t">
            <a:normAutofit/>
          </a:bodyPr>
          <a:lstStyle/>
          <a:p>
            <a:pPr marL="0" indent="0" algn="l">
              <a:lnSpc>
                <a:spcPts val="1960"/>
              </a:lnSpc>
              <a:buNone/>
            </a:pPr>
            <a:r>
              <a:rPr lang="en-US" sz="1400" dirty="0">
                <a:solidFill>
                  <a:srgbClr val="1B2238"/>
                </a:solidFill>
                <a:latin typeface="DM Sans" pitchFamily="34" charset="0"/>
                <a:ea typeface="DM Sans" pitchFamily="34" charset="-122"/>
                <a:cs typeface="DM Sans" pitchFamily="34" charset="-120"/>
              </a:rPr>
              <a:t>Approval and release post </a:t>
            </a:r>
            <a:r>
              <a:rPr lang="en-US" sz="1400" b="1" dirty="0">
                <a:solidFill>
                  <a:srgbClr val="1B2238"/>
                </a:solidFill>
                <a:latin typeface="DM Sans" pitchFamily="34" charset="0"/>
                <a:ea typeface="DM Sans" pitchFamily="34" charset="-122"/>
                <a:cs typeface="DM Sans" pitchFamily="34" charset="-120"/>
              </a:rPr>
              <a:t>nothing</a:t>
            </a:r>
            <a:r>
              <a:rPr lang="en-US" sz="1400" dirty="0">
                <a:solidFill>
                  <a:srgbClr val="1B2238"/>
                </a:solidFill>
                <a:latin typeface="DM Sans" pitchFamily="34" charset="0"/>
                <a:ea typeface="DM Sans" pitchFamily="34" charset="-122"/>
                <a:cs typeface="DM Sans" pitchFamily="34" charset="-120"/>
              </a:rPr>
              <a:t> to the project. Cost reaches the project only when the liquidation is approved — at what was actually spent.</a:t>
            </a:r>
            <a:endParaRPr lang="en-US" sz="1400" dirty="0"/>
          </a:p>
        </p:txBody>
      </p:sp>
      <p:sp>
        <p:nvSpPr>
          <p:cNvPr id="14" name="Text 12"/>
          <p:cNvSpPr/>
          <p:nvPr/>
        </p:nvSpPr>
        <p:spPr>
          <a:xfrm>
            <a:off x="812800" y="6238255"/>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DM Sans" pitchFamily="34" charset="0"/>
                <a:ea typeface="DM Sans" pitchFamily="34" charset="-122"/>
                <a:cs typeface="DM Sans" pitchFamily="34" charset="-120"/>
              </a:rPr>
              <a:t>G-CORE Training · G-FIN · Budget Requests</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B2238"/>
        </a:solidFill>
        <a:effectLst/>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B872"/>
                </a:solidFill>
                <a:latin typeface="DM Sans" pitchFamily="34" charset="0"/>
                <a:ea typeface="DM Sans" pitchFamily="34" charset="-122"/>
                <a:cs typeface="DM Sans" pitchFamily="34" charset="-120"/>
              </a:rPr>
              <a:t>ON SCREEN · G-FIN MONEY OUT</a:t>
            </a:r>
            <a:endParaRPr lang="en-US" sz="1200" dirty="0"/>
          </a:p>
        </p:txBody>
      </p:sp>
      <p:sp>
        <p:nvSpPr>
          <p:cNvPr id="3" name="Text 1"/>
          <p:cNvSpPr>
            <a:spLocks noGrp="1"/>
          </p:cNvSpPr>
          <p:nvPr>
            <p:ph type="title"/>
          </p:nvPr>
        </p:nvSpPr>
        <p:spPr>
          <a:xfrm>
            <a:off x="609600" y="746770"/>
            <a:ext cx="11301984"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F7F5F0"/>
                </a:solidFill>
                <a:latin typeface="Domine" pitchFamily="18" charset="0"/>
                <a:ea typeface="Domine" pitchFamily="18" charset="-122"/>
                <a:cs typeface="Domine" pitchFamily="18" charset="-120"/>
              </a:rPr>
              <a:t>The Budget Requests register</a:t>
            </a:r>
            <a:endParaRPr lang="en-US" sz="2400" dirty="0"/>
          </a:p>
        </p:txBody>
      </p:sp>
      <p:sp>
        <p:nvSpPr>
          <p:cNvPr id="4" name="Shape 2"/>
          <p:cNvSpPr/>
          <p:nvPr/>
        </p:nvSpPr>
        <p:spPr>
          <a:xfrm>
            <a:off x="609600" y="1173485"/>
            <a:ext cx="8001000" cy="4502150"/>
          </a:xfrm>
          <a:prstGeom prst="roundRect">
            <a:avLst>
              <a:gd name="adj" fmla="val 1693"/>
            </a:avLst>
          </a:prstGeom>
          <a:solidFill>
            <a:srgbClr val="F7F5F0"/>
          </a:solidFill>
          <a:ln/>
        </p:spPr>
      </p:sp>
      <p:pic>
        <p:nvPicPr>
          <p:cNvPr id="5" name="Image 0" descr="G-CORE screen: The Budget Requests register"/>
          <p:cNvPicPr>
            <a:picLocks noChangeAspect="1"/>
          </p:cNvPicPr>
          <p:nvPr/>
        </p:nvPicPr>
        <p:blipFill>
          <a:blip r:embed="rId3"/>
          <a:srcRect l="-106" r="-106"/>
          <a:stretch/>
        </p:blipFill>
        <p:spPr>
          <a:xfrm>
            <a:off x="622300" y="1186185"/>
            <a:ext cx="7975600" cy="4476750"/>
          </a:xfrm>
          <a:prstGeom prst="roundRect">
            <a:avLst>
              <a:gd name="adj" fmla="val 1418"/>
            </a:avLst>
          </a:prstGeom>
        </p:spPr>
      </p:pic>
      <p:sp>
        <p:nvSpPr>
          <p:cNvPr id="6" name="Shape 3"/>
          <p:cNvSpPr/>
          <p:nvPr/>
        </p:nvSpPr>
        <p:spPr>
          <a:xfrm>
            <a:off x="615950" y="1179835"/>
            <a:ext cx="7988300" cy="4489450"/>
          </a:xfrm>
          <a:prstGeom prst="roundRect">
            <a:avLst>
              <a:gd name="adj" fmla="val 1556"/>
            </a:avLst>
          </a:prstGeom>
          <a:noFill/>
          <a:ln w="12700">
            <a:solidFill>
              <a:srgbClr val="3A4466"/>
            </a:solidFill>
            <a:prstDash val="solid"/>
          </a:ln>
        </p:spPr>
      </p:sp>
      <p:sp>
        <p:nvSpPr>
          <p:cNvPr id="7" name="Text 4"/>
          <p:cNvSpPr/>
          <p:nvPr/>
        </p:nvSpPr>
        <p:spPr>
          <a:xfrm>
            <a:off x="8864600" y="1275085"/>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F2B872"/>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1</a:t>
            </a:r>
            <a:endParaRPr lang="en-US" sz="1300" dirty="0"/>
          </a:p>
        </p:txBody>
      </p:sp>
      <p:sp>
        <p:nvSpPr>
          <p:cNvPr id="8" name="Text 5"/>
          <p:cNvSpPr/>
          <p:nvPr/>
        </p:nvSpPr>
        <p:spPr>
          <a:xfrm>
            <a:off x="9283700" y="1275085"/>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Cards: total, approved funds, pending, to release.</a:t>
            </a:r>
            <a:endParaRPr lang="en-US" sz="1400" dirty="0"/>
          </a:p>
        </p:txBody>
      </p:sp>
      <p:sp>
        <p:nvSpPr>
          <p:cNvPr id="9" name="Text 6"/>
          <p:cNvSpPr/>
          <p:nvPr/>
        </p:nvSpPr>
        <p:spPr>
          <a:xfrm>
            <a:off x="8864600" y="1976115"/>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F2B872"/>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2</a:t>
            </a:r>
            <a:endParaRPr lang="en-US" sz="1300" dirty="0"/>
          </a:p>
        </p:txBody>
      </p:sp>
      <p:sp>
        <p:nvSpPr>
          <p:cNvPr id="10" name="Text 7"/>
          <p:cNvSpPr/>
          <p:nvPr/>
        </p:nvSpPr>
        <p:spPr>
          <a:xfrm>
            <a:off x="9283700" y="1976115"/>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BR No., requester, team, project, date needed.</a:t>
            </a:r>
            <a:endParaRPr lang="en-US" sz="1400" dirty="0"/>
          </a:p>
        </p:txBody>
      </p:sp>
      <p:sp>
        <p:nvSpPr>
          <p:cNvPr id="11" name="Text 8"/>
          <p:cNvSpPr/>
          <p:nvPr/>
        </p:nvSpPr>
        <p:spPr>
          <a:xfrm>
            <a:off x="8864600" y="2677170"/>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F2B872"/>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3</a:t>
            </a:r>
            <a:endParaRPr lang="en-US" sz="1300" dirty="0"/>
          </a:p>
        </p:txBody>
      </p:sp>
      <p:sp>
        <p:nvSpPr>
          <p:cNvPr id="12" name="Text 9"/>
          <p:cNvSpPr/>
          <p:nvPr/>
        </p:nvSpPr>
        <p:spPr>
          <a:xfrm>
            <a:off x="9283700" y="2677170"/>
            <a:ext cx="2198275"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 Add budget request.</a:t>
            </a:r>
            <a:endParaRPr lang="en-US"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0560C"/>
                </a:solidFill>
                <a:latin typeface="DM Sans" pitchFamily="34" charset="0"/>
                <a:ea typeface="DM Sans" pitchFamily="34" charset="-122"/>
                <a:cs typeface="DM Sans" pitchFamily="34" charset="-120"/>
              </a:rPr>
              <a:t>G-FIN · BUDGET LIQUIDATION</a:t>
            </a:r>
            <a:endParaRPr lang="en-US" sz="1200" dirty="0"/>
          </a:p>
        </p:txBody>
      </p:sp>
      <p:sp>
        <p:nvSpPr>
          <p:cNvPr id="3" name="Text 1"/>
          <p:cNvSpPr>
            <a:spLocks noGrp="1"/>
          </p:cNvSpPr>
          <p:nvPr>
            <p:ph type="title"/>
          </p:nvPr>
        </p:nvSpPr>
        <p:spPr>
          <a:xfrm>
            <a:off x="812800" y="112777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B2238"/>
                </a:solidFill>
                <a:latin typeface="Domine" pitchFamily="18" charset="0"/>
                <a:ea typeface="Domine" pitchFamily="18" charset="-122"/>
                <a:cs typeface="Domine" pitchFamily="18" charset="-120"/>
              </a:rPr>
              <a:t>Account for every peso released</a:t>
            </a:r>
            <a:endParaRPr lang="en-US" sz="3000" dirty="0"/>
          </a:p>
        </p:txBody>
      </p:sp>
      <p:sp>
        <p:nvSpPr>
          <p:cNvPr id="4" name="Text 2"/>
          <p:cNvSpPr/>
          <p:nvPr/>
        </p:nvSpPr>
        <p:spPr>
          <a:xfrm>
            <a:off x="812800" y="1769120"/>
            <a:ext cx="6153302" cy="541020"/>
          </a:xfrm>
          <a:prstGeom prst="rect">
            <a:avLst/>
          </a:prstGeom>
          <a:noFill/>
          <a:ln/>
        </p:spPr>
        <p:txBody>
          <a:bodyPr wrap="square" lIns="0" tIns="0" rIns="0" bIns="0" rtlCol="0" anchor="t">
            <a:normAutofit/>
          </a:bodyPr>
          <a:lstStyle/>
          <a:p>
            <a:pPr marL="0" indent="0" algn="l">
              <a:lnSpc>
                <a:spcPts val="2030"/>
              </a:lnSpc>
              <a:buNone/>
            </a:pPr>
            <a:r>
              <a:rPr lang="en-US" sz="1400" b="1" dirty="0">
                <a:solidFill>
                  <a:srgbClr val="1B2238"/>
                </a:solidFill>
                <a:latin typeface="DM Sans" pitchFamily="34" charset="0"/>
                <a:ea typeface="DM Sans" pitchFamily="34" charset="-122"/>
                <a:cs typeface="DM Sans" pitchFamily="34" charset="-120"/>
              </a:rPr>
              <a:t>Only the requester</a:t>
            </a:r>
            <a:r>
              <a:rPr lang="en-US" sz="1400" dirty="0">
                <a:solidFill>
                  <a:srgbClr val="1B2238"/>
                </a:solidFill>
                <a:latin typeface="DM Sans" pitchFamily="34" charset="0"/>
                <a:ea typeface="DM Sans" pitchFamily="34" charset="-122"/>
                <a:cs typeface="DM Sans" pitchFamily="34" charset="-120"/>
              </a:rPr>
              <a:t> files it, once the cash is released: “Actual entry” in Budget Liquidations, or </a:t>
            </a:r>
            <a:r>
              <a:rPr lang="en-US" sz="1400" b="1" dirty="0">
                <a:solidFill>
                  <a:srgbClr val="1B2238"/>
                </a:solidFill>
                <a:latin typeface="DM Sans" pitchFamily="34" charset="0"/>
                <a:ea typeface="DM Sans" pitchFamily="34" charset="-122"/>
                <a:cs typeface="DM Sans" pitchFamily="34" charset="-120"/>
              </a:rPr>
              <a:t>Liquidate</a:t>
            </a:r>
            <a:r>
              <a:rPr lang="en-US" sz="1400" dirty="0">
                <a:solidFill>
                  <a:srgbClr val="1B2238"/>
                </a:solidFill>
                <a:latin typeface="DM Sans" pitchFamily="34" charset="0"/>
                <a:ea typeface="DM Sans" pitchFamily="34" charset="-122"/>
                <a:cs typeface="DM Sans" pitchFamily="34" charset="-120"/>
              </a:rPr>
              <a:t> on the request page.</a:t>
            </a:r>
            <a:endParaRPr lang="en-US" sz="1400" dirty="0"/>
          </a:p>
        </p:txBody>
      </p:sp>
      <p:sp>
        <p:nvSpPr>
          <p:cNvPr id="5" name="Text 3"/>
          <p:cNvSpPr/>
          <p:nvPr/>
        </p:nvSpPr>
        <p:spPr>
          <a:xfrm>
            <a:off x="812800" y="2399035"/>
            <a:ext cx="6153302" cy="541020"/>
          </a:xfrm>
          <a:prstGeom prst="rect">
            <a:avLst/>
          </a:prstGeom>
          <a:noFill/>
          <a:ln/>
        </p:spPr>
        <p:txBody>
          <a:bodyPr wrap="square" lIns="0" tIns="0" rIns="0" bIns="0" rtlCol="0" anchor="t">
            <a:normAutofit/>
          </a:bodyPr>
          <a:lstStyle/>
          <a:p>
            <a:pPr marL="0" indent="0" algn="l">
              <a:lnSpc>
                <a:spcPts val="2030"/>
              </a:lnSpc>
              <a:buNone/>
            </a:pPr>
            <a:r>
              <a:rPr lang="en-US" sz="1400" b="1" dirty="0">
                <a:solidFill>
                  <a:srgbClr val="1B2238"/>
                </a:solidFill>
                <a:latin typeface="DM Sans" pitchFamily="34" charset="0"/>
                <a:ea typeface="DM Sans" pitchFamily="34" charset="-122"/>
                <a:cs typeface="DM Sans" pitchFamily="34" charset="-120"/>
              </a:rPr>
              <a:t>Itemised lines</a:t>
            </a:r>
            <a:r>
              <a:rPr lang="en-US" sz="1400" dirty="0">
                <a:solidFill>
                  <a:srgbClr val="1B2238"/>
                </a:solidFill>
                <a:latin typeface="DM Sans" pitchFamily="34" charset="0"/>
                <a:ea typeface="DM Sans" pitchFamily="34" charset="-122"/>
                <a:cs typeface="DM Sans" pitchFamily="34" charset="-120"/>
              </a:rPr>
              <a:t> with receipts attached — the files go with it from the first approval step.</a:t>
            </a:r>
            <a:endParaRPr lang="en-US" sz="1400" dirty="0"/>
          </a:p>
        </p:txBody>
      </p:sp>
      <p:sp>
        <p:nvSpPr>
          <p:cNvPr id="6" name="Text 4"/>
          <p:cNvSpPr/>
          <p:nvPr/>
        </p:nvSpPr>
        <p:spPr>
          <a:xfrm>
            <a:off x="812800" y="3028950"/>
            <a:ext cx="6153302" cy="54102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1B2238"/>
                </a:solidFill>
                <a:latin typeface="DM Sans" pitchFamily="34" charset="0"/>
                <a:ea typeface="DM Sans" pitchFamily="34" charset="-122"/>
                <a:cs typeface="DM Sans" pitchFamily="34" charset="-120"/>
              </a:rPr>
              <a:t>Spent less? The change is returned (“Process”) and recorded. Spent more? The difference is reimbursed.</a:t>
            </a:r>
            <a:endParaRPr lang="en-US" sz="1400" dirty="0"/>
          </a:p>
        </p:txBody>
      </p:sp>
      <p:sp>
        <p:nvSpPr>
          <p:cNvPr id="7" name="Shape 5"/>
          <p:cNvSpPr/>
          <p:nvPr/>
        </p:nvSpPr>
        <p:spPr>
          <a:xfrm>
            <a:off x="6990080" y="1769120"/>
            <a:ext cx="4389120" cy="2778760"/>
          </a:xfrm>
          <a:prstGeom prst="roundRect">
            <a:avLst>
              <a:gd name="adj" fmla="val 3656"/>
            </a:avLst>
          </a:prstGeom>
          <a:solidFill>
            <a:srgbClr val="1B2238"/>
          </a:solidFill>
          <a:ln/>
        </p:spPr>
      </p:sp>
      <p:sp>
        <p:nvSpPr>
          <p:cNvPr id="8" name="Text 6"/>
          <p:cNvSpPr/>
          <p:nvPr/>
        </p:nvSpPr>
        <p:spPr>
          <a:xfrm>
            <a:off x="7193280" y="1972320"/>
            <a:ext cx="410220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6C78B"/>
                </a:solidFill>
                <a:latin typeface="DM Sans" pitchFamily="34" charset="0"/>
                <a:ea typeface="DM Sans" pitchFamily="34" charset="-122"/>
                <a:cs typeface="DM Sans" pitchFamily="34" charset="-120"/>
              </a:rPr>
              <a:t>EXAMPLE</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203440" y="2272025"/>
          <a:ext cx="3972560" cy="1534160"/>
        </p:xfrm>
        <a:graphic>
          <a:graphicData uri="http://schemas.openxmlformats.org/drawingml/2006/table">
            <a:tbl>
              <a:tblPr/>
              <a:tblGrid>
                <a:gridCol w="2383536">
                  <a:extLst>
                    <a:ext uri="{9D8B030D-6E8A-4147-A177-3AD203B41FA5}">
                      <a16:colId xmlns:a16="http://schemas.microsoft.com/office/drawing/2014/main" val="20000"/>
                    </a:ext>
                  </a:extLst>
                </a:gridCol>
                <a:gridCol w="1589024">
                  <a:extLst>
                    <a:ext uri="{9D8B030D-6E8A-4147-A177-3AD203B41FA5}">
                      <a16:colId xmlns:a16="http://schemas.microsoft.com/office/drawing/2014/main" val="20001"/>
                    </a:ext>
                  </a:extLst>
                </a:gridCol>
              </a:tblGrid>
              <a:tr h="383540">
                <a:tc>
                  <a:txBody>
                    <a:bodyPr/>
                    <a:lstStyle/>
                    <a:p>
                      <a:pPr marL="0" indent="0">
                        <a:lnSpc>
                          <a:spcPts val="1960"/>
                        </a:lnSpc>
                        <a:buNone/>
                      </a:pPr>
                      <a:r>
                        <a:rPr lang="en-US" sz="1400" b="1" dirty="0">
                          <a:solidFill>
                            <a:srgbClr val="F7F5F0"/>
                          </a:solidFill>
                          <a:latin typeface="DM Sans" pitchFamily="34" charset="0"/>
                          <a:ea typeface="DM Sans" pitchFamily="34" charset="-122"/>
                          <a:cs typeface="DM Sans" pitchFamily="34" charset="-120"/>
                        </a:rPr>
                        <a:t>Item</a:t>
                      </a:r>
                      <a:endParaRPr lang="en-US" sz="1400" dirty="0">
                        <a:latin typeface="DM Sans" charset="0"/>
                        <a:ea typeface="DM Sans" charset="0"/>
                        <a:cs typeface="DM Sans" charset="0"/>
                      </a:endParaRPr>
                    </a:p>
                  </a:txBody>
                  <a:tcPr marL="62230" marR="62230" marT="62230" marB="62230">
                    <a:lnL w="12700" cap="flat" cmpd="sng" algn="ctr">
                      <a:solidFill>
                        <a:srgbClr val="191F30"/>
                      </a:solidFill>
                      <a:prstDash val="solid"/>
                      <a:round/>
                      <a:headEnd type="none" w="med" len="med"/>
                      <a:tailEnd type="none" w="med" len="med"/>
                    </a:lnL>
                    <a:lnR w="12700" cap="flat" cmpd="sng" algn="ctr">
                      <a:solidFill>
                        <a:srgbClr val="191E2E"/>
                      </a:solidFill>
                      <a:prstDash val="solid"/>
                      <a:round/>
                      <a:headEnd type="none" w="med" len="med"/>
                      <a:tailEnd type="none" w="med" len="med"/>
                    </a:lnR>
                    <a:lnT w="12700" cap="flat" cmpd="sng" algn="ctr">
                      <a:solidFill>
                        <a:srgbClr val="191F30"/>
                      </a:solidFill>
                      <a:prstDash val="solid"/>
                      <a:round/>
                      <a:headEnd type="none" w="med" len="med"/>
                      <a:tailEnd type="none" w="med" len="med"/>
                    </a:lnT>
                    <a:lnB w="12700" cap="flat" cmpd="sng" algn="ctr">
                      <a:solidFill>
                        <a:srgbClr val="191E2E"/>
                      </a:solidFill>
                      <a:prstDash val="solid"/>
                      <a:round/>
                      <a:headEnd type="none" w="med" len="med"/>
                      <a:tailEnd type="none" w="med" len="med"/>
                    </a:lnB>
                    <a:solidFill>
                      <a:srgbClr val="1A2135"/>
                    </a:solidFill>
                  </a:tcPr>
                </a:tc>
                <a:tc>
                  <a:txBody>
                    <a:bodyPr/>
                    <a:lstStyle/>
                    <a:p>
                      <a:pPr marL="0" indent="0" algn="r">
                        <a:lnSpc>
                          <a:spcPts val="1960"/>
                        </a:lnSpc>
                        <a:buNone/>
                      </a:pPr>
                      <a:r>
                        <a:rPr lang="en-US" sz="1400" b="1" dirty="0">
                          <a:solidFill>
                            <a:srgbClr val="F7F5F0"/>
                          </a:solidFill>
                          <a:latin typeface="DM Sans" pitchFamily="34" charset="0"/>
                          <a:ea typeface="DM Sans" pitchFamily="34" charset="-122"/>
                          <a:cs typeface="DM Sans" pitchFamily="34" charset="-120"/>
                        </a:rPr>
                        <a:t>₱</a:t>
                      </a:r>
                      <a:endParaRPr lang="en-US" sz="1400" dirty="0">
                        <a:latin typeface="DM Sans" charset="0"/>
                        <a:ea typeface="DM Sans" charset="0"/>
                        <a:cs typeface="DM Sans" charset="0"/>
                      </a:endParaRPr>
                    </a:p>
                  </a:txBody>
                  <a:tcPr marL="62230" marR="62230" marT="62230" marB="62230">
                    <a:lnL w="12700" cap="flat" cmpd="sng" algn="ctr">
                      <a:solidFill>
                        <a:srgbClr val="191E2E"/>
                      </a:solidFill>
                      <a:prstDash val="solid"/>
                      <a:round/>
                      <a:headEnd type="none" w="med" len="med"/>
                      <a:tailEnd type="none" w="med" len="med"/>
                    </a:lnL>
                    <a:lnR w="12700" cap="flat" cmpd="sng" algn="ctr">
                      <a:solidFill>
                        <a:srgbClr val="191E2E"/>
                      </a:solidFill>
                      <a:prstDash val="solid"/>
                      <a:round/>
                      <a:headEnd type="none" w="med" len="med"/>
                      <a:tailEnd type="none" w="med" len="med"/>
                    </a:lnR>
                    <a:lnT w="12700" cap="flat" cmpd="sng" algn="ctr">
                      <a:solidFill>
                        <a:srgbClr val="191F30"/>
                      </a:solidFill>
                      <a:prstDash val="solid"/>
                      <a:round/>
                      <a:headEnd type="none" w="med" len="med"/>
                      <a:tailEnd type="none" w="med" len="med"/>
                    </a:lnT>
                    <a:lnB w="12700" cap="flat" cmpd="sng" algn="ctr">
                      <a:solidFill>
                        <a:srgbClr val="191E2E"/>
                      </a:solidFill>
                      <a:prstDash val="solid"/>
                      <a:round/>
                      <a:headEnd type="none" w="med" len="med"/>
                      <a:tailEnd type="none" w="med" len="med"/>
                    </a:lnB>
                    <a:solidFill>
                      <a:srgbClr val="1A2135"/>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F7F5F0"/>
                          </a:solidFill>
                          <a:latin typeface="DM Sans" pitchFamily="34" charset="0"/>
                          <a:ea typeface="DM Sans" pitchFamily="34" charset="-122"/>
                          <a:cs typeface="DM Sans" pitchFamily="34" charset="-120"/>
                        </a:rPr>
                        <a:t>Released</a:t>
                      </a:r>
                      <a:endParaRPr lang="en-US" sz="1400" dirty="0">
                        <a:latin typeface="DM Sans" charset="0"/>
                        <a:ea typeface="DM Sans" charset="0"/>
                        <a:cs typeface="DM Sans" charset="0"/>
                      </a:endParaRPr>
                    </a:p>
                  </a:txBody>
                  <a:tcPr marL="62230" marR="62230" marT="62230" marB="62230">
                    <a:lnL w="12700" cap="flat" cmpd="sng" algn="ctr">
                      <a:solidFill>
                        <a:srgbClr val="191F30"/>
                      </a:solidFill>
                      <a:prstDash val="solid"/>
                      <a:round/>
                      <a:headEnd type="none" w="med" len="med"/>
                      <a:tailEnd type="none" w="med" len="med"/>
                    </a:lnL>
                    <a:lnR w="12700" cap="flat" cmpd="sng" algn="ctr">
                      <a:solidFill>
                        <a:srgbClr val="191F30"/>
                      </a:solidFill>
                      <a:prstDash val="solid"/>
                      <a:round/>
                      <a:headEnd type="none" w="med" len="med"/>
                      <a:tailEnd type="none" w="med" len="med"/>
                    </a:lnR>
                    <a:lnT w="12700" cap="flat" cmpd="sng" algn="ctr">
                      <a:solidFill>
                        <a:srgbClr val="191E2E"/>
                      </a:solidFill>
                      <a:prstDash val="solid"/>
                      <a:round/>
                      <a:headEnd type="none" w="med" len="med"/>
                      <a:tailEnd type="none" w="med" len="med"/>
                    </a:lnT>
                    <a:lnB w="12700" cap="flat" cmpd="sng" algn="ctr">
                      <a:solidFill>
                        <a:srgbClr val="191F30"/>
                      </a:solidFill>
                      <a:prstDash val="solid"/>
                      <a:round/>
                      <a:headEnd type="none" w="med" len="med"/>
                      <a:tailEnd type="none" w="med" len="med"/>
                    </a:lnB>
                  </a:tcPr>
                </a:tc>
                <a:tc>
                  <a:txBody>
                    <a:bodyPr/>
                    <a:lstStyle/>
                    <a:p>
                      <a:pPr marL="0" indent="0" algn="r">
                        <a:lnSpc>
                          <a:spcPts val="1960"/>
                        </a:lnSpc>
                        <a:buNone/>
                      </a:pPr>
                      <a:r>
                        <a:rPr lang="en-US" sz="1400" dirty="0">
                          <a:solidFill>
                            <a:srgbClr val="F7F5F0"/>
                          </a:solidFill>
                          <a:latin typeface="DM Sans" pitchFamily="34" charset="0"/>
                          <a:ea typeface="DM Sans" pitchFamily="34" charset="-122"/>
                          <a:cs typeface="DM Sans" pitchFamily="34" charset="-120"/>
                        </a:rPr>
                        <a:t>50,000</a:t>
                      </a:r>
                      <a:endParaRPr lang="en-US" sz="1400" dirty="0">
                        <a:latin typeface="DM Sans" charset="0"/>
                        <a:ea typeface="DM Sans" charset="0"/>
                        <a:cs typeface="DM Sans" charset="0"/>
                      </a:endParaRPr>
                    </a:p>
                  </a:txBody>
                  <a:tcPr marL="62230" marR="62230" marT="62230" marB="62230">
                    <a:lnL w="12700" cap="flat" cmpd="sng" algn="ctr">
                      <a:solidFill>
                        <a:srgbClr val="191F30"/>
                      </a:solidFill>
                      <a:prstDash val="solid"/>
                      <a:round/>
                      <a:headEnd type="none" w="med" len="med"/>
                      <a:tailEnd type="none" w="med" len="med"/>
                    </a:lnL>
                    <a:lnR w="12700" cap="flat" cmpd="sng" algn="ctr">
                      <a:solidFill>
                        <a:srgbClr val="191F30"/>
                      </a:solidFill>
                      <a:prstDash val="solid"/>
                      <a:round/>
                      <a:headEnd type="none" w="med" len="med"/>
                      <a:tailEnd type="none" w="med" len="med"/>
                    </a:lnR>
                    <a:lnT w="12700" cap="flat" cmpd="sng" algn="ctr">
                      <a:solidFill>
                        <a:srgbClr val="191E2E"/>
                      </a:solidFill>
                      <a:prstDash val="solid"/>
                      <a:round/>
                      <a:headEnd type="none" w="med" len="med"/>
                      <a:tailEnd type="none" w="med" len="med"/>
                    </a:lnT>
                    <a:lnB w="12700" cap="flat" cmpd="sng" algn="ctr">
                      <a:solidFill>
                        <a:srgbClr val="191F30"/>
                      </a:solidFill>
                      <a:prstDash val="solid"/>
                      <a:round/>
                      <a:headEnd type="none" w="med" len="med"/>
                      <a:tailEnd type="none" w="med" len="med"/>
                    </a:lnB>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F7F5F0"/>
                          </a:solidFill>
                          <a:latin typeface="DM Sans" pitchFamily="34" charset="0"/>
                          <a:ea typeface="DM Sans" pitchFamily="34" charset="-122"/>
                          <a:cs typeface="DM Sans" pitchFamily="34" charset="-120"/>
                        </a:rPr>
                        <a:t>Spent (liquidated)</a:t>
                      </a:r>
                      <a:endParaRPr lang="en-US" sz="1400" dirty="0">
                        <a:latin typeface="DM Sans" charset="0"/>
                        <a:ea typeface="DM Sans" charset="0"/>
                        <a:cs typeface="DM Sans" charset="0"/>
                      </a:endParaRPr>
                    </a:p>
                  </a:txBody>
                  <a:tcPr marL="62230" marR="62230" marT="62230" marB="62230">
                    <a:lnL w="12700" cap="flat" cmpd="sng" algn="ctr">
                      <a:solidFill>
                        <a:srgbClr val="191F30"/>
                      </a:solidFill>
                      <a:prstDash val="solid"/>
                      <a:round/>
                      <a:headEnd type="none" w="med" len="med"/>
                      <a:tailEnd type="none" w="med" len="med"/>
                    </a:lnL>
                    <a:lnR w="12700" cap="flat" cmpd="sng" algn="ctr">
                      <a:solidFill>
                        <a:srgbClr val="191F30"/>
                      </a:solidFill>
                      <a:prstDash val="solid"/>
                      <a:round/>
                      <a:headEnd type="none" w="med" len="med"/>
                      <a:tailEnd type="none" w="med" len="med"/>
                    </a:lnR>
                    <a:lnT w="12700" cap="flat" cmpd="sng" algn="ctr">
                      <a:solidFill>
                        <a:srgbClr val="191F30"/>
                      </a:solidFill>
                      <a:prstDash val="solid"/>
                      <a:round/>
                      <a:headEnd type="none" w="med" len="med"/>
                      <a:tailEnd type="none" w="med" len="med"/>
                    </a:lnT>
                    <a:lnB w="12700" cap="flat" cmpd="sng" algn="ctr">
                      <a:solidFill>
                        <a:srgbClr val="191F30"/>
                      </a:solidFill>
                      <a:prstDash val="solid"/>
                      <a:round/>
                      <a:headEnd type="none" w="med" len="med"/>
                      <a:tailEnd type="none" w="med" len="med"/>
                    </a:lnB>
                  </a:tcPr>
                </a:tc>
                <a:tc>
                  <a:txBody>
                    <a:bodyPr/>
                    <a:lstStyle/>
                    <a:p>
                      <a:pPr marL="0" indent="0" algn="r">
                        <a:lnSpc>
                          <a:spcPts val="1960"/>
                        </a:lnSpc>
                        <a:buNone/>
                      </a:pPr>
                      <a:r>
                        <a:rPr lang="en-US" sz="1400" dirty="0">
                          <a:solidFill>
                            <a:srgbClr val="F7F5F0"/>
                          </a:solidFill>
                          <a:latin typeface="DM Sans" pitchFamily="34" charset="0"/>
                          <a:ea typeface="DM Sans" pitchFamily="34" charset="-122"/>
                          <a:cs typeface="DM Sans" pitchFamily="34" charset="-120"/>
                        </a:rPr>
                        <a:t>42,000</a:t>
                      </a:r>
                      <a:endParaRPr lang="en-US" sz="1400" dirty="0">
                        <a:latin typeface="DM Sans" charset="0"/>
                        <a:ea typeface="DM Sans" charset="0"/>
                        <a:cs typeface="DM Sans" charset="0"/>
                      </a:endParaRPr>
                    </a:p>
                  </a:txBody>
                  <a:tcPr marL="62230" marR="62230" marT="62230" marB="62230">
                    <a:lnL w="12700" cap="flat" cmpd="sng" algn="ctr">
                      <a:solidFill>
                        <a:srgbClr val="191F30"/>
                      </a:solidFill>
                      <a:prstDash val="solid"/>
                      <a:round/>
                      <a:headEnd type="none" w="med" len="med"/>
                      <a:tailEnd type="none" w="med" len="med"/>
                    </a:lnL>
                    <a:lnR w="12700" cap="flat" cmpd="sng" algn="ctr">
                      <a:solidFill>
                        <a:srgbClr val="191F30"/>
                      </a:solidFill>
                      <a:prstDash val="solid"/>
                      <a:round/>
                      <a:headEnd type="none" w="med" len="med"/>
                      <a:tailEnd type="none" w="med" len="med"/>
                    </a:lnR>
                    <a:lnT w="12700" cap="flat" cmpd="sng" algn="ctr">
                      <a:solidFill>
                        <a:srgbClr val="191F30"/>
                      </a:solidFill>
                      <a:prstDash val="solid"/>
                      <a:round/>
                      <a:headEnd type="none" w="med" len="med"/>
                      <a:tailEnd type="none" w="med" len="med"/>
                    </a:lnT>
                    <a:lnB w="12700" cap="flat" cmpd="sng" algn="ctr">
                      <a:solidFill>
                        <a:srgbClr val="191F30"/>
                      </a:solidFill>
                      <a:prstDash val="solid"/>
                      <a:round/>
                      <a:headEnd type="none" w="med" len="med"/>
                      <a:tailEnd type="none" w="med" len="med"/>
                    </a:lnB>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F7F5F0"/>
                          </a:solidFill>
                          <a:latin typeface="DM Sans" pitchFamily="34" charset="0"/>
                          <a:ea typeface="DM Sans" pitchFamily="34" charset="-122"/>
                          <a:cs typeface="DM Sans" pitchFamily="34" charset="-120"/>
                        </a:rPr>
                        <a:t>Returned</a:t>
                      </a:r>
                      <a:endParaRPr lang="en-US" sz="1400" dirty="0">
                        <a:latin typeface="DM Sans" charset="0"/>
                        <a:ea typeface="DM Sans" charset="0"/>
                        <a:cs typeface="DM Sans" charset="0"/>
                      </a:endParaRPr>
                    </a:p>
                  </a:txBody>
                  <a:tcPr marL="62230" marR="62230" marT="62230" marB="62230">
                    <a:lnL w="12700" cap="flat" cmpd="sng" algn="ctr">
                      <a:solidFill>
                        <a:srgbClr val="191F30"/>
                      </a:solidFill>
                      <a:prstDash val="solid"/>
                      <a:round/>
                      <a:headEnd type="none" w="med" len="med"/>
                      <a:tailEnd type="none" w="med" len="med"/>
                    </a:lnL>
                    <a:lnR w="12700" cap="flat" cmpd="sng" algn="ctr">
                      <a:solidFill>
                        <a:srgbClr val="191F30"/>
                      </a:solidFill>
                      <a:prstDash val="solid"/>
                      <a:round/>
                      <a:headEnd type="none" w="med" len="med"/>
                      <a:tailEnd type="none" w="med" len="med"/>
                    </a:lnR>
                    <a:lnT w="12700" cap="flat" cmpd="sng" algn="ctr">
                      <a:solidFill>
                        <a:srgbClr val="191F30"/>
                      </a:solidFill>
                      <a:prstDash val="solid"/>
                      <a:round/>
                      <a:headEnd type="none" w="med" len="med"/>
                      <a:tailEnd type="none" w="med" len="med"/>
                    </a:lnT>
                    <a:lnB w="12700" cap="flat" cmpd="sng" algn="ctr">
                      <a:solidFill>
                        <a:srgbClr val="191F30"/>
                      </a:solidFill>
                      <a:prstDash val="solid"/>
                      <a:round/>
                      <a:headEnd type="none" w="med" len="med"/>
                      <a:tailEnd type="none" w="med" len="med"/>
                    </a:lnB>
                  </a:tcPr>
                </a:tc>
                <a:tc>
                  <a:txBody>
                    <a:bodyPr/>
                    <a:lstStyle/>
                    <a:p>
                      <a:pPr marL="0" indent="0" algn="r">
                        <a:lnSpc>
                          <a:spcPts val="1960"/>
                        </a:lnSpc>
                        <a:buNone/>
                      </a:pPr>
                      <a:r>
                        <a:rPr lang="en-US" sz="1400" dirty="0">
                          <a:solidFill>
                            <a:srgbClr val="F7F5F0"/>
                          </a:solidFill>
                          <a:latin typeface="DM Sans" pitchFamily="34" charset="0"/>
                          <a:ea typeface="DM Sans" pitchFamily="34" charset="-122"/>
                          <a:cs typeface="DM Sans" pitchFamily="34" charset="-120"/>
                        </a:rPr>
                        <a:t>8,000</a:t>
                      </a:r>
                      <a:endParaRPr lang="en-US" sz="1400" dirty="0">
                        <a:latin typeface="DM Sans" charset="0"/>
                        <a:ea typeface="DM Sans" charset="0"/>
                        <a:cs typeface="DM Sans" charset="0"/>
                      </a:endParaRPr>
                    </a:p>
                  </a:txBody>
                  <a:tcPr marL="62230" marR="62230" marT="62230" marB="62230">
                    <a:lnL w="12700" cap="flat" cmpd="sng" algn="ctr">
                      <a:solidFill>
                        <a:srgbClr val="191F30"/>
                      </a:solidFill>
                      <a:prstDash val="solid"/>
                      <a:round/>
                      <a:headEnd type="none" w="med" len="med"/>
                      <a:tailEnd type="none" w="med" len="med"/>
                    </a:lnL>
                    <a:lnR w="12700" cap="flat" cmpd="sng" algn="ctr">
                      <a:solidFill>
                        <a:srgbClr val="191F30"/>
                      </a:solidFill>
                      <a:prstDash val="solid"/>
                      <a:round/>
                      <a:headEnd type="none" w="med" len="med"/>
                      <a:tailEnd type="none" w="med" len="med"/>
                    </a:lnR>
                    <a:lnT w="12700" cap="flat" cmpd="sng" algn="ctr">
                      <a:solidFill>
                        <a:srgbClr val="191F30"/>
                      </a:solidFill>
                      <a:prstDash val="solid"/>
                      <a:round/>
                      <a:headEnd type="none" w="med" len="med"/>
                      <a:tailEnd type="none" w="med" len="med"/>
                    </a:lnT>
                    <a:lnB w="12700" cap="flat" cmpd="sng" algn="ctr">
                      <a:solidFill>
                        <a:srgbClr val="191F3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0" name="Text 7"/>
          <p:cNvSpPr/>
          <p:nvPr/>
        </p:nvSpPr>
        <p:spPr>
          <a:xfrm>
            <a:off x="7193280" y="3882405"/>
            <a:ext cx="4102202"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CEDB"/>
                </a:solidFill>
                <a:latin typeface="DM Sans" pitchFamily="34" charset="0"/>
                <a:ea typeface="DM Sans" pitchFamily="34" charset="-122"/>
                <a:cs typeface="DM Sans" pitchFamily="34" charset="-120"/>
              </a:rPr>
              <a:t>Status: Released → Refund due → </a:t>
            </a:r>
            <a:r>
              <a:rPr lang="en-US" sz="1300" b="1" dirty="0">
                <a:solidFill>
                  <a:srgbClr val="C9CEDB"/>
                </a:solidFill>
                <a:latin typeface="DM Sans" pitchFamily="34" charset="0"/>
                <a:ea typeface="DM Sans" pitchFamily="34" charset="-122"/>
                <a:cs typeface="DM Sans" pitchFamily="34" charset="-120"/>
              </a:rPr>
              <a:t>Liquidated</a:t>
            </a:r>
            <a:r>
              <a:rPr lang="en-US" sz="1300" dirty="0">
                <a:solidFill>
                  <a:srgbClr val="C9CEDB"/>
                </a:solidFill>
                <a:latin typeface="DM Sans" pitchFamily="34" charset="0"/>
                <a:ea typeface="DM Sans" pitchFamily="34" charset="-122"/>
                <a:cs typeface="DM Sans" pitchFamily="34" charset="-120"/>
              </a:rPr>
              <a:t>. The project is charged 42,000.</a:t>
            </a:r>
            <a:endParaRPr lang="en-US" sz="1300" dirty="0"/>
          </a:p>
        </p:txBody>
      </p:sp>
      <p:sp>
        <p:nvSpPr>
          <p:cNvPr id="11" name="Text 8"/>
          <p:cNvSpPr/>
          <p:nvPr/>
        </p:nvSpPr>
        <p:spPr>
          <a:xfrm>
            <a:off x="812800" y="6238255"/>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DM Sans" pitchFamily="34" charset="0"/>
                <a:ea typeface="DM Sans" pitchFamily="34" charset="-122"/>
                <a:cs typeface="DM Sans" pitchFamily="34" charset="-120"/>
              </a:rPr>
              <a:t>G-CORE Training · G-FIN · Budget Liquidations</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B2238"/>
        </a:solidFill>
        <a:effectLst/>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B872"/>
                </a:solidFill>
                <a:latin typeface="DM Sans" pitchFamily="34" charset="0"/>
                <a:ea typeface="DM Sans" pitchFamily="34" charset="-122"/>
                <a:cs typeface="DM Sans" pitchFamily="34" charset="-120"/>
              </a:rPr>
              <a:t>ON SCREEN · G-FIN MONEY OUT</a:t>
            </a:r>
            <a:endParaRPr lang="en-US" sz="1200" dirty="0"/>
          </a:p>
        </p:txBody>
      </p:sp>
      <p:sp>
        <p:nvSpPr>
          <p:cNvPr id="3" name="Text 1"/>
          <p:cNvSpPr>
            <a:spLocks noGrp="1"/>
          </p:cNvSpPr>
          <p:nvPr>
            <p:ph type="title"/>
          </p:nvPr>
        </p:nvSpPr>
        <p:spPr>
          <a:xfrm>
            <a:off x="609600" y="746770"/>
            <a:ext cx="11301984"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F7F5F0"/>
                </a:solidFill>
                <a:latin typeface="Domine" pitchFamily="18" charset="0"/>
                <a:ea typeface="Domine" pitchFamily="18" charset="-122"/>
                <a:cs typeface="Domine" pitchFamily="18" charset="-120"/>
              </a:rPr>
              <a:t>A budget request page</a:t>
            </a:r>
            <a:endParaRPr lang="en-US" sz="2400" dirty="0"/>
          </a:p>
        </p:txBody>
      </p:sp>
      <p:sp>
        <p:nvSpPr>
          <p:cNvPr id="4" name="Shape 2"/>
          <p:cNvSpPr/>
          <p:nvPr/>
        </p:nvSpPr>
        <p:spPr>
          <a:xfrm>
            <a:off x="609600" y="1173485"/>
            <a:ext cx="8001000" cy="4502150"/>
          </a:xfrm>
          <a:prstGeom prst="roundRect">
            <a:avLst>
              <a:gd name="adj" fmla="val 1693"/>
            </a:avLst>
          </a:prstGeom>
          <a:solidFill>
            <a:srgbClr val="F7F5F0"/>
          </a:solidFill>
          <a:ln/>
        </p:spPr>
      </p:sp>
      <p:pic>
        <p:nvPicPr>
          <p:cNvPr id="5" name="Image 0" descr="G-CORE screen: A budget request page"/>
          <p:cNvPicPr>
            <a:picLocks noChangeAspect="1"/>
          </p:cNvPicPr>
          <p:nvPr/>
        </p:nvPicPr>
        <p:blipFill>
          <a:blip r:embed="rId3"/>
          <a:srcRect l="-106" r="-106"/>
          <a:stretch/>
        </p:blipFill>
        <p:spPr>
          <a:xfrm>
            <a:off x="622300" y="1186185"/>
            <a:ext cx="7975600" cy="4476750"/>
          </a:xfrm>
          <a:prstGeom prst="roundRect">
            <a:avLst>
              <a:gd name="adj" fmla="val 1418"/>
            </a:avLst>
          </a:prstGeom>
        </p:spPr>
      </p:pic>
      <p:sp>
        <p:nvSpPr>
          <p:cNvPr id="6" name="Shape 3"/>
          <p:cNvSpPr/>
          <p:nvPr/>
        </p:nvSpPr>
        <p:spPr>
          <a:xfrm>
            <a:off x="615950" y="1179835"/>
            <a:ext cx="7988300" cy="4489450"/>
          </a:xfrm>
          <a:prstGeom prst="roundRect">
            <a:avLst>
              <a:gd name="adj" fmla="val 1556"/>
            </a:avLst>
          </a:prstGeom>
          <a:noFill/>
          <a:ln w="12700">
            <a:solidFill>
              <a:srgbClr val="3A4466"/>
            </a:solidFill>
            <a:prstDash val="solid"/>
          </a:ln>
        </p:spPr>
      </p:sp>
      <p:sp>
        <p:nvSpPr>
          <p:cNvPr id="7" name="Text 4"/>
          <p:cNvSpPr/>
          <p:nvPr/>
        </p:nvSpPr>
        <p:spPr>
          <a:xfrm>
            <a:off x="8864600" y="1275085"/>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F2B872"/>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1</a:t>
            </a:r>
            <a:endParaRPr lang="en-US" sz="1300" dirty="0"/>
          </a:p>
        </p:txBody>
      </p:sp>
      <p:sp>
        <p:nvSpPr>
          <p:cNvPr id="8" name="Text 5"/>
          <p:cNvSpPr/>
          <p:nvPr/>
        </p:nvSpPr>
        <p:spPr>
          <a:xfrm>
            <a:off x="9283700" y="1275085"/>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Approval panel: who it waits on.</a:t>
            </a:r>
            <a:endParaRPr lang="en-US" sz="1400" dirty="0"/>
          </a:p>
        </p:txBody>
      </p:sp>
      <p:sp>
        <p:nvSpPr>
          <p:cNvPr id="9" name="Text 6"/>
          <p:cNvSpPr/>
          <p:nvPr/>
        </p:nvSpPr>
        <p:spPr>
          <a:xfrm>
            <a:off x="8864600" y="1976115"/>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F2B872"/>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2</a:t>
            </a:r>
            <a:endParaRPr lang="en-US" sz="1300" dirty="0"/>
          </a:p>
        </p:txBody>
      </p:sp>
      <p:sp>
        <p:nvSpPr>
          <p:cNvPr id="10" name="Text 7"/>
          <p:cNvSpPr/>
          <p:nvPr/>
        </p:nvSpPr>
        <p:spPr>
          <a:xfrm>
            <a:off x="9283700" y="1976115"/>
            <a:ext cx="2367661"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The money: requested, released, liquidate by, spent.</a:t>
            </a:r>
            <a:endParaRPr lang="en-US" sz="1400" dirty="0"/>
          </a:p>
        </p:txBody>
      </p:sp>
      <p:sp>
        <p:nvSpPr>
          <p:cNvPr id="11" name="Text 8"/>
          <p:cNvSpPr/>
          <p:nvPr/>
        </p:nvSpPr>
        <p:spPr>
          <a:xfrm>
            <a:off x="8864600" y="2926085"/>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F2B872"/>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3</a:t>
            </a:r>
            <a:endParaRPr lang="en-US" sz="1300" dirty="0"/>
          </a:p>
        </p:txBody>
      </p:sp>
      <p:sp>
        <p:nvSpPr>
          <p:cNvPr id="12" name="Text 9"/>
          <p:cNvSpPr/>
          <p:nvPr/>
        </p:nvSpPr>
        <p:spPr>
          <a:xfrm>
            <a:off x="9283700" y="2926085"/>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Liquidation and payments on the right.</a:t>
            </a:r>
            <a:endParaRPr lang="en-US" sz="1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0560C"/>
                </a:solidFill>
                <a:latin typeface="DM Sans" pitchFamily="34" charset="0"/>
                <a:ea typeface="DM Sans" pitchFamily="34" charset="-122"/>
                <a:cs typeface="DM Sans" pitchFamily="34" charset="-120"/>
              </a:rPr>
              <a:t>G-FIN · REIMBURSEMENTS</a:t>
            </a:r>
            <a:endParaRPr lang="en-US" sz="1200" dirty="0"/>
          </a:p>
        </p:txBody>
      </p:sp>
      <p:sp>
        <p:nvSpPr>
          <p:cNvPr id="3" name="Text 1"/>
          <p:cNvSpPr>
            <a:spLocks noGrp="1"/>
          </p:cNvSpPr>
          <p:nvPr>
            <p:ph type="title"/>
          </p:nvPr>
        </p:nvSpPr>
        <p:spPr>
          <a:xfrm>
            <a:off x="812800" y="112777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B2238"/>
                </a:solidFill>
                <a:latin typeface="Domine" pitchFamily="18" charset="0"/>
                <a:ea typeface="Domine" pitchFamily="18" charset="-122"/>
                <a:cs typeface="Domine" pitchFamily="18" charset="-120"/>
              </a:rPr>
              <a:t>Five signatures, status in plain words</a:t>
            </a:r>
            <a:endParaRPr lang="en-US" sz="3000" dirty="0"/>
          </a:p>
        </p:txBody>
      </p:sp>
      <p:sp>
        <p:nvSpPr>
          <p:cNvPr id="4" name="Shape 2"/>
          <p:cNvSpPr/>
          <p:nvPr/>
        </p:nvSpPr>
        <p:spPr>
          <a:xfrm>
            <a:off x="815975" y="1772295"/>
            <a:ext cx="2025650" cy="803910"/>
          </a:xfrm>
          <a:prstGeom prst="roundRect">
            <a:avLst>
              <a:gd name="adj" fmla="val 12243"/>
            </a:avLst>
          </a:prstGeom>
          <a:solidFill>
            <a:srgbClr val="FFFDF8"/>
          </a:solidFill>
          <a:ln w="6350">
            <a:solidFill>
              <a:srgbClr val="E4DFD3"/>
            </a:solidFill>
            <a:prstDash val="solid"/>
          </a:ln>
        </p:spPr>
      </p:sp>
      <p:sp>
        <p:nvSpPr>
          <p:cNvPr id="5" name="Text 3"/>
          <p:cNvSpPr/>
          <p:nvPr/>
        </p:nvSpPr>
        <p:spPr>
          <a:xfrm>
            <a:off x="970280" y="1926605"/>
            <a:ext cx="176855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0560C"/>
                </a:solidFill>
                <a:latin typeface="DM Sans" pitchFamily="34" charset="0"/>
                <a:ea typeface="DM Sans" pitchFamily="34" charset="-122"/>
                <a:cs typeface="DM Sans" pitchFamily="34" charset="-120"/>
              </a:rPr>
              <a:t>TL APPROVAL</a:t>
            </a:r>
            <a:endParaRPr lang="en-US" sz="1200" dirty="0"/>
          </a:p>
        </p:txBody>
      </p:sp>
      <p:sp>
        <p:nvSpPr>
          <p:cNvPr id="6" name="Text 4"/>
          <p:cNvSpPr/>
          <p:nvPr/>
        </p:nvSpPr>
        <p:spPr>
          <a:xfrm>
            <a:off x="970280" y="2190750"/>
            <a:ext cx="1768551"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160"/>
                </a:solidFill>
                <a:latin typeface="DM Sans" pitchFamily="34" charset="0"/>
                <a:ea typeface="DM Sans" pitchFamily="34" charset="-122"/>
                <a:cs typeface="DM Sans" pitchFamily="34" charset="-120"/>
              </a:rPr>
              <a:t>Team Leader</a:t>
            </a:r>
            <a:endParaRPr lang="en-US" sz="1300" dirty="0"/>
          </a:p>
        </p:txBody>
      </p:sp>
      <p:sp>
        <p:nvSpPr>
          <p:cNvPr id="7" name="Shape 5"/>
          <p:cNvSpPr/>
          <p:nvPr/>
        </p:nvSpPr>
        <p:spPr>
          <a:xfrm>
            <a:off x="2949575" y="1772295"/>
            <a:ext cx="2025650" cy="803910"/>
          </a:xfrm>
          <a:prstGeom prst="roundRect">
            <a:avLst>
              <a:gd name="adj" fmla="val 12243"/>
            </a:avLst>
          </a:prstGeom>
          <a:solidFill>
            <a:srgbClr val="FFFDF8"/>
          </a:solidFill>
          <a:ln w="6350">
            <a:solidFill>
              <a:srgbClr val="E4DFD3"/>
            </a:solidFill>
            <a:prstDash val="solid"/>
          </a:ln>
        </p:spPr>
      </p:sp>
      <p:sp>
        <p:nvSpPr>
          <p:cNvPr id="8" name="Text 6"/>
          <p:cNvSpPr/>
          <p:nvPr/>
        </p:nvSpPr>
        <p:spPr>
          <a:xfrm>
            <a:off x="3103880" y="1926605"/>
            <a:ext cx="176855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0560C"/>
                </a:solidFill>
                <a:latin typeface="DM Sans" pitchFamily="34" charset="0"/>
                <a:ea typeface="DM Sans" pitchFamily="34" charset="-122"/>
                <a:cs typeface="DM Sans" pitchFamily="34" charset="-120"/>
              </a:rPr>
              <a:t>BACK SUPPORT</a:t>
            </a:r>
            <a:endParaRPr lang="en-US" sz="1200" dirty="0"/>
          </a:p>
        </p:txBody>
      </p:sp>
      <p:sp>
        <p:nvSpPr>
          <p:cNvPr id="9" name="Text 7"/>
          <p:cNvSpPr/>
          <p:nvPr/>
        </p:nvSpPr>
        <p:spPr>
          <a:xfrm>
            <a:off x="3103880" y="2190750"/>
            <a:ext cx="1768551"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160"/>
                </a:solidFill>
                <a:latin typeface="DM Sans" pitchFamily="34" charset="0"/>
                <a:ea typeface="DM Sans" pitchFamily="34" charset="-122"/>
                <a:cs typeface="DM Sans" pitchFamily="34" charset="-120"/>
              </a:rPr>
              <a:t>Admin Back Support</a:t>
            </a:r>
            <a:endParaRPr lang="en-US" sz="1300" dirty="0"/>
          </a:p>
        </p:txBody>
      </p:sp>
      <p:sp>
        <p:nvSpPr>
          <p:cNvPr id="10" name="Shape 8"/>
          <p:cNvSpPr/>
          <p:nvPr/>
        </p:nvSpPr>
        <p:spPr>
          <a:xfrm>
            <a:off x="5083175" y="1772295"/>
            <a:ext cx="2025650" cy="803910"/>
          </a:xfrm>
          <a:prstGeom prst="roundRect">
            <a:avLst>
              <a:gd name="adj" fmla="val 12243"/>
            </a:avLst>
          </a:prstGeom>
          <a:solidFill>
            <a:srgbClr val="FFFDF8"/>
          </a:solidFill>
          <a:ln w="6350">
            <a:solidFill>
              <a:srgbClr val="E4DFD3"/>
            </a:solidFill>
            <a:prstDash val="solid"/>
          </a:ln>
        </p:spPr>
      </p:sp>
      <p:sp>
        <p:nvSpPr>
          <p:cNvPr id="11" name="Text 9"/>
          <p:cNvSpPr/>
          <p:nvPr/>
        </p:nvSpPr>
        <p:spPr>
          <a:xfrm>
            <a:off x="5237480" y="1926605"/>
            <a:ext cx="176855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0560C"/>
                </a:solidFill>
                <a:latin typeface="DM Sans" pitchFamily="34" charset="0"/>
                <a:ea typeface="DM Sans" pitchFamily="34" charset="-122"/>
                <a:cs typeface="DM Sans" pitchFamily="34" charset="-120"/>
              </a:rPr>
              <a:t>CHECKING</a:t>
            </a:r>
            <a:endParaRPr lang="en-US" sz="1200" dirty="0"/>
          </a:p>
        </p:txBody>
      </p:sp>
      <p:sp>
        <p:nvSpPr>
          <p:cNvPr id="12" name="Text 10"/>
          <p:cNvSpPr/>
          <p:nvPr/>
        </p:nvSpPr>
        <p:spPr>
          <a:xfrm>
            <a:off x="5237480" y="2190750"/>
            <a:ext cx="1768551"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160"/>
                </a:solidFill>
                <a:latin typeface="DM Sans" pitchFamily="34" charset="0"/>
                <a:ea typeface="DM Sans" pitchFamily="34" charset="-122"/>
                <a:cs typeface="DM Sans" pitchFamily="34" charset="-120"/>
              </a:rPr>
              <a:t>Finance Staff</a:t>
            </a:r>
            <a:endParaRPr lang="en-US" sz="1300" dirty="0"/>
          </a:p>
        </p:txBody>
      </p:sp>
      <p:sp>
        <p:nvSpPr>
          <p:cNvPr id="13" name="Shape 11"/>
          <p:cNvSpPr/>
          <p:nvPr/>
        </p:nvSpPr>
        <p:spPr>
          <a:xfrm>
            <a:off x="7216775" y="1772295"/>
            <a:ext cx="2025650" cy="803910"/>
          </a:xfrm>
          <a:prstGeom prst="roundRect">
            <a:avLst>
              <a:gd name="adj" fmla="val 12243"/>
            </a:avLst>
          </a:prstGeom>
          <a:solidFill>
            <a:srgbClr val="FFFDF8"/>
          </a:solidFill>
          <a:ln w="6350">
            <a:solidFill>
              <a:srgbClr val="E4DFD3"/>
            </a:solidFill>
            <a:prstDash val="solid"/>
          </a:ln>
        </p:spPr>
      </p:sp>
      <p:sp>
        <p:nvSpPr>
          <p:cNvPr id="14" name="Text 12"/>
          <p:cNvSpPr/>
          <p:nvPr/>
        </p:nvSpPr>
        <p:spPr>
          <a:xfrm>
            <a:off x="7371080" y="1926605"/>
            <a:ext cx="176855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0560C"/>
                </a:solidFill>
                <a:latin typeface="DM Sans" pitchFamily="34" charset="0"/>
                <a:ea typeface="DM Sans" pitchFamily="34" charset="-122"/>
                <a:cs typeface="DM Sans" pitchFamily="34" charset="-120"/>
              </a:rPr>
              <a:t>FM APPROVAL</a:t>
            </a:r>
            <a:endParaRPr lang="en-US" sz="1200" dirty="0"/>
          </a:p>
        </p:txBody>
      </p:sp>
      <p:sp>
        <p:nvSpPr>
          <p:cNvPr id="15" name="Text 13"/>
          <p:cNvSpPr/>
          <p:nvPr/>
        </p:nvSpPr>
        <p:spPr>
          <a:xfrm>
            <a:off x="7371080" y="2190750"/>
            <a:ext cx="1768551"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160"/>
                </a:solidFill>
                <a:latin typeface="DM Sans" pitchFamily="34" charset="0"/>
                <a:ea typeface="DM Sans" pitchFamily="34" charset="-122"/>
                <a:cs typeface="DM Sans" pitchFamily="34" charset="-120"/>
              </a:rPr>
              <a:t>Finance Manager</a:t>
            </a:r>
            <a:endParaRPr lang="en-US" sz="1300" dirty="0"/>
          </a:p>
        </p:txBody>
      </p:sp>
      <p:sp>
        <p:nvSpPr>
          <p:cNvPr id="16" name="Shape 14"/>
          <p:cNvSpPr/>
          <p:nvPr/>
        </p:nvSpPr>
        <p:spPr>
          <a:xfrm>
            <a:off x="9350375" y="1772295"/>
            <a:ext cx="2025650" cy="803910"/>
          </a:xfrm>
          <a:prstGeom prst="roundRect">
            <a:avLst>
              <a:gd name="adj" fmla="val 12243"/>
            </a:avLst>
          </a:prstGeom>
          <a:solidFill>
            <a:srgbClr val="FFFDF8"/>
          </a:solidFill>
          <a:ln w="6350">
            <a:solidFill>
              <a:srgbClr val="E4DFD3"/>
            </a:solidFill>
            <a:prstDash val="solid"/>
          </a:ln>
        </p:spPr>
      </p:sp>
      <p:sp>
        <p:nvSpPr>
          <p:cNvPr id="17" name="Text 15"/>
          <p:cNvSpPr/>
          <p:nvPr/>
        </p:nvSpPr>
        <p:spPr>
          <a:xfrm>
            <a:off x="9504680" y="1926605"/>
            <a:ext cx="176855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0560C"/>
                </a:solidFill>
                <a:latin typeface="DM Sans" pitchFamily="34" charset="0"/>
                <a:ea typeface="DM Sans" pitchFamily="34" charset="-122"/>
                <a:cs typeface="DM Sans" pitchFamily="34" charset="-120"/>
              </a:rPr>
              <a:t>CEO APPROVAL</a:t>
            </a:r>
            <a:endParaRPr lang="en-US" sz="1200" dirty="0"/>
          </a:p>
        </p:txBody>
      </p:sp>
      <p:sp>
        <p:nvSpPr>
          <p:cNvPr id="18" name="Text 16"/>
          <p:cNvSpPr/>
          <p:nvPr/>
        </p:nvSpPr>
        <p:spPr>
          <a:xfrm>
            <a:off x="9504680" y="2190750"/>
            <a:ext cx="1768551"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160"/>
                </a:solidFill>
                <a:latin typeface="DM Sans" pitchFamily="34" charset="0"/>
                <a:ea typeface="DM Sans" pitchFamily="34" charset="-122"/>
                <a:cs typeface="DM Sans" pitchFamily="34" charset="-120"/>
              </a:rPr>
              <a:t>CEO / President</a:t>
            </a:r>
            <a:endParaRPr lang="en-US" sz="1300" dirty="0"/>
          </a:p>
        </p:txBody>
      </p:sp>
      <p:sp>
        <p:nvSpPr>
          <p:cNvPr id="19" name="Shape 17"/>
          <p:cNvSpPr/>
          <p:nvPr/>
        </p:nvSpPr>
        <p:spPr>
          <a:xfrm>
            <a:off x="815975" y="2785740"/>
            <a:ext cx="5200650" cy="1130300"/>
          </a:xfrm>
          <a:prstGeom prst="roundRect">
            <a:avLst>
              <a:gd name="adj" fmla="val 8708"/>
            </a:avLst>
          </a:prstGeom>
          <a:solidFill>
            <a:srgbClr val="FFFDF8"/>
          </a:solidFill>
          <a:ln w="6350">
            <a:solidFill>
              <a:srgbClr val="E4DFD3"/>
            </a:solidFill>
            <a:prstDash val="solid"/>
          </a:ln>
        </p:spPr>
      </p:sp>
      <p:sp>
        <p:nvSpPr>
          <p:cNvPr id="20" name="Text 18"/>
          <p:cNvSpPr/>
          <p:nvPr/>
        </p:nvSpPr>
        <p:spPr>
          <a:xfrm>
            <a:off x="995680" y="2965450"/>
            <a:ext cx="498647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2238"/>
                </a:solidFill>
                <a:latin typeface="DM Sans" pitchFamily="34" charset="0"/>
                <a:ea typeface="DM Sans" pitchFamily="34" charset="-122"/>
                <a:cs typeface="DM Sans" pitchFamily="34" charset="-120"/>
              </a:rPr>
              <a:t>Filing one</a:t>
            </a:r>
            <a:endParaRPr lang="en-US" sz="1500" dirty="0"/>
          </a:p>
        </p:txBody>
      </p:sp>
      <p:sp>
        <p:nvSpPr>
          <p:cNvPr id="21" name="Text 19"/>
          <p:cNvSpPr/>
          <p:nvPr/>
        </p:nvSpPr>
        <p:spPr>
          <a:xfrm>
            <a:off x="995680" y="3257550"/>
            <a:ext cx="4986477" cy="50419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160"/>
                </a:solidFill>
                <a:latin typeface="DM Sans" pitchFamily="34" charset="0"/>
                <a:ea typeface="DM Sans" pitchFamily="34" charset="-122"/>
                <a:cs typeface="DM Sans" pitchFamily="34" charset="-120"/>
              </a:rPr>
              <a:t>“+ Add reimbursement”: lines (date, what, amount, project and budget line), receipts in Attachments at the foot, Submit.</a:t>
            </a:r>
            <a:endParaRPr lang="en-US" sz="1300" dirty="0"/>
          </a:p>
        </p:txBody>
      </p:sp>
      <p:sp>
        <p:nvSpPr>
          <p:cNvPr id="22" name="Shape 20"/>
          <p:cNvSpPr/>
          <p:nvPr/>
        </p:nvSpPr>
        <p:spPr>
          <a:xfrm>
            <a:off x="6175375" y="2785740"/>
            <a:ext cx="5200650" cy="1130300"/>
          </a:xfrm>
          <a:prstGeom prst="roundRect">
            <a:avLst>
              <a:gd name="adj" fmla="val 8708"/>
            </a:avLst>
          </a:prstGeom>
          <a:solidFill>
            <a:srgbClr val="FFFDF8"/>
          </a:solidFill>
          <a:ln w="6350">
            <a:solidFill>
              <a:srgbClr val="E4DFD3"/>
            </a:solidFill>
            <a:prstDash val="solid"/>
          </a:ln>
        </p:spPr>
      </p:sp>
      <p:sp>
        <p:nvSpPr>
          <p:cNvPr id="23" name="Text 21"/>
          <p:cNvSpPr/>
          <p:nvPr/>
        </p:nvSpPr>
        <p:spPr>
          <a:xfrm>
            <a:off x="6355080" y="2965450"/>
            <a:ext cx="498647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2238"/>
                </a:solidFill>
                <a:latin typeface="DM Sans" pitchFamily="34" charset="0"/>
                <a:ea typeface="DM Sans" pitchFamily="34" charset="-122"/>
                <a:cs typeface="DM Sans" pitchFamily="34" charset="-120"/>
              </a:rPr>
              <a:t>Reading the list</a:t>
            </a:r>
            <a:endParaRPr lang="en-US" sz="1500" dirty="0"/>
          </a:p>
        </p:txBody>
      </p:sp>
      <p:sp>
        <p:nvSpPr>
          <p:cNvPr id="24" name="Text 22"/>
          <p:cNvSpPr/>
          <p:nvPr/>
        </p:nvSpPr>
        <p:spPr>
          <a:xfrm>
            <a:off x="6355080" y="3257550"/>
            <a:ext cx="4986477" cy="50419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160"/>
                </a:solidFill>
                <a:latin typeface="DM Sans" pitchFamily="34" charset="0"/>
                <a:ea typeface="DM Sans" pitchFamily="34" charset="-122"/>
                <a:cs typeface="DM Sans" pitchFamily="34" charset="-120"/>
              </a:rPr>
              <a:t>Status shows the step it waits on, then </a:t>
            </a:r>
            <a:r>
              <a:rPr lang="en-US" sz="1300" b="1" dirty="0">
                <a:solidFill>
                  <a:srgbClr val="4A5160"/>
                </a:solidFill>
                <a:latin typeface="DM Sans" pitchFamily="34" charset="0"/>
                <a:ea typeface="DM Sans" pitchFamily="34" charset="-122"/>
                <a:cs typeface="DM Sans" pitchFamily="34" charset="-120"/>
              </a:rPr>
              <a:t>For Release</a:t>
            </a:r>
            <a:r>
              <a:rPr lang="en-US" sz="1300" dirty="0">
                <a:solidFill>
                  <a:srgbClr val="4A5160"/>
                </a:solidFill>
                <a:latin typeface="DM Sans" pitchFamily="34" charset="0"/>
                <a:ea typeface="DM Sans" pitchFamily="34" charset="-122"/>
                <a:cs typeface="DM Sans" pitchFamily="34" charset="-120"/>
              </a:rPr>
              <a:t>, then </a:t>
            </a:r>
            <a:r>
              <a:rPr lang="en-US" sz="1300" b="1" dirty="0">
                <a:solidFill>
                  <a:srgbClr val="4A5160"/>
                </a:solidFill>
                <a:latin typeface="DM Sans" pitchFamily="34" charset="0"/>
                <a:ea typeface="DM Sans" pitchFamily="34" charset="-122"/>
                <a:cs typeface="DM Sans" pitchFamily="34" charset="-120"/>
              </a:rPr>
              <a:t>Paid</a:t>
            </a:r>
            <a:r>
              <a:rPr lang="en-US" sz="1300" dirty="0">
                <a:solidFill>
                  <a:srgbClr val="4A5160"/>
                </a:solidFill>
                <a:latin typeface="DM Sans" pitchFamily="34" charset="0"/>
                <a:ea typeface="DM Sans" pitchFamily="34" charset="-122"/>
                <a:cs typeface="DM Sans" pitchFamily="34" charset="-120"/>
              </a:rPr>
              <a:t>. Cards: total, pending, for release, paid out.</a:t>
            </a:r>
            <a:endParaRPr lang="en-US" sz="1300" dirty="0"/>
          </a:p>
        </p:txBody>
      </p:sp>
      <p:sp>
        <p:nvSpPr>
          <p:cNvPr id="25" name="Text 23"/>
          <p:cNvSpPr/>
          <p:nvPr/>
        </p:nvSpPr>
        <p:spPr>
          <a:xfrm>
            <a:off x="812800" y="6238255"/>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DM Sans" pitchFamily="34" charset="0"/>
                <a:ea typeface="DM Sans" pitchFamily="34" charset="-122"/>
                <a:cs typeface="DM Sans" pitchFamily="34" charset="-120"/>
              </a:rPr>
              <a:t>G-CORE Training · G-FIN · Reimbursements (also every liquidation)</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B2238"/>
        </a:solidFill>
        <a:effectLst/>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B872"/>
                </a:solidFill>
                <a:latin typeface="DM Sans" pitchFamily="34" charset="0"/>
                <a:ea typeface="DM Sans" pitchFamily="34" charset="-122"/>
                <a:cs typeface="DM Sans" pitchFamily="34" charset="-120"/>
              </a:rPr>
              <a:t>ON SCREEN · G-FIN MONEY OUT</a:t>
            </a:r>
            <a:endParaRPr lang="en-US" sz="1200" dirty="0"/>
          </a:p>
        </p:txBody>
      </p:sp>
      <p:sp>
        <p:nvSpPr>
          <p:cNvPr id="3" name="Text 1"/>
          <p:cNvSpPr>
            <a:spLocks noGrp="1"/>
          </p:cNvSpPr>
          <p:nvPr>
            <p:ph type="title"/>
          </p:nvPr>
        </p:nvSpPr>
        <p:spPr>
          <a:xfrm>
            <a:off x="609600" y="746770"/>
            <a:ext cx="11301984"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F7F5F0"/>
                </a:solidFill>
                <a:latin typeface="Domine" pitchFamily="18" charset="0"/>
                <a:ea typeface="Domine" pitchFamily="18" charset="-122"/>
                <a:cs typeface="Domine" pitchFamily="18" charset="-120"/>
              </a:rPr>
              <a:t>A reimbursement waiting on its approver</a:t>
            </a:r>
            <a:endParaRPr lang="en-US" sz="2400" dirty="0"/>
          </a:p>
        </p:txBody>
      </p:sp>
      <p:sp>
        <p:nvSpPr>
          <p:cNvPr id="4" name="Shape 2"/>
          <p:cNvSpPr/>
          <p:nvPr/>
        </p:nvSpPr>
        <p:spPr>
          <a:xfrm>
            <a:off x="609600" y="1173485"/>
            <a:ext cx="8001000" cy="4502150"/>
          </a:xfrm>
          <a:prstGeom prst="roundRect">
            <a:avLst>
              <a:gd name="adj" fmla="val 1693"/>
            </a:avLst>
          </a:prstGeom>
          <a:solidFill>
            <a:srgbClr val="F7F5F0"/>
          </a:solidFill>
          <a:ln/>
        </p:spPr>
      </p:sp>
      <p:pic>
        <p:nvPicPr>
          <p:cNvPr id="5" name="Image 0" descr="G-CORE screen: A reimbursement waiting on its approver"/>
          <p:cNvPicPr>
            <a:picLocks noChangeAspect="1"/>
          </p:cNvPicPr>
          <p:nvPr/>
        </p:nvPicPr>
        <p:blipFill>
          <a:blip r:embed="rId3"/>
          <a:srcRect l="-106" r="-106"/>
          <a:stretch/>
        </p:blipFill>
        <p:spPr>
          <a:xfrm>
            <a:off x="622300" y="1186185"/>
            <a:ext cx="7975600" cy="4476750"/>
          </a:xfrm>
          <a:prstGeom prst="roundRect">
            <a:avLst>
              <a:gd name="adj" fmla="val 1418"/>
            </a:avLst>
          </a:prstGeom>
        </p:spPr>
      </p:pic>
      <p:sp>
        <p:nvSpPr>
          <p:cNvPr id="6" name="Shape 3"/>
          <p:cNvSpPr/>
          <p:nvPr/>
        </p:nvSpPr>
        <p:spPr>
          <a:xfrm>
            <a:off x="615950" y="1179835"/>
            <a:ext cx="7988300" cy="4489450"/>
          </a:xfrm>
          <a:prstGeom prst="roundRect">
            <a:avLst>
              <a:gd name="adj" fmla="val 1556"/>
            </a:avLst>
          </a:prstGeom>
          <a:noFill/>
          <a:ln w="12700">
            <a:solidFill>
              <a:srgbClr val="3A4466"/>
            </a:solidFill>
            <a:prstDash val="solid"/>
          </a:ln>
        </p:spPr>
      </p:sp>
      <p:sp>
        <p:nvSpPr>
          <p:cNvPr id="7" name="Text 4"/>
          <p:cNvSpPr/>
          <p:nvPr/>
        </p:nvSpPr>
        <p:spPr>
          <a:xfrm>
            <a:off x="8864600" y="1275085"/>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F2B872"/>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1</a:t>
            </a:r>
            <a:endParaRPr lang="en-US" sz="1300" dirty="0"/>
          </a:p>
        </p:txBody>
      </p:sp>
      <p:sp>
        <p:nvSpPr>
          <p:cNvPr id="8" name="Text 5"/>
          <p:cNvSpPr/>
          <p:nvPr/>
        </p:nvSpPr>
        <p:spPr>
          <a:xfrm>
            <a:off x="9283700" y="1275085"/>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Each receipt line with its OR no.</a:t>
            </a:r>
            <a:endParaRPr lang="en-US" sz="1400" dirty="0"/>
          </a:p>
        </p:txBody>
      </p:sp>
      <p:sp>
        <p:nvSpPr>
          <p:cNvPr id="9" name="Text 6"/>
          <p:cNvSpPr/>
          <p:nvPr/>
        </p:nvSpPr>
        <p:spPr>
          <a:xfrm>
            <a:off x="8864600" y="1976115"/>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F2B872"/>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2</a:t>
            </a:r>
            <a:endParaRPr lang="en-US" sz="1300" dirty="0"/>
          </a:p>
        </p:txBody>
      </p:sp>
      <p:sp>
        <p:nvSpPr>
          <p:cNvPr id="10" name="Text 7"/>
          <p:cNvSpPr/>
          <p:nvPr/>
        </p:nvSpPr>
        <p:spPr>
          <a:xfrm>
            <a:off x="9283700" y="1976115"/>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Settlement: claimed, paid back, still owed.</a:t>
            </a:r>
            <a:endParaRPr lang="en-US" sz="1400" dirty="0"/>
          </a:p>
        </p:txBody>
      </p:sp>
      <p:sp>
        <p:nvSpPr>
          <p:cNvPr id="11" name="Text 8"/>
          <p:cNvSpPr/>
          <p:nvPr/>
        </p:nvSpPr>
        <p:spPr>
          <a:xfrm>
            <a:off x="8864600" y="2677170"/>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F2B872"/>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3</a:t>
            </a:r>
            <a:endParaRPr lang="en-US" sz="1300" dirty="0"/>
          </a:p>
        </p:txBody>
      </p:sp>
      <p:sp>
        <p:nvSpPr>
          <p:cNvPr id="12" name="Text 9"/>
          <p:cNvSpPr/>
          <p:nvPr/>
        </p:nvSpPr>
        <p:spPr>
          <a:xfrm>
            <a:off x="9283700" y="2677170"/>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Charged to the project, or overheads.</a:t>
            </a:r>
            <a:endParaRPr lang="en-US" sz="1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0560C"/>
                </a:solidFill>
                <a:latin typeface="DM Sans" pitchFamily="34" charset="0"/>
                <a:ea typeface="DM Sans" pitchFamily="34" charset="-122"/>
                <a:cs typeface="DM Sans" pitchFamily="34" charset="-120"/>
              </a:rPr>
              <a:t>G-FIN · CASH ADVANCE</a:t>
            </a:r>
            <a:endParaRPr lang="en-US" sz="1200" dirty="0"/>
          </a:p>
        </p:txBody>
      </p:sp>
      <p:sp>
        <p:nvSpPr>
          <p:cNvPr id="3" name="Text 1"/>
          <p:cNvSpPr>
            <a:spLocks noGrp="1"/>
          </p:cNvSpPr>
          <p:nvPr>
            <p:ph type="title"/>
          </p:nvPr>
        </p:nvSpPr>
        <p:spPr>
          <a:xfrm>
            <a:off x="812800" y="112777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B2238"/>
                </a:solidFill>
                <a:latin typeface="Domine" pitchFamily="18" charset="0"/>
                <a:ea typeface="Domine" pitchFamily="18" charset="-122"/>
                <a:cs typeface="Domine" pitchFamily="18" charset="-120"/>
              </a:rPr>
              <a:t>Money lent, repaid in payments</a:t>
            </a:r>
            <a:endParaRPr lang="en-US" sz="3000" dirty="0"/>
          </a:p>
        </p:txBody>
      </p:sp>
      <p:sp>
        <p:nvSpPr>
          <p:cNvPr id="4" name="Shape 2"/>
          <p:cNvSpPr/>
          <p:nvPr/>
        </p:nvSpPr>
        <p:spPr>
          <a:xfrm>
            <a:off x="815975" y="1772295"/>
            <a:ext cx="3414157" cy="1687830"/>
          </a:xfrm>
          <a:prstGeom prst="roundRect">
            <a:avLst>
              <a:gd name="adj" fmla="val 5831"/>
            </a:avLst>
          </a:prstGeom>
          <a:solidFill>
            <a:srgbClr val="FFFDF8"/>
          </a:solidFill>
          <a:ln w="6350">
            <a:solidFill>
              <a:srgbClr val="E4DFD3"/>
            </a:solidFill>
            <a:prstDash val="solid"/>
          </a:ln>
        </p:spPr>
      </p:sp>
      <p:sp>
        <p:nvSpPr>
          <p:cNvPr id="5" name="Text 3"/>
          <p:cNvSpPr/>
          <p:nvPr/>
        </p:nvSpPr>
        <p:spPr>
          <a:xfrm>
            <a:off x="1021080" y="1977405"/>
            <a:ext cx="309406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238"/>
                </a:solidFill>
                <a:latin typeface="DM Sans" pitchFamily="34" charset="0"/>
                <a:ea typeface="DM Sans" pitchFamily="34" charset="-122"/>
                <a:cs typeface="DM Sans" pitchFamily="34" charset="-120"/>
              </a:rPr>
              <a:t>Request &amp; approve</a:t>
            </a:r>
            <a:endParaRPr lang="en-US" sz="1600" dirty="0"/>
          </a:p>
        </p:txBody>
      </p:sp>
      <p:sp>
        <p:nvSpPr>
          <p:cNvPr id="6" name="Text 4"/>
          <p:cNvSpPr/>
          <p:nvPr/>
        </p:nvSpPr>
        <p:spPr>
          <a:xfrm>
            <a:off x="1021080" y="2297435"/>
            <a:ext cx="3094065" cy="743585"/>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160"/>
                </a:solidFill>
                <a:latin typeface="DM Sans" pitchFamily="34" charset="0"/>
                <a:ea typeface="DM Sans" pitchFamily="34" charset="-122"/>
                <a:cs typeface="DM Sans" pitchFamily="34" charset="-120"/>
              </a:rPr>
              <a:t>Amount and purpose; the same five steps as a reimbursement. One advance at a time per person.</a:t>
            </a:r>
            <a:endParaRPr lang="en-US" sz="1300" dirty="0"/>
          </a:p>
        </p:txBody>
      </p:sp>
      <p:sp>
        <p:nvSpPr>
          <p:cNvPr id="7" name="Shape 5"/>
          <p:cNvSpPr/>
          <p:nvPr/>
        </p:nvSpPr>
        <p:spPr>
          <a:xfrm>
            <a:off x="4388882" y="1772295"/>
            <a:ext cx="3414236" cy="1687830"/>
          </a:xfrm>
          <a:prstGeom prst="roundRect">
            <a:avLst>
              <a:gd name="adj" fmla="val 5831"/>
            </a:avLst>
          </a:prstGeom>
          <a:solidFill>
            <a:srgbClr val="FFFDF8"/>
          </a:solidFill>
          <a:ln w="6350">
            <a:solidFill>
              <a:srgbClr val="E4DFD3"/>
            </a:solidFill>
            <a:prstDash val="solid"/>
          </a:ln>
        </p:spPr>
      </p:sp>
      <p:sp>
        <p:nvSpPr>
          <p:cNvPr id="8" name="Text 6"/>
          <p:cNvSpPr/>
          <p:nvPr/>
        </p:nvSpPr>
        <p:spPr>
          <a:xfrm>
            <a:off x="4593987" y="1977405"/>
            <a:ext cx="309414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238"/>
                </a:solidFill>
                <a:latin typeface="DM Sans" pitchFamily="34" charset="0"/>
                <a:ea typeface="DM Sans" pitchFamily="34" charset="-122"/>
                <a:cs typeface="DM Sans" pitchFamily="34" charset="-120"/>
              </a:rPr>
              <a:t>Release &amp; repay</a:t>
            </a:r>
            <a:endParaRPr lang="en-US" sz="1600" dirty="0"/>
          </a:p>
        </p:txBody>
      </p:sp>
      <p:sp>
        <p:nvSpPr>
          <p:cNvPr id="9" name="Text 7"/>
          <p:cNvSpPr/>
          <p:nvPr/>
        </p:nvSpPr>
        <p:spPr>
          <a:xfrm>
            <a:off x="4593987" y="2297435"/>
            <a:ext cx="3094147" cy="98298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160"/>
                </a:solidFill>
                <a:latin typeface="DM Sans" pitchFamily="34" charset="0"/>
                <a:ea typeface="DM Sans" pitchFamily="34" charset="-122"/>
                <a:cs typeface="DM Sans" pitchFamily="34" charset="-120"/>
              </a:rPr>
              <a:t>Released in one voucher. Repayments by cash, cheque or </a:t>
            </a:r>
            <a:r>
              <a:rPr lang="en-US" sz="1300" b="1" dirty="0">
                <a:solidFill>
                  <a:srgbClr val="4A5160"/>
                </a:solidFill>
                <a:latin typeface="DM Sans" pitchFamily="34" charset="0"/>
                <a:ea typeface="DM Sans" pitchFamily="34" charset="-122"/>
                <a:cs typeface="DM Sans" pitchFamily="34" charset="-120"/>
              </a:rPr>
              <a:t>salary deduction</a:t>
            </a:r>
            <a:r>
              <a:rPr lang="en-US" sz="1300" dirty="0">
                <a:solidFill>
                  <a:srgbClr val="4A5160"/>
                </a:solidFill>
                <a:latin typeface="DM Sans" pitchFamily="34" charset="0"/>
                <a:ea typeface="DM Sans" pitchFamily="34" charset="-122"/>
                <a:cs typeface="DM Sans" pitchFamily="34" charset="-120"/>
              </a:rPr>
              <a:t>, entered by finance with </a:t>
            </a:r>
            <a:r>
              <a:rPr lang="en-US" sz="1300" b="1" dirty="0">
                <a:solidFill>
                  <a:srgbClr val="4A5160"/>
                </a:solidFill>
                <a:latin typeface="DM Sans" pitchFamily="34" charset="0"/>
                <a:ea typeface="DM Sans" pitchFamily="34" charset="-122"/>
                <a:cs typeface="DM Sans" pitchFamily="34" charset="-120"/>
              </a:rPr>
              <a:t>Payment entry</a:t>
            </a:r>
            <a:r>
              <a:rPr lang="en-US" sz="1300" dirty="0">
                <a:solidFill>
                  <a:srgbClr val="4A5160"/>
                </a:solidFill>
                <a:latin typeface="DM Sans" pitchFamily="34" charset="0"/>
                <a:ea typeface="DM Sans" pitchFamily="34" charset="-122"/>
                <a:cs typeface="DM Sans" pitchFamily="34" charset="-120"/>
              </a:rPr>
              <a:t>.</a:t>
            </a:r>
            <a:endParaRPr lang="en-US" sz="1300" dirty="0"/>
          </a:p>
        </p:txBody>
      </p:sp>
      <p:sp>
        <p:nvSpPr>
          <p:cNvPr id="10" name="Shape 8"/>
          <p:cNvSpPr/>
          <p:nvPr/>
        </p:nvSpPr>
        <p:spPr>
          <a:xfrm>
            <a:off x="7961868" y="1772295"/>
            <a:ext cx="3414157" cy="1687830"/>
          </a:xfrm>
          <a:prstGeom prst="roundRect">
            <a:avLst>
              <a:gd name="adj" fmla="val 5831"/>
            </a:avLst>
          </a:prstGeom>
          <a:solidFill>
            <a:srgbClr val="FFFDF8"/>
          </a:solidFill>
          <a:ln w="6350">
            <a:solidFill>
              <a:srgbClr val="E4DFD3"/>
            </a:solidFill>
            <a:prstDash val="solid"/>
          </a:ln>
        </p:spPr>
      </p:sp>
      <p:sp>
        <p:nvSpPr>
          <p:cNvPr id="11" name="Text 9"/>
          <p:cNvSpPr/>
          <p:nvPr/>
        </p:nvSpPr>
        <p:spPr>
          <a:xfrm>
            <a:off x="8166974" y="1977405"/>
            <a:ext cx="309406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238"/>
                </a:solidFill>
                <a:latin typeface="DM Sans" pitchFamily="34" charset="0"/>
                <a:ea typeface="DM Sans" pitchFamily="34" charset="-122"/>
                <a:cs typeface="DM Sans" pitchFamily="34" charset="-120"/>
              </a:rPr>
              <a:t>Track the balance</a:t>
            </a:r>
            <a:endParaRPr lang="en-US" sz="1600" dirty="0"/>
          </a:p>
        </p:txBody>
      </p:sp>
      <p:sp>
        <p:nvSpPr>
          <p:cNvPr id="12" name="Text 10"/>
          <p:cNvSpPr/>
          <p:nvPr/>
        </p:nvSpPr>
        <p:spPr>
          <a:xfrm>
            <a:off x="8166974" y="2297435"/>
            <a:ext cx="3094065" cy="743585"/>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160"/>
                </a:solidFill>
                <a:latin typeface="DM Sans" pitchFamily="34" charset="0"/>
                <a:ea typeface="DM Sans" pitchFamily="34" charset="-122"/>
                <a:cs typeface="DM Sans" pitchFamily="34" charset="-120"/>
              </a:rPr>
              <a:t>Status: </a:t>
            </a:r>
            <a:r>
              <a:rPr lang="en-US" sz="1300" b="1" dirty="0">
                <a:solidFill>
                  <a:srgbClr val="4A5160"/>
                </a:solidFill>
                <a:latin typeface="DM Sans" pitchFamily="34" charset="0"/>
                <a:ea typeface="DM Sans" pitchFamily="34" charset="-122"/>
                <a:cs typeface="DM Sans" pitchFamily="34" charset="-120"/>
              </a:rPr>
              <a:t>Repaying</a:t>
            </a:r>
            <a:r>
              <a:rPr lang="en-US" sz="1300" dirty="0">
                <a:solidFill>
                  <a:srgbClr val="4A5160"/>
                </a:solidFill>
                <a:latin typeface="DM Sans" pitchFamily="34" charset="0"/>
                <a:ea typeface="DM Sans" pitchFamily="34" charset="-122"/>
                <a:cs typeface="DM Sans" pitchFamily="34" charset="-120"/>
              </a:rPr>
              <a:t> while a balance is owed, then </a:t>
            </a:r>
            <a:r>
              <a:rPr lang="en-US" sz="1300" b="1" dirty="0">
                <a:solidFill>
                  <a:srgbClr val="4A5160"/>
                </a:solidFill>
                <a:latin typeface="DM Sans" pitchFamily="34" charset="0"/>
                <a:ea typeface="DM Sans" pitchFamily="34" charset="-122"/>
                <a:cs typeface="DM Sans" pitchFamily="34" charset="-120"/>
              </a:rPr>
              <a:t>Paid</a:t>
            </a:r>
            <a:r>
              <a:rPr lang="en-US" sz="1300" dirty="0">
                <a:solidFill>
                  <a:srgbClr val="4A5160"/>
                </a:solidFill>
                <a:latin typeface="DM Sans" pitchFamily="34" charset="0"/>
                <a:ea typeface="DM Sans" pitchFamily="34" charset="-122"/>
                <a:cs typeface="DM Sans" pitchFamily="34" charset="-120"/>
              </a:rPr>
              <a:t>. The page shows the payment history.</a:t>
            </a:r>
            <a:endParaRPr lang="en-US" sz="1300" dirty="0"/>
          </a:p>
        </p:txBody>
      </p:sp>
      <p:sp>
        <p:nvSpPr>
          <p:cNvPr id="13" name="Text 11"/>
          <p:cNvSpPr/>
          <p:nvPr/>
        </p:nvSpPr>
        <p:spPr>
          <a:xfrm>
            <a:off x="812800" y="3666505"/>
            <a:ext cx="10566400" cy="502920"/>
          </a:xfrm>
          <a:prstGeom prst="roundRect">
            <a:avLst>
              <a:gd name="adj" fmla="val 15152"/>
            </a:avLst>
          </a:prstGeom>
          <a:solidFill>
            <a:srgbClr val="F6E7D3"/>
          </a:solidFill>
          <a:ln/>
        </p:spPr>
        <p:txBody>
          <a:bodyPr wrap="square" lIns="155482" tIns="104682" rIns="0" bIns="79282" rtlCol="0" anchor="t">
            <a:normAutofit/>
          </a:bodyPr>
          <a:lstStyle/>
          <a:p>
            <a:pPr marL="0" indent="0" algn="l">
              <a:lnSpc>
                <a:spcPts val="1960"/>
              </a:lnSpc>
              <a:buNone/>
            </a:pPr>
            <a:r>
              <a:rPr lang="en-US" sz="1400" dirty="0">
                <a:solidFill>
                  <a:srgbClr val="1B2238"/>
                </a:solidFill>
                <a:latin typeface="DM Sans" pitchFamily="34" charset="0"/>
                <a:ea typeface="DM Sans" pitchFamily="34" charset="-122"/>
                <a:cs typeface="DM Sans" pitchFamily="34" charset="-120"/>
              </a:rPr>
              <a:t>An advance is never liquidated with receipts. Need cash for a project? Use a </a:t>
            </a:r>
            <a:r>
              <a:rPr lang="en-US" sz="1400" b="1" dirty="0">
                <a:solidFill>
                  <a:srgbClr val="1B2238"/>
                </a:solidFill>
                <a:latin typeface="DM Sans" pitchFamily="34" charset="0"/>
                <a:ea typeface="DM Sans" pitchFamily="34" charset="-122"/>
                <a:cs typeface="DM Sans" pitchFamily="34" charset="-120"/>
              </a:rPr>
              <a:t>budget request</a:t>
            </a:r>
            <a:r>
              <a:rPr lang="en-US" sz="1400" dirty="0">
                <a:solidFill>
                  <a:srgbClr val="1B2238"/>
                </a:solidFill>
                <a:latin typeface="DM Sans" pitchFamily="34" charset="0"/>
                <a:ea typeface="DM Sans" pitchFamily="34" charset="-122"/>
                <a:cs typeface="DM Sans" pitchFamily="34" charset="-120"/>
              </a:rPr>
              <a:t>.</a:t>
            </a:r>
            <a:endParaRPr lang="en-US" sz="1400" dirty="0"/>
          </a:p>
        </p:txBody>
      </p:sp>
      <p:sp>
        <p:nvSpPr>
          <p:cNvPr id="14" name="Text 12"/>
          <p:cNvSpPr/>
          <p:nvPr/>
        </p:nvSpPr>
        <p:spPr>
          <a:xfrm>
            <a:off x="812800" y="6238255"/>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DM Sans" pitchFamily="34" charset="0"/>
                <a:ea typeface="DM Sans" pitchFamily="34" charset="-122"/>
                <a:cs typeface="DM Sans" pitchFamily="34" charset="-120"/>
              </a:rPr>
              <a:t>G-CORE Training · G-FIN · Cash Advances</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B2238"/>
        </a:solidFill>
        <a:effectLst/>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B872"/>
                </a:solidFill>
                <a:latin typeface="DM Sans" pitchFamily="34" charset="0"/>
                <a:ea typeface="DM Sans" pitchFamily="34" charset="-122"/>
                <a:cs typeface="DM Sans" pitchFamily="34" charset="-120"/>
              </a:rPr>
              <a:t>ON SCREEN · G-FIN MONEY OUT</a:t>
            </a:r>
            <a:endParaRPr lang="en-US" sz="1200" dirty="0"/>
          </a:p>
        </p:txBody>
      </p:sp>
      <p:sp>
        <p:nvSpPr>
          <p:cNvPr id="3" name="Text 1"/>
          <p:cNvSpPr>
            <a:spLocks noGrp="1"/>
          </p:cNvSpPr>
          <p:nvPr>
            <p:ph type="title"/>
          </p:nvPr>
        </p:nvSpPr>
        <p:spPr>
          <a:xfrm>
            <a:off x="609600" y="746770"/>
            <a:ext cx="11301984"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F7F5F0"/>
                </a:solidFill>
                <a:latin typeface="Domine" pitchFamily="18" charset="0"/>
                <a:ea typeface="Domine" pitchFamily="18" charset="-122"/>
                <a:cs typeface="Domine" pitchFamily="18" charset="-120"/>
              </a:rPr>
              <a:t>Cash Advances</a:t>
            </a:r>
            <a:endParaRPr lang="en-US" sz="2400" dirty="0"/>
          </a:p>
        </p:txBody>
      </p:sp>
      <p:sp>
        <p:nvSpPr>
          <p:cNvPr id="4" name="Shape 2"/>
          <p:cNvSpPr/>
          <p:nvPr/>
        </p:nvSpPr>
        <p:spPr>
          <a:xfrm>
            <a:off x="609600" y="1173485"/>
            <a:ext cx="8001000" cy="4502150"/>
          </a:xfrm>
          <a:prstGeom prst="roundRect">
            <a:avLst>
              <a:gd name="adj" fmla="val 1693"/>
            </a:avLst>
          </a:prstGeom>
          <a:solidFill>
            <a:srgbClr val="F7F5F0"/>
          </a:solidFill>
          <a:ln/>
        </p:spPr>
      </p:sp>
      <p:pic>
        <p:nvPicPr>
          <p:cNvPr id="5" name="Image 0" descr="G-CORE screen: Cash Advances"/>
          <p:cNvPicPr>
            <a:picLocks noChangeAspect="1"/>
          </p:cNvPicPr>
          <p:nvPr/>
        </p:nvPicPr>
        <p:blipFill>
          <a:blip r:embed="rId3"/>
          <a:srcRect l="-106" r="-106"/>
          <a:stretch/>
        </p:blipFill>
        <p:spPr>
          <a:xfrm>
            <a:off x="622300" y="1186185"/>
            <a:ext cx="7975600" cy="4476750"/>
          </a:xfrm>
          <a:prstGeom prst="roundRect">
            <a:avLst>
              <a:gd name="adj" fmla="val 1418"/>
            </a:avLst>
          </a:prstGeom>
        </p:spPr>
      </p:pic>
      <p:sp>
        <p:nvSpPr>
          <p:cNvPr id="6" name="Shape 3"/>
          <p:cNvSpPr/>
          <p:nvPr/>
        </p:nvSpPr>
        <p:spPr>
          <a:xfrm>
            <a:off x="615950" y="1179835"/>
            <a:ext cx="7988300" cy="4489450"/>
          </a:xfrm>
          <a:prstGeom prst="roundRect">
            <a:avLst>
              <a:gd name="adj" fmla="val 1556"/>
            </a:avLst>
          </a:prstGeom>
          <a:noFill/>
          <a:ln w="12700">
            <a:solidFill>
              <a:srgbClr val="3A4466"/>
            </a:solidFill>
            <a:prstDash val="solid"/>
          </a:ln>
        </p:spPr>
      </p:sp>
      <p:sp>
        <p:nvSpPr>
          <p:cNvPr id="7" name="Text 4"/>
          <p:cNvSpPr/>
          <p:nvPr/>
        </p:nvSpPr>
        <p:spPr>
          <a:xfrm>
            <a:off x="8864600" y="1275085"/>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F2B872"/>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1</a:t>
            </a:r>
            <a:endParaRPr lang="en-US" sz="1300" dirty="0"/>
          </a:p>
        </p:txBody>
      </p:sp>
      <p:sp>
        <p:nvSpPr>
          <p:cNvPr id="8" name="Text 5"/>
          <p:cNvSpPr/>
          <p:nvPr/>
        </p:nvSpPr>
        <p:spPr>
          <a:xfrm>
            <a:off x="9283700" y="1275085"/>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Granted, repaid, net outstanding.</a:t>
            </a:r>
            <a:endParaRPr lang="en-US" sz="1400" dirty="0"/>
          </a:p>
        </p:txBody>
      </p:sp>
      <p:sp>
        <p:nvSpPr>
          <p:cNvPr id="9" name="Text 6"/>
          <p:cNvSpPr/>
          <p:nvPr/>
        </p:nvSpPr>
        <p:spPr>
          <a:xfrm>
            <a:off x="8864600" y="1976115"/>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F2B872"/>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2</a:t>
            </a:r>
            <a:endParaRPr lang="en-US" sz="1300" dirty="0"/>
          </a:p>
        </p:txBody>
      </p:sp>
      <p:sp>
        <p:nvSpPr>
          <p:cNvPr id="10" name="Text 7"/>
          <p:cNvSpPr/>
          <p:nvPr/>
        </p:nvSpPr>
        <p:spPr>
          <a:xfrm>
            <a:off x="9283700" y="1976115"/>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Repaying until the balance is zero.</a:t>
            </a:r>
            <a:endParaRPr lang="en-US" sz="1400" dirty="0"/>
          </a:p>
        </p:txBody>
      </p:sp>
      <p:sp>
        <p:nvSpPr>
          <p:cNvPr id="11" name="Text 8"/>
          <p:cNvSpPr/>
          <p:nvPr/>
        </p:nvSpPr>
        <p:spPr>
          <a:xfrm>
            <a:off x="8864600" y="2677170"/>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F2B872"/>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3</a:t>
            </a:r>
            <a:endParaRPr lang="en-US" sz="1300" dirty="0"/>
          </a:p>
        </p:txBody>
      </p:sp>
      <p:sp>
        <p:nvSpPr>
          <p:cNvPr id="12" name="Text 9"/>
          <p:cNvSpPr/>
          <p:nvPr/>
        </p:nvSpPr>
        <p:spPr>
          <a:xfrm>
            <a:off x="9283700" y="2677170"/>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Payment entry: cash or salary deduction.</a:t>
            </a:r>
            <a:endParaRPr lang="en-US" sz="1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B2A8C"/>
                </a:solidFill>
                <a:latin typeface="DM Sans" pitchFamily="34" charset="0"/>
                <a:ea typeface="DM Sans" pitchFamily="34" charset="-122"/>
                <a:cs typeface="DM Sans" pitchFamily="34" charset="-120"/>
              </a:rPr>
              <a:t>CHEAT SHEET · APPROVAL ROUTES</a:t>
            </a:r>
            <a:endParaRPr lang="en-US" sz="1200" dirty="0"/>
          </a:p>
        </p:txBody>
      </p:sp>
      <p:sp>
        <p:nvSpPr>
          <p:cNvPr id="3" name="Text 1"/>
          <p:cNvSpPr>
            <a:spLocks noGrp="1"/>
          </p:cNvSpPr>
          <p:nvPr>
            <p:ph type="title"/>
          </p:nvPr>
        </p:nvSpPr>
        <p:spPr>
          <a:xfrm>
            <a:off x="812800" y="110237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B2238"/>
                </a:solidFill>
                <a:latin typeface="Domine" pitchFamily="18" charset="0"/>
                <a:ea typeface="Domine" pitchFamily="18" charset="-122"/>
                <a:cs typeface="Domine" pitchFamily="18" charset="-120"/>
              </a:rPr>
              <a:t>Who signs what</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728480"/>
          <a:ext cx="10556240" cy="3515360"/>
        </p:xfrm>
        <a:graphic>
          <a:graphicData uri="http://schemas.openxmlformats.org/drawingml/2006/table">
            <a:tbl>
              <a:tblPr/>
              <a:tblGrid>
                <a:gridCol w="2955747">
                  <a:extLst>
                    <a:ext uri="{9D8B030D-6E8A-4147-A177-3AD203B41FA5}">
                      <a16:colId xmlns:a16="http://schemas.microsoft.com/office/drawing/2014/main" val="20000"/>
                    </a:ext>
                  </a:extLst>
                </a:gridCol>
                <a:gridCol w="7600493">
                  <a:extLst>
                    <a:ext uri="{9D8B030D-6E8A-4147-A177-3AD203B41FA5}">
                      <a16:colId xmlns:a16="http://schemas.microsoft.com/office/drawing/2014/main" val="20001"/>
                    </a:ext>
                  </a:extLst>
                </a:gridCol>
              </a:tblGrid>
              <a:tr h="330200">
                <a:tc>
                  <a:txBody>
                    <a:bodyPr/>
                    <a:lstStyle/>
                    <a:p>
                      <a:pPr marL="0" indent="0">
                        <a:lnSpc>
                          <a:spcPts val="1680"/>
                        </a:lnSpc>
                        <a:buNone/>
                      </a:pPr>
                      <a:r>
                        <a:rPr lang="en-US" sz="1200" b="1" dirty="0">
                          <a:solidFill>
                            <a:srgbClr val="1B2238"/>
                          </a:solidFill>
                          <a:latin typeface="DM Sans" pitchFamily="34" charset="0"/>
                          <a:ea typeface="DM Sans" pitchFamily="34" charset="-122"/>
                          <a:cs typeface="DM Sans" pitchFamily="34" charset="-120"/>
                        </a:rPr>
                        <a:t>Document</a:t>
                      </a:r>
                      <a:endParaRPr lang="en-US" sz="1200" dirty="0">
                        <a:latin typeface="DM Sans" charset="0"/>
                        <a:ea typeface="DM Sans" charset="0"/>
                        <a:cs typeface="DM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marL="0" indent="0">
                        <a:lnSpc>
                          <a:spcPts val="1680"/>
                        </a:lnSpc>
                        <a:buNone/>
                      </a:pPr>
                      <a:r>
                        <a:rPr lang="en-US" sz="1200" b="1" dirty="0">
                          <a:solidFill>
                            <a:srgbClr val="1B2238"/>
                          </a:solidFill>
                          <a:latin typeface="DM Sans" pitchFamily="34" charset="0"/>
                          <a:ea typeface="DM Sans" pitchFamily="34" charset="-122"/>
                          <a:cs typeface="DM Sans" pitchFamily="34" charset="-120"/>
                        </a:rPr>
                        <a:t>Route after the preparer</a:t>
                      </a:r>
                      <a:endParaRPr lang="en-US" sz="1200" dirty="0">
                        <a:latin typeface="DM Sans" charset="0"/>
                        <a:ea typeface="DM Sans" charset="0"/>
                        <a:cs typeface="DM Sans" charset="0"/>
                      </a:endParaRPr>
                    </a:p>
                  </a:txBody>
                  <a:tcPr marL="53340" marR="53340" marT="53340" marB="53340">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1B2238"/>
                          </a:solidFill>
                          <a:latin typeface="DM Sans" pitchFamily="34" charset="0"/>
                          <a:ea typeface="DM Sans" pitchFamily="34" charset="-122"/>
                          <a:cs typeface="DM Sans" pitchFamily="34" charset="-120"/>
                        </a:rPr>
                        <a:t>Costing</a:t>
                      </a:r>
                      <a:endParaRPr lang="en-US" sz="1200" dirty="0">
                        <a:latin typeface="DM Sans" charset="0"/>
                        <a:ea typeface="DM Sans" charset="0"/>
                        <a:cs typeface="DM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680"/>
                        </a:lnSpc>
                        <a:buNone/>
                      </a:pPr>
                      <a:r>
                        <a:rPr lang="en-US" sz="1200" dirty="0">
                          <a:solidFill>
                            <a:srgbClr val="1B2238"/>
                          </a:solidFill>
                          <a:latin typeface="DM Sans" pitchFamily="34" charset="0"/>
                          <a:ea typeface="DM Sans" pitchFamily="34" charset="-122"/>
                          <a:cs typeface="DM Sans" pitchFamily="34" charset="-120"/>
                        </a:rPr>
                        <a:t>Technical Manager › Team Leader</a:t>
                      </a:r>
                      <a:endParaRPr lang="en-US" sz="1200" dirty="0">
                        <a:latin typeface="DM Sans" charset="0"/>
                        <a:ea typeface="DM Sans" charset="0"/>
                        <a:cs typeface="DM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1B2238"/>
                          </a:solidFill>
                          <a:latin typeface="DM Sans" pitchFamily="34" charset="0"/>
                          <a:ea typeface="DM Sans" pitchFamily="34" charset="-122"/>
                          <a:cs typeface="DM Sans" pitchFamily="34" charset="-120"/>
                        </a:rPr>
                        <a:t>Job order</a:t>
                      </a:r>
                      <a:endParaRPr lang="en-US" sz="1200" dirty="0">
                        <a:latin typeface="DM Sans" charset="0"/>
                        <a:ea typeface="DM Sans" charset="0"/>
                        <a:cs typeface="DM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BFBB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BC3"/>
                      </a:solidFill>
                      <a:prstDash val="solid"/>
                      <a:round/>
                      <a:headEnd type="none" w="med" len="med"/>
                      <a:tailEnd type="none" w="med" len="med"/>
                    </a:lnB>
                    <a:solidFill>
                      <a:srgbClr val="EFEAF5"/>
                    </a:solidFill>
                  </a:tcPr>
                </a:tc>
                <a:tc>
                  <a:txBody>
                    <a:bodyPr/>
                    <a:lstStyle/>
                    <a:p>
                      <a:pPr marL="0" indent="0">
                        <a:lnSpc>
                          <a:spcPts val="1680"/>
                        </a:lnSpc>
                        <a:buNone/>
                      </a:pPr>
                      <a:r>
                        <a:rPr lang="en-US" sz="1200" dirty="0">
                          <a:solidFill>
                            <a:srgbClr val="1B2238"/>
                          </a:solidFill>
                          <a:latin typeface="DM Sans" pitchFamily="34" charset="0"/>
                          <a:ea typeface="DM Sans" pitchFamily="34" charset="-122"/>
                          <a:cs typeface="DM Sans" pitchFamily="34" charset="-120"/>
                        </a:rPr>
                        <a:t>Technical Manager (named as PM) › Team Leader</a:t>
                      </a:r>
                      <a:endParaRPr lang="en-US" sz="1200" dirty="0">
                        <a:latin typeface="DM Sans" charset="0"/>
                        <a:ea typeface="DM Sans" charset="0"/>
                        <a:cs typeface="DM Sans" charset="0"/>
                      </a:endParaRPr>
                    </a:p>
                  </a:txBody>
                  <a:tcPr marL="53340" marR="53340" marT="53340" marB="53340">
                    <a:lnL w="12700" cap="flat" cmpd="sng" algn="ctr">
                      <a:solidFill>
                        <a:srgbClr val="BFBBC3"/>
                      </a:solidFill>
                      <a:prstDash val="solid"/>
                      <a:round/>
                      <a:headEnd type="none" w="med" len="med"/>
                      <a:tailEnd type="none" w="med" len="med"/>
                    </a:lnL>
                    <a:lnR w="12700" cap="flat" cmpd="sng" algn="ctr">
                      <a:solidFill>
                        <a:srgbClr val="BFBB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BC3"/>
                      </a:solidFill>
                      <a:prstDash val="solid"/>
                      <a:round/>
                      <a:headEnd type="none" w="med" len="med"/>
                      <a:tailEnd type="none" w="med" len="med"/>
                    </a:lnB>
                    <a:solidFill>
                      <a:srgbClr val="EFEAF5"/>
                    </a:solidFill>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1B2238"/>
                          </a:solidFill>
                          <a:latin typeface="DM Sans" pitchFamily="34" charset="0"/>
                          <a:ea typeface="DM Sans" pitchFamily="34" charset="-122"/>
                          <a:cs typeface="DM Sans" pitchFamily="34" charset="-120"/>
                        </a:rPr>
                        <a:t>Request for Approval</a:t>
                      </a:r>
                      <a:endParaRPr lang="en-US" sz="1200" dirty="0">
                        <a:latin typeface="DM Sans" charset="0"/>
                        <a:ea typeface="DM Sans" charset="0"/>
                        <a:cs typeface="DM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B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680"/>
                        </a:lnSpc>
                        <a:buNone/>
                      </a:pPr>
                      <a:r>
                        <a:rPr lang="en-US" sz="1200" dirty="0">
                          <a:solidFill>
                            <a:srgbClr val="1B2238"/>
                          </a:solidFill>
                          <a:latin typeface="DM Sans" pitchFamily="34" charset="0"/>
                          <a:ea typeface="DM Sans" pitchFamily="34" charset="-122"/>
                          <a:cs typeface="DM Sans" pitchFamily="34" charset="-120"/>
                        </a:rPr>
                        <a:t>Technical Manager › Team Leader (+ CEO over ₱1,000,000)</a:t>
                      </a:r>
                      <a:endParaRPr lang="en-US" sz="1200" dirty="0">
                        <a:latin typeface="DM Sans" charset="0"/>
                        <a:ea typeface="DM Sans" charset="0"/>
                        <a:cs typeface="DM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B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1B2238"/>
                          </a:solidFill>
                          <a:latin typeface="DM Sans" pitchFamily="34" charset="0"/>
                          <a:ea typeface="DM Sans" pitchFamily="34" charset="-122"/>
                          <a:cs typeface="DM Sans" pitchFamily="34" charset="-120"/>
                        </a:rPr>
                        <a:t>Accomplishment report · Billing</a:t>
                      </a:r>
                      <a:endParaRPr lang="en-US" sz="1200" dirty="0">
                        <a:latin typeface="DM Sans" charset="0"/>
                        <a:ea typeface="DM Sans" charset="0"/>
                        <a:cs typeface="DM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BFBB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BC3"/>
                      </a:solidFill>
                      <a:prstDash val="solid"/>
                      <a:round/>
                      <a:headEnd type="none" w="med" len="med"/>
                      <a:tailEnd type="none" w="med" len="med"/>
                    </a:lnB>
                    <a:solidFill>
                      <a:srgbClr val="EFEAF5"/>
                    </a:solidFill>
                  </a:tcPr>
                </a:tc>
                <a:tc>
                  <a:txBody>
                    <a:bodyPr/>
                    <a:lstStyle/>
                    <a:p>
                      <a:pPr marL="0" indent="0">
                        <a:lnSpc>
                          <a:spcPts val="1680"/>
                        </a:lnSpc>
                        <a:buNone/>
                      </a:pPr>
                      <a:r>
                        <a:rPr lang="en-US" sz="1200" dirty="0">
                          <a:solidFill>
                            <a:srgbClr val="1B2238"/>
                          </a:solidFill>
                          <a:latin typeface="DM Sans" pitchFamily="34" charset="0"/>
                          <a:ea typeface="DM Sans" pitchFamily="34" charset="-122"/>
                          <a:cs typeface="DM Sans" pitchFamily="34" charset="-120"/>
                        </a:rPr>
                        <a:t>Technical Manager › Team Leader</a:t>
                      </a:r>
                      <a:endParaRPr lang="en-US" sz="1200" dirty="0">
                        <a:latin typeface="DM Sans" charset="0"/>
                        <a:ea typeface="DM Sans" charset="0"/>
                        <a:cs typeface="DM Sans" charset="0"/>
                      </a:endParaRPr>
                    </a:p>
                  </a:txBody>
                  <a:tcPr marL="53340" marR="53340" marT="53340" marB="53340">
                    <a:lnL w="12700" cap="flat" cmpd="sng" algn="ctr">
                      <a:solidFill>
                        <a:srgbClr val="BFBBC3"/>
                      </a:solidFill>
                      <a:prstDash val="solid"/>
                      <a:round/>
                      <a:headEnd type="none" w="med" len="med"/>
                      <a:tailEnd type="none" w="med" len="med"/>
                    </a:lnL>
                    <a:lnR w="12700" cap="flat" cmpd="sng" algn="ctr">
                      <a:solidFill>
                        <a:srgbClr val="BFBB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BC3"/>
                      </a:solidFill>
                      <a:prstDash val="solid"/>
                      <a:round/>
                      <a:headEnd type="none" w="med" len="med"/>
                      <a:tailEnd type="none" w="med" len="med"/>
                    </a:lnB>
                    <a:solidFill>
                      <a:srgbClr val="EFEAF5"/>
                    </a:solidFill>
                  </a:tcPr>
                </a:tc>
                <a:extLst>
                  <a:ext uri="{0D108BD9-81ED-4DB2-BD59-A6C34878D82A}">
                    <a16:rowId xmlns:a16="http://schemas.microsoft.com/office/drawing/2014/main" val="10004"/>
                  </a:ext>
                </a:extLst>
              </a:tr>
              <a:tr h="330200">
                <a:tc>
                  <a:txBody>
                    <a:bodyPr/>
                    <a:lstStyle/>
                    <a:p>
                      <a:pPr marL="0" indent="0">
                        <a:lnSpc>
                          <a:spcPts val="1680"/>
                        </a:lnSpc>
                        <a:buNone/>
                      </a:pPr>
                      <a:r>
                        <a:rPr lang="en-US" sz="1200" dirty="0">
                          <a:solidFill>
                            <a:srgbClr val="1B2238"/>
                          </a:solidFill>
                          <a:latin typeface="DM Sans" pitchFamily="34" charset="0"/>
                          <a:ea typeface="DM Sans" pitchFamily="34" charset="-122"/>
                          <a:cs typeface="DM Sans" pitchFamily="34" charset="-120"/>
                        </a:rPr>
                        <a:t>Purchase request</a:t>
                      </a:r>
                      <a:endParaRPr lang="en-US" sz="1200" dirty="0">
                        <a:latin typeface="DM Sans" charset="0"/>
                        <a:ea typeface="DM Sans" charset="0"/>
                        <a:cs typeface="DM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B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680"/>
                        </a:lnSpc>
                        <a:buNone/>
                      </a:pPr>
                      <a:r>
                        <a:rPr lang="en-US" sz="1200" dirty="0">
                          <a:solidFill>
                            <a:srgbClr val="1B2238"/>
                          </a:solidFill>
                          <a:latin typeface="DM Sans" pitchFamily="34" charset="0"/>
                          <a:ea typeface="DM Sans" pitchFamily="34" charset="-122"/>
                          <a:cs typeface="DM Sans" pitchFamily="34" charset="-120"/>
                        </a:rPr>
                        <a:t>Technical Manager › Team Leader</a:t>
                      </a:r>
                      <a:endParaRPr lang="en-US" sz="1200" dirty="0">
                        <a:latin typeface="DM Sans" charset="0"/>
                        <a:ea typeface="DM Sans" charset="0"/>
                        <a:cs typeface="DM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B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5"/>
                  </a:ext>
                </a:extLst>
              </a:tr>
              <a:tr h="330200">
                <a:tc>
                  <a:txBody>
                    <a:bodyPr/>
                    <a:lstStyle/>
                    <a:p>
                      <a:pPr marL="0" indent="0">
                        <a:lnSpc>
                          <a:spcPts val="1680"/>
                        </a:lnSpc>
                        <a:buNone/>
                      </a:pPr>
                      <a:r>
                        <a:rPr lang="en-US" sz="1200" dirty="0">
                          <a:solidFill>
                            <a:srgbClr val="1B2238"/>
                          </a:solidFill>
                          <a:latin typeface="DM Sans" pitchFamily="34" charset="0"/>
                          <a:ea typeface="DM Sans" pitchFamily="34" charset="-122"/>
                          <a:cs typeface="DM Sans" pitchFamily="34" charset="-120"/>
                        </a:rPr>
                        <a:t>Purchase order</a:t>
                      </a:r>
                      <a:endParaRPr lang="en-US" sz="1200" dirty="0">
                        <a:latin typeface="DM Sans" charset="0"/>
                        <a:ea typeface="DM Sans" charset="0"/>
                        <a:cs typeface="DM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BFBB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BC3"/>
                      </a:solidFill>
                      <a:prstDash val="solid"/>
                      <a:round/>
                      <a:headEnd type="none" w="med" len="med"/>
                      <a:tailEnd type="none" w="med" len="med"/>
                    </a:lnB>
                    <a:solidFill>
                      <a:srgbClr val="EFEAF5"/>
                    </a:solidFill>
                  </a:tcPr>
                </a:tc>
                <a:tc>
                  <a:txBody>
                    <a:bodyPr/>
                    <a:lstStyle/>
                    <a:p>
                      <a:pPr marL="0" indent="0">
                        <a:lnSpc>
                          <a:spcPts val="1680"/>
                        </a:lnSpc>
                        <a:buNone/>
                      </a:pPr>
                      <a:r>
                        <a:rPr lang="en-US" sz="1200" dirty="0">
                          <a:solidFill>
                            <a:srgbClr val="1B2238"/>
                          </a:solidFill>
                          <a:latin typeface="DM Sans" pitchFamily="34" charset="0"/>
                          <a:ea typeface="DM Sans" pitchFamily="34" charset="-122"/>
                          <a:cs typeface="DM Sans" pitchFamily="34" charset="-120"/>
                        </a:rPr>
                        <a:t>Purchasing Manager (+ CEO over ₱100,000)</a:t>
                      </a:r>
                      <a:endParaRPr lang="en-US" sz="1200" dirty="0">
                        <a:latin typeface="DM Sans" charset="0"/>
                        <a:ea typeface="DM Sans" charset="0"/>
                        <a:cs typeface="DM Sans" charset="0"/>
                      </a:endParaRPr>
                    </a:p>
                  </a:txBody>
                  <a:tcPr marL="53340" marR="53340" marT="53340" marB="53340">
                    <a:lnL w="12700" cap="flat" cmpd="sng" algn="ctr">
                      <a:solidFill>
                        <a:srgbClr val="BFBBC3"/>
                      </a:solidFill>
                      <a:prstDash val="solid"/>
                      <a:round/>
                      <a:headEnd type="none" w="med" len="med"/>
                      <a:tailEnd type="none" w="med" len="med"/>
                    </a:lnL>
                    <a:lnR w="12700" cap="flat" cmpd="sng" algn="ctr">
                      <a:solidFill>
                        <a:srgbClr val="BFBB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BC3"/>
                      </a:solidFill>
                      <a:prstDash val="solid"/>
                      <a:round/>
                      <a:headEnd type="none" w="med" len="med"/>
                      <a:tailEnd type="none" w="med" len="med"/>
                    </a:lnB>
                    <a:solidFill>
                      <a:srgbClr val="EFEAF5"/>
                    </a:solidFill>
                  </a:tcPr>
                </a:tc>
                <a:extLst>
                  <a:ext uri="{0D108BD9-81ED-4DB2-BD59-A6C34878D82A}">
                    <a16:rowId xmlns:a16="http://schemas.microsoft.com/office/drawing/2014/main" val="10006"/>
                  </a:ext>
                </a:extLst>
              </a:tr>
              <a:tr h="330200">
                <a:tc>
                  <a:txBody>
                    <a:bodyPr/>
                    <a:lstStyle/>
                    <a:p>
                      <a:pPr marL="0" indent="0">
                        <a:lnSpc>
                          <a:spcPts val="1680"/>
                        </a:lnSpc>
                        <a:buNone/>
                      </a:pPr>
                      <a:r>
                        <a:rPr lang="en-US" sz="1200" dirty="0">
                          <a:solidFill>
                            <a:srgbClr val="1B2238"/>
                          </a:solidFill>
                          <a:latin typeface="DM Sans" pitchFamily="34" charset="0"/>
                          <a:ea typeface="DM Sans" pitchFamily="34" charset="-122"/>
                          <a:cs typeface="DM Sans" pitchFamily="34" charset="-120"/>
                        </a:rPr>
                        <a:t>Incoming</a:t>
                      </a:r>
                      <a:endParaRPr lang="en-US" sz="1200" dirty="0">
                        <a:latin typeface="DM Sans" charset="0"/>
                        <a:ea typeface="DM Sans" charset="0"/>
                        <a:cs typeface="DM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B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680"/>
                        </a:lnSpc>
                        <a:buNone/>
                      </a:pPr>
                      <a:r>
                        <a:rPr lang="en-US" sz="1200" dirty="0">
                          <a:solidFill>
                            <a:srgbClr val="1B2238"/>
                          </a:solidFill>
                          <a:latin typeface="DM Sans" pitchFamily="34" charset="0"/>
                          <a:ea typeface="DM Sans" pitchFamily="34" charset="-122"/>
                          <a:cs typeface="DM Sans" pitchFamily="34" charset="-120"/>
                        </a:rPr>
                        <a:t>Back Support › Purchasing Manager</a:t>
                      </a:r>
                      <a:endParaRPr lang="en-US" sz="1200" dirty="0">
                        <a:latin typeface="DM Sans" charset="0"/>
                        <a:ea typeface="DM Sans" charset="0"/>
                        <a:cs typeface="DM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B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7"/>
                  </a:ext>
                </a:extLst>
              </a:tr>
              <a:tr h="330200">
                <a:tc>
                  <a:txBody>
                    <a:bodyPr/>
                    <a:lstStyle/>
                    <a:p>
                      <a:pPr marL="0" indent="0">
                        <a:lnSpc>
                          <a:spcPts val="1680"/>
                        </a:lnSpc>
                        <a:buNone/>
                      </a:pPr>
                      <a:r>
                        <a:rPr lang="en-US" sz="1200" dirty="0">
                          <a:solidFill>
                            <a:srgbClr val="1B2238"/>
                          </a:solidFill>
                          <a:latin typeface="DM Sans" pitchFamily="34" charset="0"/>
                          <a:ea typeface="DM Sans" pitchFamily="34" charset="-122"/>
                          <a:cs typeface="DM Sans" pitchFamily="34" charset="-120"/>
                        </a:rPr>
                        <a:t>Budget request</a:t>
                      </a:r>
                      <a:endParaRPr lang="en-US" sz="1200" dirty="0">
                        <a:latin typeface="DM Sans" charset="0"/>
                        <a:ea typeface="DM Sans" charset="0"/>
                        <a:cs typeface="DM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BFBB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BC3"/>
                      </a:solidFill>
                      <a:prstDash val="solid"/>
                      <a:round/>
                      <a:headEnd type="none" w="med" len="med"/>
                      <a:tailEnd type="none" w="med" len="med"/>
                    </a:lnB>
                    <a:solidFill>
                      <a:srgbClr val="EFEAF5"/>
                    </a:solidFill>
                  </a:tcPr>
                </a:tc>
                <a:tc>
                  <a:txBody>
                    <a:bodyPr/>
                    <a:lstStyle/>
                    <a:p>
                      <a:pPr marL="0" indent="0">
                        <a:lnSpc>
                          <a:spcPts val="1680"/>
                        </a:lnSpc>
                        <a:buNone/>
                      </a:pPr>
                      <a:r>
                        <a:rPr lang="en-US" sz="1200" dirty="0">
                          <a:solidFill>
                            <a:srgbClr val="1B2238"/>
                          </a:solidFill>
                          <a:latin typeface="DM Sans" pitchFamily="34" charset="0"/>
                          <a:ea typeface="DM Sans" pitchFamily="34" charset="-122"/>
                          <a:cs typeface="DM Sans" pitchFamily="34" charset="-120"/>
                        </a:rPr>
                        <a:t>Team Leader › Back Support › Finance Manager (+ CEO over ₱100,000)</a:t>
                      </a:r>
                      <a:endParaRPr lang="en-US" sz="1200" dirty="0">
                        <a:latin typeface="DM Sans" charset="0"/>
                        <a:ea typeface="DM Sans" charset="0"/>
                        <a:cs typeface="DM Sans" charset="0"/>
                      </a:endParaRPr>
                    </a:p>
                  </a:txBody>
                  <a:tcPr marL="53340" marR="53340" marT="53340" marB="53340">
                    <a:lnL w="12700" cap="flat" cmpd="sng" algn="ctr">
                      <a:solidFill>
                        <a:srgbClr val="BFBBC3"/>
                      </a:solidFill>
                      <a:prstDash val="solid"/>
                      <a:round/>
                      <a:headEnd type="none" w="med" len="med"/>
                      <a:tailEnd type="none" w="med" len="med"/>
                    </a:lnL>
                    <a:lnR w="12700" cap="flat" cmpd="sng" algn="ctr">
                      <a:solidFill>
                        <a:srgbClr val="BFBBC3"/>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BC3"/>
                      </a:solidFill>
                      <a:prstDash val="solid"/>
                      <a:round/>
                      <a:headEnd type="none" w="med" len="med"/>
                      <a:tailEnd type="none" w="med" len="med"/>
                    </a:lnB>
                    <a:solidFill>
                      <a:srgbClr val="EFEAF5"/>
                    </a:solidFill>
                  </a:tcPr>
                </a:tc>
                <a:extLst>
                  <a:ext uri="{0D108BD9-81ED-4DB2-BD59-A6C34878D82A}">
                    <a16:rowId xmlns:a16="http://schemas.microsoft.com/office/drawing/2014/main" val="10008"/>
                  </a:ext>
                </a:extLst>
              </a:tr>
              <a:tr h="543560">
                <a:tc>
                  <a:txBody>
                    <a:bodyPr/>
                    <a:lstStyle/>
                    <a:p>
                      <a:pPr marL="0" indent="0">
                        <a:lnSpc>
                          <a:spcPts val="1680"/>
                        </a:lnSpc>
                        <a:buNone/>
                      </a:pPr>
                      <a:r>
                        <a:rPr lang="en-US" sz="1200" dirty="0">
                          <a:solidFill>
                            <a:srgbClr val="1B2238"/>
                          </a:solidFill>
                          <a:latin typeface="DM Sans" pitchFamily="34" charset="0"/>
                          <a:ea typeface="DM Sans" pitchFamily="34" charset="-122"/>
                          <a:cs typeface="DM Sans" pitchFamily="34" charset="-120"/>
                        </a:rPr>
                        <a:t>Reimbursement · Liquidation · Cash advance</a:t>
                      </a:r>
                      <a:endParaRPr lang="en-US" sz="1200" dirty="0">
                        <a:latin typeface="DM Sans" charset="0"/>
                        <a:ea typeface="DM Sans" charset="0"/>
                        <a:cs typeface="DM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B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680"/>
                        </a:lnSpc>
                        <a:buNone/>
                      </a:pPr>
                      <a:r>
                        <a:rPr lang="en-US" sz="1200" dirty="0">
                          <a:solidFill>
                            <a:srgbClr val="1B2238"/>
                          </a:solidFill>
                          <a:latin typeface="DM Sans" pitchFamily="34" charset="0"/>
                          <a:ea typeface="DM Sans" pitchFamily="34" charset="-122"/>
                          <a:cs typeface="DM Sans" pitchFamily="34" charset="-120"/>
                        </a:rPr>
                        <a:t>Team Leader › Back Support › Checking › Finance Manager › CEO</a:t>
                      </a:r>
                      <a:endParaRPr lang="en-US" sz="1200" dirty="0">
                        <a:latin typeface="DM Sans" charset="0"/>
                        <a:ea typeface="DM Sans" charset="0"/>
                        <a:cs typeface="DM Sans" charset="0"/>
                      </a:endParaRPr>
                    </a:p>
                  </a:txBody>
                  <a:tcPr marL="53340" marR="53340" marT="53340" marB="5334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BC3"/>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5" name="Text 2"/>
          <p:cNvSpPr/>
          <p:nvPr/>
        </p:nvSpPr>
        <p:spPr>
          <a:xfrm>
            <a:off x="812800" y="6238255"/>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DM Sans" pitchFamily="34" charset="0"/>
                <a:ea typeface="DM Sans" pitchFamily="34" charset="-122"/>
                <a:cs typeface="DM Sans" pitchFamily="34" charset="-120"/>
              </a:rPr>
              <a:t>G-CORE Training · Approval routes</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B223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FD3AE"/>
                </a:solidFill>
                <a:latin typeface="DM Sans" pitchFamily="34" charset="0"/>
                <a:ea typeface="DM Sans" pitchFamily="34" charset="-122"/>
                <a:cs typeface="DM Sans" pitchFamily="34" charset="-120"/>
              </a:rPr>
              <a:t>BEFORE GO-LIVE</a:t>
            </a:r>
            <a:endParaRPr lang="en-US" sz="1200" dirty="0"/>
          </a:p>
        </p:txBody>
      </p:sp>
      <p:sp>
        <p:nvSpPr>
          <p:cNvPr id="3" name="Text 1"/>
          <p:cNvSpPr>
            <a:spLocks noGrp="1"/>
          </p:cNvSpPr>
          <p:nvPr>
            <p:ph type="title"/>
          </p:nvPr>
        </p:nvSpPr>
        <p:spPr>
          <a:xfrm>
            <a:off x="812800" y="112777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F7F5F0"/>
                </a:solidFill>
                <a:latin typeface="Domine" pitchFamily="18" charset="0"/>
                <a:ea typeface="Domine" pitchFamily="18" charset="-122"/>
                <a:cs typeface="Domine" pitchFamily="18" charset="-120"/>
              </a:rPr>
              <a:t>A step nobody holds is a document that stalls</a:t>
            </a:r>
            <a:endParaRPr lang="en-US" sz="3000" dirty="0"/>
          </a:p>
        </p:txBody>
      </p:sp>
      <p:sp>
        <p:nvSpPr>
          <p:cNvPr id="4" name="Shape 2"/>
          <p:cNvSpPr/>
          <p:nvPr/>
        </p:nvSpPr>
        <p:spPr>
          <a:xfrm>
            <a:off x="812800" y="1769120"/>
            <a:ext cx="5207000" cy="1365885"/>
          </a:xfrm>
          <a:prstGeom prst="roundRect">
            <a:avLst>
              <a:gd name="adj" fmla="val 7438"/>
            </a:avLst>
          </a:prstGeom>
          <a:solidFill>
            <a:srgbClr val="262F4A"/>
          </a:solidFill>
          <a:ln/>
        </p:spPr>
      </p:sp>
      <p:sp>
        <p:nvSpPr>
          <p:cNvPr id="5" name="Text 3"/>
          <p:cNvSpPr/>
          <p:nvPr/>
        </p:nvSpPr>
        <p:spPr>
          <a:xfrm>
            <a:off x="990600" y="1946920"/>
            <a:ext cx="499694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7F5F0"/>
                </a:solidFill>
                <a:latin typeface="DM Sans" pitchFamily="34" charset="0"/>
                <a:ea typeface="DM Sans" pitchFamily="34" charset="-122"/>
                <a:cs typeface="DM Sans" pitchFamily="34" charset="-120"/>
              </a:rPr>
              <a:t>Roles to assign in Admin › Users</a:t>
            </a:r>
            <a:endParaRPr lang="en-US" sz="1500" dirty="0"/>
          </a:p>
        </p:txBody>
      </p:sp>
      <p:sp>
        <p:nvSpPr>
          <p:cNvPr id="6" name="Text 4"/>
          <p:cNvSpPr/>
          <p:nvPr/>
        </p:nvSpPr>
        <p:spPr>
          <a:xfrm>
            <a:off x="990600" y="2239020"/>
            <a:ext cx="4996942" cy="743585"/>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C9CEDB"/>
                </a:solidFill>
                <a:latin typeface="DM Sans" pitchFamily="34" charset="0"/>
                <a:ea typeface="DM Sans" pitchFamily="34" charset="-122"/>
                <a:cs typeface="DM Sans" pitchFamily="34" charset="-120"/>
              </a:rPr>
              <a:t>Technical Manager · Team Leader · Back Support · Purchasing Manager · Finance Manager · Finance (Checking) · Warehouse Supervisor · CEO / President</a:t>
            </a:r>
            <a:endParaRPr lang="en-US" sz="1300" dirty="0"/>
          </a:p>
        </p:txBody>
      </p:sp>
      <p:sp>
        <p:nvSpPr>
          <p:cNvPr id="7" name="Shape 5"/>
          <p:cNvSpPr/>
          <p:nvPr/>
        </p:nvSpPr>
        <p:spPr>
          <a:xfrm>
            <a:off x="6172200" y="1769120"/>
            <a:ext cx="5207000" cy="1365885"/>
          </a:xfrm>
          <a:prstGeom prst="roundRect">
            <a:avLst>
              <a:gd name="adj" fmla="val 7438"/>
            </a:avLst>
          </a:prstGeom>
          <a:solidFill>
            <a:srgbClr val="262F4A"/>
          </a:solidFill>
          <a:ln/>
        </p:spPr>
      </p:sp>
      <p:sp>
        <p:nvSpPr>
          <p:cNvPr id="8" name="Text 6"/>
          <p:cNvSpPr/>
          <p:nvPr/>
        </p:nvSpPr>
        <p:spPr>
          <a:xfrm>
            <a:off x="6350000" y="1946920"/>
            <a:ext cx="499694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7F5F0"/>
                </a:solidFill>
                <a:latin typeface="DM Sans" pitchFamily="34" charset="0"/>
                <a:ea typeface="DM Sans" pitchFamily="34" charset="-122"/>
                <a:cs typeface="DM Sans" pitchFamily="34" charset="-120"/>
              </a:rPr>
              <a:t>On every person</a:t>
            </a:r>
            <a:endParaRPr lang="en-US" sz="1500" dirty="0"/>
          </a:p>
        </p:txBody>
      </p:sp>
      <p:sp>
        <p:nvSpPr>
          <p:cNvPr id="9" name="Text 7"/>
          <p:cNvSpPr/>
          <p:nvPr/>
        </p:nvSpPr>
        <p:spPr>
          <a:xfrm>
            <a:off x="6350000" y="2239020"/>
            <a:ext cx="4996942" cy="504190"/>
          </a:xfrm>
          <a:prstGeom prst="rect">
            <a:avLst/>
          </a:prstGeom>
          <a:noFill/>
          <a:ln/>
        </p:spPr>
        <p:txBody>
          <a:bodyPr wrap="square" lIns="0" tIns="0" rIns="0" bIns="0" rtlCol="0" anchor="t">
            <a:normAutofit/>
          </a:bodyPr>
          <a:lstStyle/>
          <a:p>
            <a:pPr marL="0" indent="0" algn="l">
              <a:lnSpc>
                <a:spcPts val="1885"/>
              </a:lnSpc>
              <a:buNone/>
            </a:pPr>
            <a:r>
              <a:rPr lang="en-US" sz="1300" b="1" dirty="0">
                <a:solidFill>
                  <a:srgbClr val="C9CEDB"/>
                </a:solidFill>
                <a:latin typeface="DM Sans" pitchFamily="34" charset="0"/>
                <a:ea typeface="DM Sans" pitchFamily="34" charset="-122"/>
                <a:cs typeface="DM Sans" pitchFamily="34" charset="-120"/>
              </a:rPr>
              <a:t>Reports to</a:t>
            </a:r>
            <a:r>
              <a:rPr lang="en-US" sz="1300" dirty="0">
                <a:solidFill>
                  <a:srgbClr val="C9CEDB"/>
                </a:solidFill>
                <a:latin typeface="DM Sans" pitchFamily="34" charset="0"/>
                <a:ea typeface="DM Sans" pitchFamily="34" charset="-122"/>
                <a:cs typeface="DM Sans" pitchFamily="34" charset="-120"/>
              </a:rPr>
              <a:t> (their Team Leader) and </a:t>
            </a:r>
            <a:r>
              <a:rPr lang="en-US" sz="1300" b="1" dirty="0">
                <a:solidFill>
                  <a:srgbClr val="C9CEDB"/>
                </a:solidFill>
                <a:latin typeface="DM Sans" pitchFamily="34" charset="0"/>
                <a:ea typeface="DM Sans" pitchFamily="34" charset="-122"/>
                <a:cs typeface="DM Sans" pitchFamily="34" charset="-120"/>
              </a:rPr>
              <a:t>Team</a:t>
            </a:r>
            <a:r>
              <a:rPr lang="en-US" sz="1300" dirty="0">
                <a:solidFill>
                  <a:srgbClr val="C9CEDB"/>
                </a:solidFill>
                <a:latin typeface="DM Sans" pitchFamily="34" charset="0"/>
                <a:ea typeface="DM Sans" pitchFamily="34" charset="-122"/>
                <a:cs typeface="DM Sans" pitchFamily="34" charset="-120"/>
              </a:rPr>
              <a:t> (KAT, HIT, UIT, GIB, SIT). Back Support: tick the teams they support.</a:t>
            </a:r>
            <a:endParaRPr lang="en-US" sz="1300" dirty="0"/>
          </a:p>
        </p:txBody>
      </p:sp>
      <p:sp>
        <p:nvSpPr>
          <p:cNvPr id="10" name="Text 8"/>
          <p:cNvSpPr/>
          <p:nvPr/>
        </p:nvSpPr>
        <p:spPr>
          <a:xfrm>
            <a:off x="812800" y="3338190"/>
            <a:ext cx="10566400" cy="502920"/>
          </a:xfrm>
          <a:prstGeom prst="roundRect">
            <a:avLst>
              <a:gd name="adj" fmla="val 15152"/>
            </a:avLst>
          </a:prstGeom>
          <a:solidFill>
            <a:srgbClr val="5B2A8C"/>
          </a:solidFill>
          <a:ln/>
        </p:spPr>
        <p:txBody>
          <a:bodyPr wrap="square" lIns="155482" tIns="104682" rIns="0" bIns="79282"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[Fill in before the session: who holds each role, by name]</a:t>
            </a:r>
            <a:endParaRPr lang="en-US" sz="1400" dirty="0"/>
          </a:p>
        </p:txBody>
      </p:sp>
      <p:sp>
        <p:nvSpPr>
          <p:cNvPr id="11" name="Text 9"/>
          <p:cNvSpPr/>
          <p:nvPr/>
        </p:nvSpPr>
        <p:spPr>
          <a:xfrm>
            <a:off x="812800" y="6238255"/>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3B8"/>
                </a:solidFill>
                <a:latin typeface="DM Sans" pitchFamily="34" charset="0"/>
                <a:ea typeface="DM Sans" pitchFamily="34" charset="-122"/>
                <a:cs typeface="DM Sans" pitchFamily="34" charset="-120"/>
              </a:rPr>
              <a:t>G-CORE Training · Roles</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2E7D41"/>
        </a:solidFill>
        <a:effectLst/>
      </p:bgPr>
    </p:bg>
    <p:spTree>
      <p:nvGrpSpPr>
        <p:cNvPr id="1" name=""/>
        <p:cNvGrpSpPr/>
        <p:nvPr/>
      </p:nvGrpSpPr>
      <p:grpSpPr>
        <a:xfrm>
          <a:off x="0" y="0"/>
          <a:ext cx="0" cy="0"/>
          <a:chOff x="0" y="0"/>
          <a:chExt cx="0" cy="0"/>
        </a:xfrm>
      </p:grpSpPr>
      <p:sp>
        <p:nvSpPr>
          <p:cNvPr id="2" name="Text 0"/>
          <p:cNvSpPr/>
          <p:nvPr/>
        </p:nvSpPr>
        <p:spPr>
          <a:xfrm>
            <a:off x="812800" y="2584698"/>
            <a:ext cx="10883392" cy="274320"/>
          </a:xfrm>
          <a:prstGeom prst="rect">
            <a:avLst/>
          </a:prstGeom>
          <a:noFill/>
          <a:ln/>
        </p:spPr>
        <p:txBody>
          <a:bodyPr wrap="square" lIns="0" tIns="0" rIns="0" bIns="0" rtlCol="0" anchor="t">
            <a:normAutofit/>
          </a:bodyPr>
          <a:lstStyle/>
          <a:p>
            <a:pPr marL="0" indent="0" algn="l">
              <a:lnSpc>
                <a:spcPts val="1960"/>
              </a:lnSpc>
              <a:buNone/>
            </a:pPr>
            <a:r>
              <a:rPr lang="en-US" sz="1400" kern="0" spc="200" dirty="0">
                <a:solidFill>
                  <a:srgbClr val="DDF1E2"/>
                </a:solidFill>
                <a:latin typeface="DM Sans" pitchFamily="34" charset="0"/>
                <a:ea typeface="DM Sans" pitchFamily="34" charset="-122"/>
                <a:cs typeface="DM Sans" pitchFamily="34" charset="-120"/>
              </a:rPr>
              <a:t>1:00 – 4:00 PM · HANDS-ON</a:t>
            </a:r>
            <a:endParaRPr lang="en-US" sz="1400" dirty="0"/>
          </a:p>
        </p:txBody>
      </p:sp>
      <p:sp>
        <p:nvSpPr>
          <p:cNvPr id="3" name="Text 1"/>
          <p:cNvSpPr>
            <a:spLocks noGrp="1"/>
          </p:cNvSpPr>
          <p:nvPr>
            <p:ph type="title"/>
          </p:nvPr>
        </p:nvSpPr>
        <p:spPr>
          <a:xfrm>
            <a:off x="812800" y="3036813"/>
            <a:ext cx="10883392" cy="738584"/>
          </a:xfrm>
          <a:prstGeom prst="rect">
            <a:avLst/>
          </a:prstGeom>
          <a:noFill/>
          <a:ln/>
        </p:spPr>
        <p:txBody>
          <a:bodyPr wrap="square" lIns="0" tIns="0" rIns="0" bIns="0" rtlCol="0" anchor="t">
            <a:normAutofit/>
          </a:bodyPr>
          <a:lstStyle/>
          <a:p>
            <a:pPr marL="0" indent="0" algn="l">
              <a:lnSpc>
                <a:spcPts val="5616"/>
              </a:lnSpc>
              <a:buNone/>
            </a:pPr>
            <a:r>
              <a:rPr lang="en-US" sz="5200" b="1" i="0" dirty="0">
                <a:solidFill>
                  <a:srgbClr val="F7F5F0"/>
                </a:solidFill>
                <a:latin typeface="Domine" pitchFamily="18" charset="0"/>
                <a:ea typeface="Domine" pitchFamily="18" charset="-122"/>
                <a:cs typeface="Domine" pitchFamily="18" charset="-120"/>
              </a:rPr>
              <a:t>Build a real project, end to end</a:t>
            </a:r>
            <a:endParaRPr lang="en-US" sz="5200" dirty="0"/>
          </a:p>
        </p:txBody>
      </p:sp>
      <p:sp>
        <p:nvSpPr>
          <p:cNvPr id="4" name="Text 2"/>
          <p:cNvSpPr/>
          <p:nvPr/>
        </p:nvSpPr>
        <p:spPr>
          <a:xfrm>
            <a:off x="812800" y="3953197"/>
            <a:ext cx="9156700" cy="34544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DDF1E2"/>
                </a:solidFill>
                <a:latin typeface="DM Sans" pitchFamily="34" charset="0"/>
                <a:ea typeface="DM Sans" pitchFamily="34" charset="-122"/>
                <a:cs typeface="DM Sans" pitchFamily="34" charset="-120"/>
              </a:rPr>
              <a:t>Each of you does your own part, in your own login, on one live project.</a:t>
            </a:r>
            <a:endParaRPr lang="en-US" sz="1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E7D41"/>
                </a:solidFill>
                <a:latin typeface="DM Sans" pitchFamily="34" charset="0"/>
                <a:ea typeface="DM Sans" pitchFamily="34" charset="-122"/>
                <a:cs typeface="DM Sans" pitchFamily="34" charset="-120"/>
              </a:rPr>
              <a:t>AFTERNOON PLAN</a:t>
            </a:r>
            <a:endParaRPr lang="en-US" sz="1200" dirty="0"/>
          </a:p>
        </p:txBody>
      </p:sp>
      <p:sp>
        <p:nvSpPr>
          <p:cNvPr id="3" name="Text 1"/>
          <p:cNvSpPr>
            <a:spLocks noGrp="1"/>
          </p:cNvSpPr>
          <p:nvPr>
            <p:ph type="title"/>
          </p:nvPr>
        </p:nvSpPr>
        <p:spPr>
          <a:xfrm>
            <a:off x="812800" y="112777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B2238"/>
                </a:solidFill>
                <a:latin typeface="Domine" pitchFamily="18" charset="0"/>
                <a:ea typeface="Domine" pitchFamily="18" charset="-122"/>
                <a:cs typeface="Domine" pitchFamily="18" charset="-120"/>
              </a:rPr>
              <a:t>Four rounds, one project</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779280"/>
          <a:ext cx="10556240" cy="2913380"/>
        </p:xfrm>
        <a:graphic>
          <a:graphicData uri="http://schemas.openxmlformats.org/drawingml/2006/table">
            <a:tbl>
              <a:tblPr/>
              <a:tblGrid>
                <a:gridCol w="2533498">
                  <a:extLst>
                    <a:ext uri="{9D8B030D-6E8A-4147-A177-3AD203B41FA5}">
                      <a16:colId xmlns:a16="http://schemas.microsoft.com/office/drawing/2014/main" val="20000"/>
                    </a:ext>
                  </a:extLst>
                </a:gridCol>
                <a:gridCol w="3800246">
                  <a:extLst>
                    <a:ext uri="{9D8B030D-6E8A-4147-A177-3AD203B41FA5}">
                      <a16:colId xmlns:a16="http://schemas.microsoft.com/office/drawing/2014/main" val="20001"/>
                    </a:ext>
                  </a:extLst>
                </a:gridCol>
                <a:gridCol w="4222496">
                  <a:extLst>
                    <a:ext uri="{9D8B030D-6E8A-4147-A177-3AD203B41FA5}">
                      <a16:colId xmlns:a16="http://schemas.microsoft.com/office/drawing/2014/main" val="20002"/>
                    </a:ext>
                  </a:extLst>
                </a:gridCol>
              </a:tblGrid>
              <a:tr h="383540">
                <a:tc>
                  <a:txBody>
                    <a:bodyPr/>
                    <a:lstStyle/>
                    <a:p>
                      <a:pPr marL="0" indent="0">
                        <a:lnSpc>
                          <a:spcPts val="1960"/>
                        </a:lnSpc>
                        <a:buNone/>
                      </a:pPr>
                      <a:r>
                        <a:rPr lang="en-US" sz="1400" b="1" dirty="0">
                          <a:solidFill>
                            <a:srgbClr val="1B2238"/>
                          </a:solidFill>
                          <a:latin typeface="DM Sans" pitchFamily="34" charset="0"/>
                          <a:ea typeface="DM Sans" pitchFamily="34" charset="-122"/>
                          <a:cs typeface="DM Sans" pitchFamily="34" charset="-120"/>
                        </a:rPr>
                        <a:t>Round</a:t>
                      </a:r>
                      <a:endParaRPr lang="en-US" sz="1400" dirty="0">
                        <a:latin typeface="DM Sans" charset="0"/>
                        <a:ea typeface="DM Sans" charset="0"/>
                        <a:cs typeface="DM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marL="0" indent="0">
                        <a:lnSpc>
                          <a:spcPts val="1960"/>
                        </a:lnSpc>
                        <a:buNone/>
                      </a:pPr>
                      <a:r>
                        <a:rPr lang="en-US" sz="1400" b="1" dirty="0">
                          <a:solidFill>
                            <a:srgbClr val="1B2238"/>
                          </a:solidFill>
                          <a:latin typeface="DM Sans" pitchFamily="34" charset="0"/>
                          <a:ea typeface="DM Sans" pitchFamily="34" charset="-122"/>
                          <a:cs typeface="DM Sans" pitchFamily="34" charset="-120"/>
                        </a:rPr>
                        <a:t>Who does it</a:t>
                      </a:r>
                      <a:endParaRPr lang="en-US" sz="1400" dirty="0">
                        <a:latin typeface="DM Sans" charset="0"/>
                        <a:ea typeface="DM Sans" charset="0"/>
                        <a:cs typeface="DM Sans" charset="0"/>
                      </a:endParaRPr>
                    </a:p>
                  </a:txBody>
                  <a:tcPr marL="62230" marR="62230" marT="62230" marB="62230">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marL="0" indent="0">
                        <a:lnSpc>
                          <a:spcPts val="1960"/>
                        </a:lnSpc>
                        <a:buNone/>
                      </a:pPr>
                      <a:r>
                        <a:rPr lang="en-US" sz="1400" b="1" dirty="0">
                          <a:solidFill>
                            <a:srgbClr val="1B2238"/>
                          </a:solidFill>
                          <a:latin typeface="DM Sans" pitchFamily="34" charset="0"/>
                          <a:ea typeface="DM Sans" pitchFamily="34" charset="-122"/>
                          <a:cs typeface="DM Sans" pitchFamily="34" charset="-120"/>
                        </a:rPr>
                        <a:t>Done when</a:t>
                      </a:r>
                      <a:endParaRPr lang="en-US" sz="1400" dirty="0">
                        <a:latin typeface="DM Sans" charset="0"/>
                        <a:ea typeface="DM Sans" charset="0"/>
                        <a:cs typeface="DM Sans" charset="0"/>
                      </a:endParaRPr>
                    </a:p>
                  </a:txBody>
                  <a:tcPr marL="62230" marR="62230" marT="62230" marB="62230">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extLst>
                  <a:ext uri="{0D108BD9-81ED-4DB2-BD59-A6C34878D82A}">
                    <a16:rowId xmlns:a16="http://schemas.microsoft.com/office/drawing/2014/main" val="10000"/>
                  </a:ext>
                </a:extLst>
              </a:tr>
              <a:tr h="632460">
                <a:tc>
                  <a:txBody>
                    <a:bodyPr/>
                    <a:lstStyle/>
                    <a:p>
                      <a:pPr marL="0" indent="0">
                        <a:lnSpc>
                          <a:spcPts val="1960"/>
                        </a:lnSpc>
                        <a:buNone/>
                      </a:pPr>
                      <a:r>
                        <a:rPr lang="en-US" sz="1400" dirty="0">
                          <a:solidFill>
                            <a:srgbClr val="1B2238"/>
                          </a:solidFill>
                          <a:latin typeface="DM Sans" pitchFamily="34" charset="0"/>
                          <a:ea typeface="DM Sans" pitchFamily="34" charset="-122"/>
                          <a:cs typeface="DM Sans" pitchFamily="34" charset="-120"/>
                        </a:rPr>
                        <a:t>1 · Set up</a:t>
                      </a:r>
                      <a:endParaRPr lang="en-US" sz="1400" dirty="0">
                        <a:latin typeface="DM Sans" charset="0"/>
                        <a:ea typeface="DM Sans" charset="0"/>
                        <a:cs typeface="DM Sans" charset="0"/>
                      </a:endParaRPr>
                    </a:p>
                    <a:p>
                      <a:pPr marL="0" indent="0">
                        <a:lnSpc>
                          <a:spcPts val="1960"/>
                        </a:lnSpc>
                        <a:buNone/>
                      </a:pPr>
                      <a:r>
                        <a:rPr lang="en-US" sz="1400" dirty="0">
                          <a:solidFill>
                            <a:srgbClr val="1B2238"/>
                          </a:solidFill>
                          <a:latin typeface="DM Sans" pitchFamily="34" charset="0"/>
                          <a:ea typeface="DM Sans" pitchFamily="34" charset="-122"/>
                          <a:cs typeface="DM Sans" pitchFamily="34" charset="-120"/>
                        </a:rPr>
                        <a:t>1:00 – 1:45</a:t>
                      </a:r>
                      <a:endParaRPr lang="en-US" sz="1400" dirty="0">
                        <a:latin typeface="DM Sans" charset="0"/>
                        <a:ea typeface="DM Sans" charset="0"/>
                        <a:cs typeface="DM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960"/>
                        </a:lnSpc>
                        <a:buNone/>
                      </a:pPr>
                      <a:r>
                        <a:rPr lang="en-US" sz="1400" dirty="0">
                          <a:solidFill>
                            <a:srgbClr val="1B2238"/>
                          </a:solidFill>
                          <a:latin typeface="DM Sans" pitchFamily="34" charset="0"/>
                          <a:ea typeface="DM Sans" pitchFamily="34" charset="-122"/>
                          <a:cs typeface="DM Sans" pitchFamily="34" charset="-120"/>
                        </a:rPr>
                        <a:t>Engineer, TM, TL, Sales</a:t>
                      </a:r>
                      <a:endParaRPr lang="en-US" sz="1400" dirty="0">
                        <a:latin typeface="DM Sans" charset="0"/>
                        <a:ea typeface="DM Sans" charset="0"/>
                        <a:cs typeface="DM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960"/>
                        </a:lnSpc>
                        <a:buNone/>
                      </a:pPr>
                      <a:r>
                        <a:rPr lang="en-US" sz="1400" dirty="0">
                          <a:solidFill>
                            <a:srgbClr val="1B2238"/>
                          </a:solidFill>
                          <a:latin typeface="DM Sans" pitchFamily="34" charset="0"/>
                          <a:ea typeface="DM Sans" pitchFamily="34" charset="-122"/>
                          <a:cs typeface="DM Sans" pitchFamily="34" charset="-120"/>
                        </a:rPr>
                        <a:t>Costing FINAL, job order approved, project built</a:t>
                      </a:r>
                      <a:endParaRPr lang="en-US" sz="1400" dirty="0">
                        <a:latin typeface="DM Sans" charset="0"/>
                        <a:ea typeface="DM Sans" charset="0"/>
                        <a:cs typeface="DM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1"/>
                  </a:ext>
                </a:extLst>
              </a:tr>
              <a:tr h="632460">
                <a:tc>
                  <a:txBody>
                    <a:bodyPr/>
                    <a:lstStyle/>
                    <a:p>
                      <a:pPr marL="0" indent="0">
                        <a:lnSpc>
                          <a:spcPts val="1960"/>
                        </a:lnSpc>
                        <a:buNone/>
                      </a:pPr>
                      <a:r>
                        <a:rPr lang="en-US" sz="1400" dirty="0">
                          <a:solidFill>
                            <a:srgbClr val="1B2238"/>
                          </a:solidFill>
                          <a:latin typeface="DM Sans" pitchFamily="34" charset="0"/>
                          <a:ea typeface="DM Sans" pitchFamily="34" charset="-122"/>
                          <a:cs typeface="DM Sans" pitchFamily="34" charset="-120"/>
                        </a:rPr>
                        <a:t>2 · Plan</a:t>
                      </a:r>
                      <a:endParaRPr lang="en-US" sz="1400" dirty="0">
                        <a:latin typeface="DM Sans" charset="0"/>
                        <a:ea typeface="DM Sans" charset="0"/>
                        <a:cs typeface="DM Sans" charset="0"/>
                      </a:endParaRPr>
                    </a:p>
                    <a:p>
                      <a:pPr marL="0" indent="0">
                        <a:lnSpc>
                          <a:spcPts val="1960"/>
                        </a:lnSpc>
                        <a:buNone/>
                      </a:pPr>
                      <a:r>
                        <a:rPr lang="en-US" sz="1400" dirty="0">
                          <a:solidFill>
                            <a:srgbClr val="1B2238"/>
                          </a:solidFill>
                          <a:latin typeface="DM Sans" pitchFamily="34" charset="0"/>
                          <a:ea typeface="DM Sans" pitchFamily="34" charset="-122"/>
                          <a:cs typeface="DM Sans" pitchFamily="34" charset="-120"/>
                        </a:rPr>
                        <a:t>1:45 – 2:15</a:t>
                      </a:r>
                      <a:endParaRPr lang="en-US" sz="1400" dirty="0">
                        <a:latin typeface="DM Sans" charset="0"/>
                        <a:ea typeface="DM Sans" charset="0"/>
                        <a:cs typeface="DM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B9C1BB"/>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9C1BB"/>
                      </a:solidFill>
                      <a:prstDash val="solid"/>
                      <a:round/>
                      <a:headEnd type="none" w="med" len="med"/>
                      <a:tailEnd type="none" w="med" len="med"/>
                    </a:lnB>
                    <a:solidFill>
                      <a:srgbClr val="E7F2EA"/>
                    </a:solidFill>
                  </a:tcPr>
                </a:tc>
                <a:tc>
                  <a:txBody>
                    <a:bodyPr/>
                    <a:lstStyle/>
                    <a:p>
                      <a:pPr marL="0" indent="0">
                        <a:lnSpc>
                          <a:spcPts val="1960"/>
                        </a:lnSpc>
                        <a:buNone/>
                      </a:pPr>
                      <a:r>
                        <a:rPr lang="en-US" sz="1400" dirty="0">
                          <a:solidFill>
                            <a:srgbClr val="1B2238"/>
                          </a:solidFill>
                          <a:latin typeface="DM Sans" pitchFamily="34" charset="0"/>
                          <a:ea typeface="DM Sans" pitchFamily="34" charset="-122"/>
                          <a:cs typeface="DM Sans" pitchFamily="34" charset="-120"/>
                        </a:rPr>
                        <a:t>Engineer, Technical Manager</a:t>
                      </a:r>
                      <a:endParaRPr lang="en-US" sz="1400" dirty="0">
                        <a:latin typeface="DM Sans" charset="0"/>
                        <a:ea typeface="DM Sans" charset="0"/>
                        <a:cs typeface="DM Sans" charset="0"/>
                      </a:endParaRPr>
                    </a:p>
                  </a:txBody>
                  <a:tcPr marL="62230" marR="62230" marT="62230" marB="62230">
                    <a:lnL w="12700" cap="flat" cmpd="sng" algn="ctr">
                      <a:solidFill>
                        <a:srgbClr val="B9C1BB"/>
                      </a:solidFill>
                      <a:prstDash val="solid"/>
                      <a:round/>
                      <a:headEnd type="none" w="med" len="med"/>
                      <a:tailEnd type="none" w="med" len="med"/>
                    </a:lnL>
                    <a:lnR w="12700" cap="flat" cmpd="sng" algn="ctr">
                      <a:solidFill>
                        <a:srgbClr val="B9C1BB"/>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9C1BB"/>
                      </a:solidFill>
                      <a:prstDash val="solid"/>
                      <a:round/>
                      <a:headEnd type="none" w="med" len="med"/>
                      <a:tailEnd type="none" w="med" len="med"/>
                    </a:lnB>
                    <a:solidFill>
                      <a:srgbClr val="E7F2EA"/>
                    </a:solidFill>
                  </a:tcPr>
                </a:tc>
                <a:tc>
                  <a:txBody>
                    <a:bodyPr/>
                    <a:lstStyle/>
                    <a:p>
                      <a:pPr marL="0" indent="0">
                        <a:lnSpc>
                          <a:spcPts val="1960"/>
                        </a:lnSpc>
                        <a:buNone/>
                      </a:pPr>
                      <a:r>
                        <a:rPr lang="en-US" sz="1400" dirty="0">
                          <a:solidFill>
                            <a:srgbClr val="1B2238"/>
                          </a:solidFill>
                          <a:latin typeface="DM Sans" pitchFamily="34" charset="0"/>
                          <a:ea typeface="DM Sans" pitchFamily="34" charset="-122"/>
                          <a:cs typeface="DM Sans" pitchFamily="34" charset="-120"/>
                        </a:rPr>
                        <a:t>Gantt planned, kick-off meeting with minutes agreed</a:t>
                      </a:r>
                      <a:endParaRPr lang="en-US" sz="1400" dirty="0">
                        <a:latin typeface="DM Sans" charset="0"/>
                        <a:ea typeface="DM Sans" charset="0"/>
                        <a:cs typeface="DM Sans" charset="0"/>
                      </a:endParaRPr>
                    </a:p>
                  </a:txBody>
                  <a:tcPr marL="62230" marR="62230" marT="62230" marB="62230">
                    <a:lnL w="12700" cap="flat" cmpd="sng" algn="ctr">
                      <a:solidFill>
                        <a:srgbClr val="B9C1BB"/>
                      </a:solidFill>
                      <a:prstDash val="solid"/>
                      <a:round/>
                      <a:headEnd type="none" w="med" len="med"/>
                      <a:tailEnd type="none" w="med" len="med"/>
                    </a:lnL>
                    <a:lnR w="12700" cap="flat" cmpd="sng" algn="ctr">
                      <a:solidFill>
                        <a:srgbClr val="B9C1BB"/>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9C1BB"/>
                      </a:solidFill>
                      <a:prstDash val="solid"/>
                      <a:round/>
                      <a:headEnd type="none" w="med" len="med"/>
                      <a:tailEnd type="none" w="med" len="med"/>
                    </a:lnB>
                    <a:solidFill>
                      <a:srgbClr val="E7F2EA"/>
                    </a:solidFill>
                  </a:tcPr>
                </a:tc>
                <a:extLst>
                  <a:ext uri="{0D108BD9-81ED-4DB2-BD59-A6C34878D82A}">
                    <a16:rowId xmlns:a16="http://schemas.microsoft.com/office/drawing/2014/main" val="10002"/>
                  </a:ext>
                </a:extLst>
              </a:tr>
              <a:tr h="632460">
                <a:tc>
                  <a:txBody>
                    <a:bodyPr/>
                    <a:lstStyle/>
                    <a:p>
                      <a:pPr marL="0" indent="0">
                        <a:lnSpc>
                          <a:spcPts val="1960"/>
                        </a:lnSpc>
                        <a:buNone/>
                      </a:pPr>
                      <a:r>
                        <a:rPr lang="en-US" sz="1400" dirty="0">
                          <a:solidFill>
                            <a:srgbClr val="1B2238"/>
                          </a:solidFill>
                          <a:latin typeface="DM Sans" pitchFamily="34" charset="0"/>
                          <a:ea typeface="DM Sans" pitchFamily="34" charset="-122"/>
                          <a:cs typeface="DM Sans" pitchFamily="34" charset="-120"/>
                        </a:rPr>
                        <a:t>3 · Buy</a:t>
                      </a:r>
                      <a:endParaRPr lang="en-US" sz="1400" dirty="0">
                        <a:latin typeface="DM Sans" charset="0"/>
                        <a:ea typeface="DM Sans" charset="0"/>
                        <a:cs typeface="DM Sans" charset="0"/>
                      </a:endParaRPr>
                    </a:p>
                    <a:p>
                      <a:pPr marL="0" indent="0">
                        <a:lnSpc>
                          <a:spcPts val="1960"/>
                        </a:lnSpc>
                        <a:buNone/>
                      </a:pPr>
                      <a:r>
                        <a:rPr lang="en-US" sz="1400" dirty="0">
                          <a:solidFill>
                            <a:srgbClr val="1B2238"/>
                          </a:solidFill>
                          <a:latin typeface="DM Sans" pitchFamily="34" charset="0"/>
                          <a:ea typeface="DM Sans" pitchFamily="34" charset="-122"/>
                          <a:cs typeface="DM Sans" pitchFamily="34" charset="-120"/>
                        </a:rPr>
                        <a:t>2:15 – 3:05</a:t>
                      </a:r>
                      <a:endParaRPr lang="en-US" sz="1400" dirty="0">
                        <a:latin typeface="DM Sans" charset="0"/>
                        <a:ea typeface="DM Sans" charset="0"/>
                        <a:cs typeface="DM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9C1BB"/>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960"/>
                        </a:lnSpc>
                        <a:buNone/>
                      </a:pPr>
                      <a:r>
                        <a:rPr lang="en-US" sz="1400" dirty="0">
                          <a:solidFill>
                            <a:srgbClr val="1B2238"/>
                          </a:solidFill>
                          <a:latin typeface="DM Sans" pitchFamily="34" charset="0"/>
                          <a:ea typeface="DM Sans" pitchFamily="34" charset="-122"/>
                          <a:cs typeface="DM Sans" pitchFamily="34" charset="-120"/>
                        </a:rPr>
                        <a:t>Engineer, Procurement, Warehouse</a:t>
                      </a:r>
                      <a:endParaRPr lang="en-US" sz="1400" dirty="0">
                        <a:latin typeface="DM Sans" charset="0"/>
                        <a:ea typeface="DM Sans" charset="0"/>
                        <a:cs typeface="DM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9C1BB"/>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960"/>
                        </a:lnSpc>
                        <a:buNone/>
                      </a:pPr>
                      <a:r>
                        <a:rPr lang="en-US" sz="1400" dirty="0">
                          <a:solidFill>
                            <a:srgbClr val="1B2238"/>
                          </a:solidFill>
                          <a:latin typeface="DM Sans" pitchFamily="34" charset="0"/>
                          <a:ea typeface="DM Sans" pitchFamily="34" charset="-122"/>
                          <a:cs typeface="DM Sans" pitchFamily="34" charset="-120"/>
                        </a:rPr>
                        <a:t>PR approved, RFQ, canvass awarded, PO issued, goods received</a:t>
                      </a:r>
                      <a:endParaRPr lang="en-US" sz="1400" dirty="0">
                        <a:latin typeface="DM Sans" charset="0"/>
                        <a:ea typeface="DM Sans" charset="0"/>
                        <a:cs typeface="DM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9C1BB"/>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3"/>
                  </a:ext>
                </a:extLst>
              </a:tr>
              <a:tr h="632460">
                <a:tc>
                  <a:txBody>
                    <a:bodyPr/>
                    <a:lstStyle/>
                    <a:p>
                      <a:pPr marL="0" indent="0">
                        <a:lnSpc>
                          <a:spcPts val="1960"/>
                        </a:lnSpc>
                        <a:buNone/>
                      </a:pPr>
                      <a:r>
                        <a:rPr lang="en-US" sz="1400" dirty="0">
                          <a:solidFill>
                            <a:srgbClr val="1B2238"/>
                          </a:solidFill>
                          <a:latin typeface="DM Sans" pitchFamily="34" charset="0"/>
                          <a:ea typeface="DM Sans" pitchFamily="34" charset="-122"/>
                          <a:cs typeface="DM Sans" pitchFamily="34" charset="-120"/>
                        </a:rPr>
                        <a:t>4 · Report &amp; pay</a:t>
                      </a:r>
                      <a:endParaRPr lang="en-US" sz="1400" dirty="0">
                        <a:latin typeface="DM Sans" charset="0"/>
                        <a:ea typeface="DM Sans" charset="0"/>
                        <a:cs typeface="DM Sans" charset="0"/>
                      </a:endParaRPr>
                    </a:p>
                    <a:p>
                      <a:pPr marL="0" indent="0">
                        <a:lnSpc>
                          <a:spcPts val="1960"/>
                        </a:lnSpc>
                        <a:buNone/>
                      </a:pPr>
                      <a:r>
                        <a:rPr lang="en-US" sz="1400" dirty="0">
                          <a:solidFill>
                            <a:srgbClr val="1B2238"/>
                          </a:solidFill>
                          <a:latin typeface="DM Sans" pitchFamily="34" charset="0"/>
                          <a:ea typeface="DM Sans" pitchFamily="34" charset="-122"/>
                          <a:cs typeface="DM Sans" pitchFamily="34" charset="-120"/>
                        </a:rPr>
                        <a:t>3:05 – 3:45</a:t>
                      </a:r>
                      <a:endParaRPr lang="en-US" sz="1400" dirty="0">
                        <a:latin typeface="DM Sans" charset="0"/>
                        <a:ea typeface="DM Sans" charset="0"/>
                        <a:cs typeface="DM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B9C1BB"/>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9C1BB"/>
                      </a:solidFill>
                      <a:prstDash val="solid"/>
                      <a:round/>
                      <a:headEnd type="none" w="med" len="med"/>
                      <a:tailEnd type="none" w="med" len="med"/>
                    </a:lnB>
                    <a:solidFill>
                      <a:srgbClr val="E7F2EA"/>
                    </a:solidFill>
                  </a:tcPr>
                </a:tc>
                <a:tc>
                  <a:txBody>
                    <a:bodyPr/>
                    <a:lstStyle/>
                    <a:p>
                      <a:pPr marL="0" indent="0">
                        <a:lnSpc>
                          <a:spcPts val="1960"/>
                        </a:lnSpc>
                        <a:buNone/>
                      </a:pPr>
                      <a:r>
                        <a:rPr lang="en-US" sz="1400" dirty="0">
                          <a:solidFill>
                            <a:srgbClr val="1B2238"/>
                          </a:solidFill>
                          <a:latin typeface="DM Sans" pitchFamily="34" charset="0"/>
                          <a:ea typeface="DM Sans" pitchFamily="34" charset="-122"/>
                          <a:cs typeface="DM Sans" pitchFamily="34" charset="-120"/>
                        </a:rPr>
                        <a:t>Engineer, Finance, approvers</a:t>
                      </a:r>
                      <a:endParaRPr lang="en-US" sz="1400" dirty="0">
                        <a:latin typeface="DM Sans" charset="0"/>
                        <a:ea typeface="DM Sans" charset="0"/>
                        <a:cs typeface="DM Sans" charset="0"/>
                      </a:endParaRPr>
                    </a:p>
                  </a:txBody>
                  <a:tcPr marL="62230" marR="62230" marT="62230" marB="62230">
                    <a:lnL w="12700" cap="flat" cmpd="sng" algn="ctr">
                      <a:solidFill>
                        <a:srgbClr val="B9C1BB"/>
                      </a:solidFill>
                      <a:prstDash val="solid"/>
                      <a:round/>
                      <a:headEnd type="none" w="med" len="med"/>
                      <a:tailEnd type="none" w="med" len="med"/>
                    </a:lnL>
                    <a:lnR w="12700" cap="flat" cmpd="sng" algn="ctr">
                      <a:solidFill>
                        <a:srgbClr val="B9C1BB"/>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9C1BB"/>
                      </a:solidFill>
                      <a:prstDash val="solid"/>
                      <a:round/>
                      <a:headEnd type="none" w="med" len="med"/>
                      <a:tailEnd type="none" w="med" len="med"/>
                    </a:lnB>
                    <a:solidFill>
                      <a:srgbClr val="E7F2EA"/>
                    </a:solidFill>
                  </a:tcPr>
                </a:tc>
                <a:tc>
                  <a:txBody>
                    <a:bodyPr/>
                    <a:lstStyle/>
                    <a:p>
                      <a:pPr marL="0" indent="0">
                        <a:lnSpc>
                          <a:spcPts val="1960"/>
                        </a:lnSpc>
                        <a:buNone/>
                      </a:pPr>
                      <a:r>
                        <a:rPr lang="en-US" sz="1400" dirty="0">
                          <a:solidFill>
                            <a:srgbClr val="1B2238"/>
                          </a:solidFill>
                          <a:latin typeface="DM Sans" pitchFamily="34" charset="0"/>
                          <a:ea typeface="DM Sans" pitchFamily="34" charset="-122"/>
                          <a:cs typeface="DM Sans" pitchFamily="34" charset="-120"/>
                        </a:rPr>
                        <a:t>Budget request released, liquidated; report and billing approved</a:t>
                      </a:r>
                      <a:endParaRPr lang="en-US" sz="1400" dirty="0">
                        <a:latin typeface="DM Sans" charset="0"/>
                        <a:ea typeface="DM Sans" charset="0"/>
                        <a:cs typeface="DM Sans" charset="0"/>
                      </a:endParaRPr>
                    </a:p>
                  </a:txBody>
                  <a:tcPr marL="62230" marR="62230" marT="62230" marB="62230">
                    <a:lnL w="12700" cap="flat" cmpd="sng" algn="ctr">
                      <a:solidFill>
                        <a:srgbClr val="B9C1BB"/>
                      </a:solidFill>
                      <a:prstDash val="solid"/>
                      <a:round/>
                      <a:headEnd type="none" w="med" len="med"/>
                      <a:tailEnd type="none" w="med" len="med"/>
                    </a:lnL>
                    <a:lnR w="12700" cap="flat" cmpd="sng" algn="ctr">
                      <a:solidFill>
                        <a:srgbClr val="B9C1BB"/>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9C1BB"/>
                      </a:solidFill>
                      <a:prstDash val="solid"/>
                      <a:round/>
                      <a:headEnd type="none" w="med" len="med"/>
                      <a:tailEnd type="none" w="med" len="med"/>
                    </a:lnB>
                    <a:solidFill>
                      <a:srgbClr val="E7F2EA"/>
                    </a:solidFill>
                  </a:tcPr>
                </a:tc>
                <a:extLst>
                  <a:ext uri="{0D108BD9-81ED-4DB2-BD59-A6C34878D82A}">
                    <a16:rowId xmlns:a16="http://schemas.microsoft.com/office/drawing/2014/main" val="10004"/>
                  </a:ext>
                </a:extLst>
              </a:tr>
            </a:tbl>
          </a:graphicData>
        </a:graphic>
      </p:graphicFrame>
      <p:sp>
        <p:nvSpPr>
          <p:cNvPr id="5" name="Text 2"/>
          <p:cNvSpPr/>
          <p:nvPr/>
        </p:nvSpPr>
        <p:spPr>
          <a:xfrm>
            <a:off x="812800" y="4895850"/>
            <a:ext cx="10566400" cy="751840"/>
          </a:xfrm>
          <a:prstGeom prst="roundRect">
            <a:avLst>
              <a:gd name="adj" fmla="val 10135"/>
            </a:avLst>
          </a:prstGeom>
          <a:solidFill>
            <a:srgbClr val="E7F2EA"/>
          </a:solidFill>
          <a:ln/>
        </p:spPr>
        <p:txBody>
          <a:bodyPr wrap="square" lIns="155482" tIns="104682" rIns="0" bIns="79282" rtlCol="0" anchor="t">
            <a:normAutofit/>
          </a:bodyPr>
          <a:lstStyle/>
          <a:p>
            <a:pPr marL="0" indent="0" algn="l">
              <a:lnSpc>
                <a:spcPts val="1960"/>
              </a:lnSpc>
              <a:buNone/>
            </a:pPr>
            <a:r>
              <a:rPr lang="en-US" sz="1400" dirty="0">
                <a:solidFill>
                  <a:srgbClr val="1B2238"/>
                </a:solidFill>
                <a:latin typeface="DM Sans" pitchFamily="34" charset="0"/>
                <a:ea typeface="DM Sans" pitchFamily="34" charset="-122"/>
                <a:cs typeface="DM Sans" pitchFamily="34" charset="-120"/>
              </a:rPr>
              <a:t>Approvers stay on My Work the whole afternoon — every document waits on someone in this room. Wrap-up and go-live: 3:45 – 4:00.</a:t>
            </a:r>
            <a:endParaRPr lang="en-US" sz="1400" dirty="0"/>
          </a:p>
        </p:txBody>
      </p:sp>
      <p:sp>
        <p:nvSpPr>
          <p:cNvPr id="6" name="Text 3"/>
          <p:cNvSpPr/>
          <p:nvPr/>
        </p:nvSpPr>
        <p:spPr>
          <a:xfrm>
            <a:off x="812800" y="6238255"/>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DM Sans" pitchFamily="34" charset="0"/>
                <a:ea typeface="DM Sans" pitchFamily="34" charset="-122"/>
                <a:cs typeface="DM Sans" pitchFamily="34" charset="-120"/>
              </a:rPr>
              <a:t>G-CORE Training · Afternoon</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E7D41"/>
                </a:solidFill>
                <a:latin typeface="DM Sans" pitchFamily="34" charset="0"/>
                <a:ea typeface="DM Sans" pitchFamily="34" charset="-122"/>
                <a:cs typeface="DM Sans" pitchFamily="34" charset="-120"/>
              </a:rPr>
              <a:t>AFTERNOON CHECKLIST</a:t>
            </a:r>
            <a:endParaRPr lang="en-US" sz="1200" dirty="0"/>
          </a:p>
        </p:txBody>
      </p:sp>
      <p:sp>
        <p:nvSpPr>
          <p:cNvPr id="3" name="Text 1"/>
          <p:cNvSpPr>
            <a:spLocks noGrp="1"/>
          </p:cNvSpPr>
          <p:nvPr>
            <p:ph type="title"/>
          </p:nvPr>
        </p:nvSpPr>
        <p:spPr>
          <a:xfrm>
            <a:off x="812800" y="110237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B2238"/>
                </a:solidFill>
                <a:latin typeface="Domine" pitchFamily="18" charset="0"/>
                <a:ea typeface="Domine" pitchFamily="18" charset="-122"/>
                <a:cs typeface="Domine" pitchFamily="18" charset="-120"/>
              </a:rPr>
              <a:t>Tick each step as it lands</a:t>
            </a:r>
            <a:endParaRPr lang="en-US" sz="3000" dirty="0"/>
          </a:p>
        </p:txBody>
      </p:sp>
      <p:sp>
        <p:nvSpPr>
          <p:cNvPr id="4" name="Text 2"/>
          <p:cNvSpPr/>
          <p:nvPr/>
        </p:nvSpPr>
        <p:spPr>
          <a:xfrm>
            <a:off x="812800" y="1718320"/>
            <a:ext cx="5441696" cy="281305"/>
          </a:xfrm>
          <a:prstGeom prst="rect">
            <a:avLst/>
          </a:prstGeom>
          <a:noFill/>
          <a:ln/>
        </p:spPr>
        <p:txBody>
          <a:bodyPr wrap="square" lIns="0" tIns="0" rIns="0" bIns="0" rtlCol="0" anchor="t">
            <a:normAutofit/>
          </a:bodyPr>
          <a:lstStyle/>
          <a:p>
            <a:pPr marL="0" indent="0" algn="l">
              <a:lnSpc>
                <a:spcPts val="2015"/>
              </a:lnSpc>
              <a:buNone/>
            </a:pPr>
            <a:r>
              <a:rPr lang="en-US" sz="1300" b="1" dirty="0">
                <a:solidFill>
                  <a:srgbClr val="1B2238"/>
                </a:solidFill>
                <a:latin typeface="DM Sans" pitchFamily="34" charset="0"/>
                <a:ea typeface="DM Sans" pitchFamily="34" charset="-122"/>
                <a:cs typeface="DM Sans" pitchFamily="34" charset="-120"/>
              </a:rPr>
              <a:t>1</a:t>
            </a:r>
            <a:r>
              <a:rPr lang="en-US" sz="1300" dirty="0">
                <a:solidFill>
                  <a:srgbClr val="1B2238"/>
                </a:solidFill>
                <a:latin typeface="DM Sans" pitchFamily="34" charset="0"/>
                <a:ea typeface="DM Sans" pitchFamily="34" charset="-122"/>
                <a:cs typeface="DM Sans" pitchFamily="34" charset="-120"/>
              </a:rPr>
              <a:t> · Costing: lines, scope, start date — submit</a:t>
            </a:r>
            <a:endParaRPr lang="en-US" sz="1300" dirty="0"/>
          </a:p>
        </p:txBody>
      </p:sp>
      <p:sp>
        <p:nvSpPr>
          <p:cNvPr id="5" name="Text 3"/>
          <p:cNvSpPr/>
          <p:nvPr/>
        </p:nvSpPr>
        <p:spPr>
          <a:xfrm>
            <a:off x="812800" y="1974230"/>
            <a:ext cx="5441696" cy="281305"/>
          </a:xfrm>
          <a:prstGeom prst="rect">
            <a:avLst/>
          </a:prstGeom>
          <a:noFill/>
          <a:ln/>
        </p:spPr>
        <p:txBody>
          <a:bodyPr wrap="square" lIns="0" tIns="0" rIns="0" bIns="0" rtlCol="0" anchor="t">
            <a:normAutofit/>
          </a:bodyPr>
          <a:lstStyle/>
          <a:p>
            <a:pPr marL="0" indent="0" algn="l">
              <a:lnSpc>
                <a:spcPts val="2015"/>
              </a:lnSpc>
              <a:buNone/>
            </a:pPr>
            <a:r>
              <a:rPr lang="en-US" sz="1300" b="1" dirty="0">
                <a:solidFill>
                  <a:srgbClr val="1B2238"/>
                </a:solidFill>
                <a:latin typeface="DM Sans" pitchFamily="34" charset="0"/>
                <a:ea typeface="DM Sans" pitchFamily="34" charset="-122"/>
                <a:cs typeface="DM Sans" pitchFamily="34" charset="-120"/>
              </a:rPr>
              <a:t>2</a:t>
            </a:r>
            <a:r>
              <a:rPr lang="en-US" sz="1300" dirty="0">
                <a:solidFill>
                  <a:srgbClr val="1B2238"/>
                </a:solidFill>
                <a:latin typeface="DM Sans" pitchFamily="34" charset="0"/>
                <a:ea typeface="DM Sans" pitchFamily="34" charset="-122"/>
                <a:cs typeface="DM Sans" pitchFamily="34" charset="-120"/>
              </a:rPr>
              <a:t> · TM and TL approve → FINAL</a:t>
            </a:r>
            <a:endParaRPr lang="en-US" sz="1300" dirty="0"/>
          </a:p>
        </p:txBody>
      </p:sp>
      <p:sp>
        <p:nvSpPr>
          <p:cNvPr id="6" name="Text 4"/>
          <p:cNvSpPr/>
          <p:nvPr/>
        </p:nvSpPr>
        <p:spPr>
          <a:xfrm>
            <a:off x="812800" y="2230115"/>
            <a:ext cx="5441696" cy="281305"/>
          </a:xfrm>
          <a:prstGeom prst="rect">
            <a:avLst/>
          </a:prstGeom>
          <a:noFill/>
          <a:ln/>
        </p:spPr>
        <p:txBody>
          <a:bodyPr wrap="square" lIns="0" tIns="0" rIns="0" bIns="0" rtlCol="0" anchor="t">
            <a:normAutofit/>
          </a:bodyPr>
          <a:lstStyle/>
          <a:p>
            <a:pPr marL="0" indent="0" algn="l">
              <a:lnSpc>
                <a:spcPts val="2015"/>
              </a:lnSpc>
              <a:buNone/>
            </a:pPr>
            <a:r>
              <a:rPr lang="en-US" sz="1300" b="1" dirty="0">
                <a:solidFill>
                  <a:srgbClr val="1B2238"/>
                </a:solidFill>
                <a:latin typeface="DM Sans" pitchFamily="34" charset="0"/>
                <a:ea typeface="DM Sans" pitchFamily="34" charset="-122"/>
                <a:cs typeface="DM Sans" pitchFamily="34" charset="-120"/>
              </a:rPr>
              <a:t>3</a:t>
            </a:r>
            <a:r>
              <a:rPr lang="en-US" sz="1300" dirty="0">
                <a:solidFill>
                  <a:srgbClr val="1B2238"/>
                </a:solidFill>
                <a:latin typeface="DM Sans" pitchFamily="34" charset="0"/>
                <a:ea typeface="DM Sans" pitchFamily="34" charset="-122"/>
                <a:cs typeface="DM Sans" pitchFamily="34" charset="-120"/>
              </a:rPr>
              <a:t> · Sales: job order on the quotation — submit</a:t>
            </a:r>
            <a:endParaRPr lang="en-US" sz="1300" dirty="0"/>
          </a:p>
        </p:txBody>
      </p:sp>
      <p:sp>
        <p:nvSpPr>
          <p:cNvPr id="7" name="Text 5"/>
          <p:cNvSpPr/>
          <p:nvPr/>
        </p:nvSpPr>
        <p:spPr>
          <a:xfrm>
            <a:off x="812800" y="2486025"/>
            <a:ext cx="5441696" cy="281305"/>
          </a:xfrm>
          <a:prstGeom prst="rect">
            <a:avLst/>
          </a:prstGeom>
          <a:noFill/>
          <a:ln/>
        </p:spPr>
        <p:txBody>
          <a:bodyPr wrap="square" lIns="0" tIns="0" rIns="0" bIns="0" rtlCol="0" anchor="t">
            <a:normAutofit/>
          </a:bodyPr>
          <a:lstStyle/>
          <a:p>
            <a:pPr marL="0" indent="0" algn="l">
              <a:lnSpc>
                <a:spcPts val="2015"/>
              </a:lnSpc>
              <a:buNone/>
            </a:pPr>
            <a:r>
              <a:rPr lang="en-US" sz="1300" b="1" dirty="0">
                <a:solidFill>
                  <a:srgbClr val="1B2238"/>
                </a:solidFill>
                <a:latin typeface="DM Sans" pitchFamily="34" charset="0"/>
                <a:ea typeface="DM Sans" pitchFamily="34" charset="-122"/>
                <a:cs typeface="DM Sans" pitchFamily="34" charset="-120"/>
              </a:rPr>
              <a:t>4</a:t>
            </a:r>
            <a:r>
              <a:rPr lang="en-US" sz="1300" dirty="0">
                <a:solidFill>
                  <a:srgbClr val="1B2238"/>
                </a:solidFill>
                <a:latin typeface="DM Sans" pitchFamily="34" charset="0"/>
                <a:ea typeface="DM Sans" pitchFamily="34" charset="-122"/>
                <a:cs typeface="DM Sans" pitchFamily="34" charset="-120"/>
              </a:rPr>
              <a:t> · Technical Manager and TL approve → project built</a:t>
            </a:r>
            <a:endParaRPr lang="en-US" sz="1300" dirty="0"/>
          </a:p>
        </p:txBody>
      </p:sp>
      <p:sp>
        <p:nvSpPr>
          <p:cNvPr id="8" name="Text 6"/>
          <p:cNvSpPr/>
          <p:nvPr/>
        </p:nvSpPr>
        <p:spPr>
          <a:xfrm>
            <a:off x="812800" y="2741935"/>
            <a:ext cx="5441696" cy="281305"/>
          </a:xfrm>
          <a:prstGeom prst="rect">
            <a:avLst/>
          </a:prstGeom>
          <a:noFill/>
          <a:ln/>
        </p:spPr>
        <p:txBody>
          <a:bodyPr wrap="square" lIns="0" tIns="0" rIns="0" bIns="0" rtlCol="0" anchor="t">
            <a:normAutofit/>
          </a:bodyPr>
          <a:lstStyle/>
          <a:p>
            <a:pPr marL="0" indent="0" algn="l">
              <a:lnSpc>
                <a:spcPts val="2015"/>
              </a:lnSpc>
              <a:buNone/>
            </a:pPr>
            <a:r>
              <a:rPr lang="en-US" sz="1300" b="1" dirty="0">
                <a:solidFill>
                  <a:srgbClr val="1B2238"/>
                </a:solidFill>
                <a:latin typeface="DM Sans" pitchFamily="34" charset="0"/>
                <a:ea typeface="DM Sans" pitchFamily="34" charset="-122"/>
                <a:cs typeface="DM Sans" pitchFamily="34" charset="-120"/>
              </a:rPr>
              <a:t>5</a:t>
            </a:r>
            <a:r>
              <a:rPr lang="en-US" sz="1300" dirty="0">
                <a:solidFill>
                  <a:srgbClr val="1B2238"/>
                </a:solidFill>
                <a:latin typeface="DM Sans" pitchFamily="34" charset="0"/>
                <a:ea typeface="DM Sans" pitchFamily="34" charset="-122"/>
                <a:cs typeface="DM Sans" pitchFamily="34" charset="-120"/>
              </a:rPr>
              <a:t> · Scope of Work: Plan from costing, task weights</a:t>
            </a:r>
            <a:endParaRPr lang="en-US" sz="1300" dirty="0"/>
          </a:p>
        </p:txBody>
      </p:sp>
      <p:sp>
        <p:nvSpPr>
          <p:cNvPr id="9" name="Text 7"/>
          <p:cNvSpPr/>
          <p:nvPr/>
        </p:nvSpPr>
        <p:spPr>
          <a:xfrm>
            <a:off x="812800" y="2997845"/>
            <a:ext cx="5441696" cy="281305"/>
          </a:xfrm>
          <a:prstGeom prst="rect">
            <a:avLst/>
          </a:prstGeom>
          <a:noFill/>
          <a:ln/>
        </p:spPr>
        <p:txBody>
          <a:bodyPr wrap="square" lIns="0" tIns="0" rIns="0" bIns="0" rtlCol="0" anchor="t">
            <a:normAutofit/>
          </a:bodyPr>
          <a:lstStyle/>
          <a:p>
            <a:pPr marL="0" indent="0" algn="l">
              <a:lnSpc>
                <a:spcPts val="2015"/>
              </a:lnSpc>
              <a:buNone/>
            </a:pPr>
            <a:r>
              <a:rPr lang="en-US" sz="1300" b="1" dirty="0">
                <a:solidFill>
                  <a:srgbClr val="1B2238"/>
                </a:solidFill>
                <a:latin typeface="DM Sans" pitchFamily="34" charset="0"/>
                <a:ea typeface="DM Sans" pitchFamily="34" charset="-122"/>
                <a:cs typeface="DM Sans" pitchFamily="34" charset="-120"/>
              </a:rPr>
              <a:t>6</a:t>
            </a:r>
            <a:r>
              <a:rPr lang="en-US" sz="1300" dirty="0">
                <a:solidFill>
                  <a:srgbClr val="1B2238"/>
                </a:solidFill>
                <a:latin typeface="DM Sans" pitchFamily="34" charset="0"/>
                <a:ea typeface="DM Sans" pitchFamily="34" charset="-122"/>
                <a:cs typeface="DM Sans" pitchFamily="34" charset="-120"/>
              </a:rPr>
              <a:t> · Kick-off meeting: invite, minutes, agree</a:t>
            </a:r>
            <a:endParaRPr lang="en-US" sz="1300" dirty="0"/>
          </a:p>
        </p:txBody>
      </p:sp>
      <p:sp>
        <p:nvSpPr>
          <p:cNvPr id="10" name="Text 8"/>
          <p:cNvSpPr/>
          <p:nvPr/>
        </p:nvSpPr>
        <p:spPr>
          <a:xfrm>
            <a:off x="812800" y="3253755"/>
            <a:ext cx="5441696" cy="281305"/>
          </a:xfrm>
          <a:prstGeom prst="rect">
            <a:avLst/>
          </a:prstGeom>
          <a:noFill/>
          <a:ln/>
        </p:spPr>
        <p:txBody>
          <a:bodyPr wrap="square" lIns="0" tIns="0" rIns="0" bIns="0" rtlCol="0" anchor="t">
            <a:normAutofit/>
          </a:bodyPr>
          <a:lstStyle/>
          <a:p>
            <a:pPr marL="0" indent="0" algn="l">
              <a:lnSpc>
                <a:spcPts val="2015"/>
              </a:lnSpc>
              <a:buNone/>
            </a:pPr>
            <a:r>
              <a:rPr lang="en-US" sz="1300" b="1" dirty="0">
                <a:solidFill>
                  <a:srgbClr val="1B2238"/>
                </a:solidFill>
                <a:latin typeface="DM Sans" pitchFamily="34" charset="0"/>
                <a:ea typeface="DM Sans" pitchFamily="34" charset="-122"/>
                <a:cs typeface="DM Sans" pitchFamily="34" charset="-120"/>
              </a:rPr>
              <a:t>7</a:t>
            </a:r>
            <a:r>
              <a:rPr lang="en-US" sz="1300" dirty="0">
                <a:solidFill>
                  <a:srgbClr val="1B2238"/>
                </a:solidFill>
                <a:latin typeface="DM Sans" pitchFamily="34" charset="0"/>
                <a:ea typeface="DM Sans" pitchFamily="34" charset="-122"/>
                <a:cs typeface="DM Sans" pitchFamily="34" charset="-120"/>
              </a:rPr>
              <a:t> · Purchase request from costing — approve</a:t>
            </a:r>
            <a:endParaRPr lang="en-US" sz="1300" dirty="0"/>
          </a:p>
        </p:txBody>
      </p:sp>
      <p:sp>
        <p:nvSpPr>
          <p:cNvPr id="11" name="Text 9"/>
          <p:cNvSpPr/>
          <p:nvPr/>
        </p:nvSpPr>
        <p:spPr>
          <a:xfrm>
            <a:off x="6096000" y="1718320"/>
            <a:ext cx="5441696" cy="281305"/>
          </a:xfrm>
          <a:prstGeom prst="rect">
            <a:avLst/>
          </a:prstGeom>
          <a:noFill/>
          <a:ln/>
        </p:spPr>
        <p:txBody>
          <a:bodyPr wrap="square" lIns="0" tIns="0" rIns="0" bIns="0" rtlCol="0" anchor="t">
            <a:normAutofit/>
          </a:bodyPr>
          <a:lstStyle/>
          <a:p>
            <a:pPr marL="0" indent="0" algn="l">
              <a:lnSpc>
                <a:spcPts val="2015"/>
              </a:lnSpc>
              <a:buNone/>
            </a:pPr>
            <a:r>
              <a:rPr lang="en-US" sz="1300" b="1" dirty="0">
                <a:solidFill>
                  <a:srgbClr val="1B2238"/>
                </a:solidFill>
                <a:latin typeface="DM Sans" pitchFamily="34" charset="0"/>
                <a:ea typeface="DM Sans" pitchFamily="34" charset="-122"/>
                <a:cs typeface="DM Sans" pitchFamily="34" charset="-120"/>
              </a:rPr>
              <a:t>8</a:t>
            </a:r>
            <a:r>
              <a:rPr lang="en-US" sz="1300" dirty="0">
                <a:solidFill>
                  <a:srgbClr val="1B2238"/>
                </a:solidFill>
                <a:latin typeface="DM Sans" pitchFamily="34" charset="0"/>
                <a:ea typeface="DM Sans" pitchFamily="34" charset="-122"/>
                <a:cs typeface="DM Sans" pitchFamily="34" charset="-120"/>
              </a:rPr>
              <a:t> · RFQ to two suppliers, record quotes</a:t>
            </a:r>
            <a:endParaRPr lang="en-US" sz="1300" dirty="0"/>
          </a:p>
        </p:txBody>
      </p:sp>
      <p:sp>
        <p:nvSpPr>
          <p:cNvPr id="12" name="Text 10"/>
          <p:cNvSpPr/>
          <p:nvPr/>
        </p:nvSpPr>
        <p:spPr>
          <a:xfrm>
            <a:off x="6096000" y="1974230"/>
            <a:ext cx="5441696" cy="281305"/>
          </a:xfrm>
          <a:prstGeom prst="rect">
            <a:avLst/>
          </a:prstGeom>
          <a:noFill/>
          <a:ln/>
        </p:spPr>
        <p:txBody>
          <a:bodyPr wrap="square" lIns="0" tIns="0" rIns="0" bIns="0" rtlCol="0" anchor="t">
            <a:normAutofit/>
          </a:bodyPr>
          <a:lstStyle/>
          <a:p>
            <a:pPr marL="0" indent="0" algn="l">
              <a:lnSpc>
                <a:spcPts val="2015"/>
              </a:lnSpc>
              <a:buNone/>
            </a:pPr>
            <a:r>
              <a:rPr lang="en-US" sz="1300" b="1" dirty="0">
                <a:solidFill>
                  <a:srgbClr val="1B2238"/>
                </a:solidFill>
                <a:latin typeface="DM Sans" pitchFamily="34" charset="0"/>
                <a:ea typeface="DM Sans" pitchFamily="34" charset="-122"/>
                <a:cs typeface="DM Sans" pitchFamily="34" charset="-120"/>
              </a:rPr>
              <a:t>9</a:t>
            </a:r>
            <a:r>
              <a:rPr lang="en-US" sz="1300" dirty="0">
                <a:solidFill>
                  <a:srgbClr val="1B2238"/>
                </a:solidFill>
                <a:latin typeface="DM Sans" pitchFamily="34" charset="0"/>
                <a:ea typeface="DM Sans" pitchFamily="34" charset="-122"/>
                <a:cs typeface="DM Sans" pitchFamily="34" charset="-120"/>
              </a:rPr>
              <a:t> · Canvass, award, raise the PO, approve</a:t>
            </a:r>
            <a:endParaRPr lang="en-US" sz="1300" dirty="0"/>
          </a:p>
        </p:txBody>
      </p:sp>
      <p:sp>
        <p:nvSpPr>
          <p:cNvPr id="13" name="Text 11"/>
          <p:cNvSpPr/>
          <p:nvPr/>
        </p:nvSpPr>
        <p:spPr>
          <a:xfrm>
            <a:off x="6096000" y="2230115"/>
            <a:ext cx="5441696" cy="281305"/>
          </a:xfrm>
          <a:prstGeom prst="rect">
            <a:avLst/>
          </a:prstGeom>
          <a:noFill/>
          <a:ln/>
        </p:spPr>
        <p:txBody>
          <a:bodyPr wrap="square" lIns="0" tIns="0" rIns="0" bIns="0" rtlCol="0" anchor="t">
            <a:normAutofit/>
          </a:bodyPr>
          <a:lstStyle/>
          <a:p>
            <a:pPr marL="0" indent="0" algn="l">
              <a:lnSpc>
                <a:spcPts val="2015"/>
              </a:lnSpc>
              <a:buNone/>
            </a:pPr>
            <a:r>
              <a:rPr lang="en-US" sz="1300" b="1" dirty="0">
                <a:solidFill>
                  <a:srgbClr val="1B2238"/>
                </a:solidFill>
                <a:latin typeface="DM Sans" pitchFamily="34" charset="0"/>
                <a:ea typeface="DM Sans" pitchFamily="34" charset="-122"/>
                <a:cs typeface="DM Sans" pitchFamily="34" charset="-120"/>
              </a:rPr>
              <a:t>10</a:t>
            </a:r>
            <a:r>
              <a:rPr lang="en-US" sz="1300" dirty="0">
                <a:solidFill>
                  <a:srgbClr val="1B2238"/>
                </a:solidFill>
                <a:latin typeface="DM Sans" pitchFamily="34" charset="0"/>
                <a:ea typeface="DM Sans" pitchFamily="34" charset="-122"/>
                <a:cs typeface="DM Sans" pitchFamily="34" charset="-120"/>
              </a:rPr>
              <a:t> · Incoming report with the DR — approve</a:t>
            </a:r>
            <a:endParaRPr lang="en-US" sz="1300" dirty="0"/>
          </a:p>
        </p:txBody>
      </p:sp>
      <p:sp>
        <p:nvSpPr>
          <p:cNvPr id="14" name="Text 12"/>
          <p:cNvSpPr/>
          <p:nvPr/>
        </p:nvSpPr>
        <p:spPr>
          <a:xfrm>
            <a:off x="6096000" y="2486025"/>
            <a:ext cx="5441696" cy="281305"/>
          </a:xfrm>
          <a:prstGeom prst="rect">
            <a:avLst/>
          </a:prstGeom>
          <a:noFill/>
          <a:ln/>
        </p:spPr>
        <p:txBody>
          <a:bodyPr wrap="square" lIns="0" tIns="0" rIns="0" bIns="0" rtlCol="0" anchor="t">
            <a:normAutofit/>
          </a:bodyPr>
          <a:lstStyle/>
          <a:p>
            <a:pPr marL="0" indent="0" algn="l">
              <a:lnSpc>
                <a:spcPts val="2015"/>
              </a:lnSpc>
              <a:buNone/>
            </a:pPr>
            <a:r>
              <a:rPr lang="en-US" sz="1300" b="1" dirty="0">
                <a:solidFill>
                  <a:srgbClr val="1B2238"/>
                </a:solidFill>
                <a:latin typeface="DM Sans" pitchFamily="34" charset="0"/>
                <a:ea typeface="DM Sans" pitchFamily="34" charset="-122"/>
                <a:cs typeface="DM Sans" pitchFamily="34" charset="-120"/>
              </a:rPr>
              <a:t>11</a:t>
            </a:r>
            <a:r>
              <a:rPr lang="en-US" sz="1300" dirty="0">
                <a:solidFill>
                  <a:srgbClr val="1B2238"/>
                </a:solidFill>
                <a:latin typeface="DM Sans" pitchFamily="34" charset="0"/>
                <a:ea typeface="DM Sans" pitchFamily="34" charset="-122"/>
                <a:cs typeface="DM Sans" pitchFamily="34" charset="-120"/>
              </a:rPr>
              <a:t> · Budget request — approve, release</a:t>
            </a:r>
            <a:endParaRPr lang="en-US" sz="1300" dirty="0"/>
          </a:p>
        </p:txBody>
      </p:sp>
      <p:sp>
        <p:nvSpPr>
          <p:cNvPr id="15" name="Text 13"/>
          <p:cNvSpPr/>
          <p:nvPr/>
        </p:nvSpPr>
        <p:spPr>
          <a:xfrm>
            <a:off x="6096000" y="2741935"/>
            <a:ext cx="5441696" cy="281305"/>
          </a:xfrm>
          <a:prstGeom prst="rect">
            <a:avLst/>
          </a:prstGeom>
          <a:noFill/>
          <a:ln/>
        </p:spPr>
        <p:txBody>
          <a:bodyPr wrap="square" lIns="0" tIns="0" rIns="0" bIns="0" rtlCol="0" anchor="t">
            <a:normAutofit/>
          </a:bodyPr>
          <a:lstStyle/>
          <a:p>
            <a:pPr marL="0" indent="0" algn="l">
              <a:lnSpc>
                <a:spcPts val="2015"/>
              </a:lnSpc>
              <a:buNone/>
            </a:pPr>
            <a:r>
              <a:rPr lang="en-US" sz="1300" b="1" dirty="0">
                <a:solidFill>
                  <a:srgbClr val="1B2238"/>
                </a:solidFill>
                <a:latin typeface="DM Sans" pitchFamily="34" charset="0"/>
                <a:ea typeface="DM Sans" pitchFamily="34" charset="-122"/>
                <a:cs typeface="DM Sans" pitchFamily="34" charset="-120"/>
              </a:rPr>
              <a:t>12</a:t>
            </a:r>
            <a:r>
              <a:rPr lang="en-US" sz="1300" dirty="0">
                <a:solidFill>
                  <a:srgbClr val="1B2238"/>
                </a:solidFill>
                <a:latin typeface="DM Sans" pitchFamily="34" charset="0"/>
                <a:ea typeface="DM Sans" pitchFamily="34" charset="-122"/>
                <a:cs typeface="DM Sans" pitchFamily="34" charset="-120"/>
              </a:rPr>
              <a:t> · Liquidation with receipts — approve</a:t>
            </a:r>
            <a:endParaRPr lang="en-US" sz="1300" dirty="0"/>
          </a:p>
        </p:txBody>
      </p:sp>
      <p:sp>
        <p:nvSpPr>
          <p:cNvPr id="16" name="Text 14"/>
          <p:cNvSpPr/>
          <p:nvPr/>
        </p:nvSpPr>
        <p:spPr>
          <a:xfrm>
            <a:off x="6096000" y="2997845"/>
            <a:ext cx="5441696" cy="281305"/>
          </a:xfrm>
          <a:prstGeom prst="rect">
            <a:avLst/>
          </a:prstGeom>
          <a:noFill/>
          <a:ln/>
        </p:spPr>
        <p:txBody>
          <a:bodyPr wrap="square" lIns="0" tIns="0" rIns="0" bIns="0" rtlCol="0" anchor="t">
            <a:normAutofit/>
          </a:bodyPr>
          <a:lstStyle/>
          <a:p>
            <a:pPr marL="0" indent="0" algn="l">
              <a:lnSpc>
                <a:spcPts val="2015"/>
              </a:lnSpc>
              <a:buNone/>
            </a:pPr>
            <a:r>
              <a:rPr lang="en-US" sz="1300" b="1" dirty="0">
                <a:solidFill>
                  <a:srgbClr val="1B2238"/>
                </a:solidFill>
                <a:latin typeface="DM Sans" pitchFamily="34" charset="0"/>
                <a:ea typeface="DM Sans" pitchFamily="34" charset="-122"/>
                <a:cs typeface="DM Sans" pitchFamily="34" charset="-120"/>
              </a:rPr>
              <a:t>13</a:t>
            </a:r>
            <a:r>
              <a:rPr lang="en-US" sz="1300" dirty="0">
                <a:solidFill>
                  <a:srgbClr val="1B2238"/>
                </a:solidFill>
                <a:latin typeface="DM Sans" pitchFamily="34" charset="0"/>
                <a:ea typeface="DM Sans" pitchFamily="34" charset="-122"/>
                <a:cs typeface="DM Sans" pitchFamily="34" charset="-120"/>
              </a:rPr>
              <a:t> · Accomplishment report: a day + pictures</a:t>
            </a:r>
            <a:endParaRPr lang="en-US" sz="1300" dirty="0"/>
          </a:p>
        </p:txBody>
      </p:sp>
      <p:sp>
        <p:nvSpPr>
          <p:cNvPr id="17" name="Text 15"/>
          <p:cNvSpPr/>
          <p:nvPr/>
        </p:nvSpPr>
        <p:spPr>
          <a:xfrm>
            <a:off x="6096000" y="3253755"/>
            <a:ext cx="5441696" cy="281305"/>
          </a:xfrm>
          <a:prstGeom prst="rect">
            <a:avLst/>
          </a:prstGeom>
          <a:noFill/>
          <a:ln/>
        </p:spPr>
        <p:txBody>
          <a:bodyPr wrap="square" lIns="0" tIns="0" rIns="0" bIns="0" rtlCol="0" anchor="t">
            <a:normAutofit/>
          </a:bodyPr>
          <a:lstStyle/>
          <a:p>
            <a:pPr marL="0" indent="0" algn="l">
              <a:lnSpc>
                <a:spcPts val="2015"/>
              </a:lnSpc>
              <a:buNone/>
            </a:pPr>
            <a:r>
              <a:rPr lang="en-US" sz="1300" b="1" dirty="0">
                <a:solidFill>
                  <a:srgbClr val="1B2238"/>
                </a:solidFill>
                <a:latin typeface="DM Sans" pitchFamily="34" charset="0"/>
                <a:ea typeface="DM Sans" pitchFamily="34" charset="-122"/>
                <a:cs typeface="DM Sans" pitchFamily="34" charset="-120"/>
              </a:rPr>
              <a:t>14</a:t>
            </a:r>
            <a:r>
              <a:rPr lang="en-US" sz="1300" dirty="0">
                <a:solidFill>
                  <a:srgbClr val="1B2238"/>
                </a:solidFill>
                <a:latin typeface="DM Sans" pitchFamily="34" charset="0"/>
                <a:ea typeface="DM Sans" pitchFamily="34" charset="-122"/>
                <a:cs typeface="DM Sans" pitchFamily="34" charset="-120"/>
              </a:rPr>
              <a:t> · Billing — approve; check Budget Monitoring</a:t>
            </a:r>
            <a:endParaRPr lang="en-US" sz="1300" dirty="0"/>
          </a:p>
        </p:txBody>
      </p:sp>
      <p:sp>
        <p:nvSpPr>
          <p:cNvPr id="18" name="Text 16"/>
          <p:cNvSpPr/>
          <p:nvPr/>
        </p:nvSpPr>
        <p:spPr>
          <a:xfrm>
            <a:off x="812800" y="6238255"/>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DM Sans" pitchFamily="34" charset="0"/>
                <a:ea typeface="DM Sans" pitchFamily="34" charset="-122"/>
                <a:cs typeface="DM Sans" pitchFamily="34" charset="-120"/>
              </a:rPr>
              <a:t>G-CORE Training · Afternoon checklist</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E7D41"/>
                </a:solidFill>
                <a:latin typeface="DM Sans" pitchFamily="34" charset="0"/>
                <a:ea typeface="DM Sans" pitchFamily="34" charset="-122"/>
                <a:cs typeface="DM Sans" pitchFamily="34" charset="-120"/>
              </a:rPr>
              <a:t>DEPLOYMENT</a:t>
            </a:r>
            <a:endParaRPr lang="en-US" sz="1200" dirty="0"/>
          </a:p>
        </p:txBody>
      </p:sp>
      <p:sp>
        <p:nvSpPr>
          <p:cNvPr id="3" name="Text 1"/>
          <p:cNvSpPr>
            <a:spLocks noGrp="1"/>
          </p:cNvSpPr>
          <p:nvPr>
            <p:ph type="title"/>
          </p:nvPr>
        </p:nvSpPr>
        <p:spPr>
          <a:xfrm>
            <a:off x="812800" y="112777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B2238"/>
                </a:solidFill>
                <a:latin typeface="Domine" pitchFamily="18" charset="0"/>
                <a:ea typeface="Domine" pitchFamily="18" charset="-122"/>
                <a:cs typeface="Domine" pitchFamily="18" charset="-120"/>
              </a:rPr>
              <a:t>From tomorrow, it runs in G-CORE</a:t>
            </a:r>
            <a:endParaRPr lang="en-US" sz="3000" dirty="0"/>
          </a:p>
        </p:txBody>
      </p:sp>
      <p:sp>
        <p:nvSpPr>
          <p:cNvPr id="4" name="Shape 2"/>
          <p:cNvSpPr/>
          <p:nvPr/>
        </p:nvSpPr>
        <p:spPr>
          <a:xfrm>
            <a:off x="815975" y="1772295"/>
            <a:ext cx="3414157" cy="1829435"/>
          </a:xfrm>
          <a:prstGeom prst="roundRect">
            <a:avLst>
              <a:gd name="adj" fmla="val 5380"/>
            </a:avLst>
          </a:prstGeom>
          <a:solidFill>
            <a:srgbClr val="FFFDF8"/>
          </a:solidFill>
          <a:ln w="6350">
            <a:solidFill>
              <a:srgbClr val="E4DFD3"/>
            </a:solidFill>
            <a:prstDash val="solid"/>
          </a:ln>
        </p:spPr>
      </p:sp>
      <p:pic>
        <p:nvPicPr>
          <p:cNvPr id="5" name="Image 0" descr="Users"/>
          <p:cNvPicPr>
            <a:picLocks noChangeAspect="1"/>
          </p:cNvPicPr>
          <p:nvPr/>
        </p:nvPicPr>
        <p:blipFill>
          <a:blip r:embed="rId3"/>
          <a:srcRect/>
          <a:stretch/>
        </p:blipFill>
        <p:spPr>
          <a:xfrm>
            <a:off x="1021080" y="1977405"/>
            <a:ext cx="304800" cy="304800"/>
          </a:xfrm>
          <a:prstGeom prst="rect">
            <a:avLst/>
          </a:prstGeom>
        </p:spPr>
      </p:pic>
      <p:sp>
        <p:nvSpPr>
          <p:cNvPr id="6" name="Text 3"/>
          <p:cNvSpPr/>
          <p:nvPr/>
        </p:nvSpPr>
        <p:spPr>
          <a:xfrm>
            <a:off x="1021080" y="2358405"/>
            <a:ext cx="309406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238"/>
                </a:solidFill>
                <a:latin typeface="DM Sans" pitchFamily="34" charset="0"/>
                <a:ea typeface="DM Sans" pitchFamily="34" charset="-122"/>
                <a:cs typeface="DM Sans" pitchFamily="34" charset="-120"/>
              </a:rPr>
              <a:t>People</a:t>
            </a:r>
            <a:endParaRPr lang="en-US" sz="1600" dirty="0"/>
          </a:p>
        </p:txBody>
      </p:sp>
      <p:sp>
        <p:nvSpPr>
          <p:cNvPr id="7" name="Text 4"/>
          <p:cNvSpPr/>
          <p:nvPr/>
        </p:nvSpPr>
        <p:spPr>
          <a:xfrm>
            <a:off x="1021080" y="2678435"/>
            <a:ext cx="3094065" cy="743585"/>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160"/>
                </a:solidFill>
                <a:latin typeface="DM Sans" pitchFamily="34" charset="0"/>
                <a:ea typeface="DM Sans" pitchFamily="34" charset="-122"/>
                <a:cs typeface="DM Sans" pitchFamily="34" charset="-120"/>
              </a:rPr>
              <a:t>Every trainee signed in, Reports to and Team set, roles assigned; the workflow audit shows no empty step.</a:t>
            </a:r>
            <a:endParaRPr lang="en-US" sz="1300" dirty="0"/>
          </a:p>
        </p:txBody>
      </p:sp>
      <p:sp>
        <p:nvSpPr>
          <p:cNvPr id="8" name="Shape 5"/>
          <p:cNvSpPr/>
          <p:nvPr/>
        </p:nvSpPr>
        <p:spPr>
          <a:xfrm>
            <a:off x="4388882" y="1772295"/>
            <a:ext cx="3414236" cy="1829435"/>
          </a:xfrm>
          <a:prstGeom prst="roundRect">
            <a:avLst>
              <a:gd name="adj" fmla="val 5380"/>
            </a:avLst>
          </a:prstGeom>
          <a:solidFill>
            <a:srgbClr val="FFFDF8"/>
          </a:solidFill>
          <a:ln w="6350">
            <a:solidFill>
              <a:srgbClr val="E4DFD3"/>
            </a:solidFill>
            <a:prstDash val="solid"/>
          </a:ln>
        </p:spPr>
      </p:sp>
      <p:pic>
        <p:nvPicPr>
          <p:cNvPr id="9" name="Image 1" descr="Database"/>
          <p:cNvPicPr>
            <a:picLocks noChangeAspect="1"/>
          </p:cNvPicPr>
          <p:nvPr/>
        </p:nvPicPr>
        <p:blipFill>
          <a:blip r:embed="rId4"/>
          <a:srcRect/>
          <a:stretch/>
        </p:blipFill>
        <p:spPr>
          <a:xfrm>
            <a:off x="4593987" y="1977405"/>
            <a:ext cx="304800" cy="304800"/>
          </a:xfrm>
          <a:prstGeom prst="rect">
            <a:avLst/>
          </a:prstGeom>
        </p:spPr>
      </p:pic>
      <p:sp>
        <p:nvSpPr>
          <p:cNvPr id="10" name="Text 6"/>
          <p:cNvSpPr/>
          <p:nvPr/>
        </p:nvSpPr>
        <p:spPr>
          <a:xfrm>
            <a:off x="4593987" y="2358405"/>
            <a:ext cx="309414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238"/>
                </a:solidFill>
                <a:latin typeface="DM Sans" pitchFamily="34" charset="0"/>
                <a:ea typeface="DM Sans" pitchFamily="34" charset="-122"/>
                <a:cs typeface="DM Sans" pitchFamily="34" charset="-120"/>
              </a:rPr>
              <a:t>Data</a:t>
            </a:r>
            <a:endParaRPr lang="en-US" sz="1600" dirty="0"/>
          </a:p>
        </p:txBody>
      </p:sp>
      <p:sp>
        <p:nvSpPr>
          <p:cNvPr id="11" name="Text 7"/>
          <p:cNvSpPr/>
          <p:nvPr/>
        </p:nvSpPr>
        <p:spPr>
          <a:xfrm>
            <a:off x="4593987" y="2678435"/>
            <a:ext cx="3094147" cy="743585"/>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160"/>
                </a:solidFill>
                <a:latin typeface="DM Sans" pitchFamily="34" charset="0"/>
                <a:ea typeface="DM Sans" pitchFamily="34" charset="-122"/>
                <a:cs typeface="DM Sans" pitchFamily="34" charset="-120"/>
              </a:rPr>
              <a:t>Running projects entered, suppliers and items loaded (CSV import), warehouse opening stock received.</a:t>
            </a:r>
            <a:endParaRPr lang="en-US" sz="1300" dirty="0"/>
          </a:p>
        </p:txBody>
      </p:sp>
      <p:sp>
        <p:nvSpPr>
          <p:cNvPr id="12" name="Shape 8"/>
          <p:cNvSpPr/>
          <p:nvPr/>
        </p:nvSpPr>
        <p:spPr>
          <a:xfrm>
            <a:off x="7961868" y="1772295"/>
            <a:ext cx="3414157" cy="1829435"/>
          </a:xfrm>
          <a:prstGeom prst="roundRect">
            <a:avLst>
              <a:gd name="adj" fmla="val 5380"/>
            </a:avLst>
          </a:prstGeom>
          <a:solidFill>
            <a:srgbClr val="FFFDF8"/>
          </a:solidFill>
          <a:ln w="6350">
            <a:solidFill>
              <a:srgbClr val="E4DFD3"/>
            </a:solidFill>
            <a:prstDash val="solid"/>
          </a:ln>
        </p:spPr>
      </p:sp>
      <p:pic>
        <p:nvPicPr>
          <p:cNvPr id="13" name="Image 2" descr="Lightning"/>
          <p:cNvPicPr>
            <a:picLocks noChangeAspect="1"/>
          </p:cNvPicPr>
          <p:nvPr/>
        </p:nvPicPr>
        <p:blipFill>
          <a:blip r:embed="rId5"/>
          <a:srcRect/>
          <a:stretch/>
        </p:blipFill>
        <p:spPr>
          <a:xfrm>
            <a:off x="8166974" y="1977405"/>
            <a:ext cx="304800" cy="304800"/>
          </a:xfrm>
          <a:prstGeom prst="rect">
            <a:avLst/>
          </a:prstGeom>
        </p:spPr>
      </p:pic>
      <p:sp>
        <p:nvSpPr>
          <p:cNvPr id="14" name="Text 9"/>
          <p:cNvSpPr/>
          <p:nvPr/>
        </p:nvSpPr>
        <p:spPr>
          <a:xfrm>
            <a:off x="8166974" y="2358405"/>
            <a:ext cx="309406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238"/>
                </a:solidFill>
                <a:latin typeface="DM Sans" pitchFamily="34" charset="0"/>
                <a:ea typeface="DM Sans" pitchFamily="34" charset="-122"/>
                <a:cs typeface="DM Sans" pitchFamily="34" charset="-120"/>
              </a:rPr>
              <a:t>Habits</a:t>
            </a:r>
            <a:endParaRPr lang="en-US" sz="1600" dirty="0"/>
          </a:p>
        </p:txBody>
      </p:sp>
      <p:sp>
        <p:nvSpPr>
          <p:cNvPr id="15" name="Text 10"/>
          <p:cNvSpPr/>
          <p:nvPr/>
        </p:nvSpPr>
        <p:spPr>
          <a:xfrm>
            <a:off x="8166974" y="2678435"/>
            <a:ext cx="3094065" cy="743585"/>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160"/>
                </a:solidFill>
                <a:latin typeface="DM Sans" pitchFamily="34" charset="0"/>
                <a:ea typeface="DM Sans" pitchFamily="34" charset="-122"/>
                <a:cs typeface="DM Sans" pitchFamily="34" charset="-120"/>
              </a:rPr>
              <a:t>No paper PR, PO or cash request outside G-CORE. Check My Work every morning. Problems go in </a:t>
            </a:r>
            <a:r>
              <a:rPr lang="en-US" sz="1300" b="1" dirty="0">
                <a:solidFill>
                  <a:srgbClr val="4A5160"/>
                </a:solidFill>
                <a:latin typeface="DM Sans" pitchFamily="34" charset="0"/>
                <a:ea typeface="DM Sans" pitchFamily="34" charset="-122"/>
                <a:cs typeface="DM Sans" pitchFamily="34" charset="-120"/>
              </a:rPr>
              <a:t>? Help</a:t>
            </a:r>
            <a:r>
              <a:rPr lang="en-US" sz="1300" dirty="0">
                <a:solidFill>
                  <a:srgbClr val="4A5160"/>
                </a:solidFill>
                <a:latin typeface="DM Sans" pitchFamily="34" charset="0"/>
                <a:ea typeface="DM Sans" pitchFamily="34" charset="-122"/>
                <a:cs typeface="DM Sans" pitchFamily="34" charset="-120"/>
              </a:rPr>
              <a:t>.</a:t>
            </a:r>
            <a:endParaRPr lang="en-US" sz="1300" dirty="0"/>
          </a:p>
        </p:txBody>
      </p:sp>
      <p:sp>
        <p:nvSpPr>
          <p:cNvPr id="16" name="Text 11"/>
          <p:cNvSpPr/>
          <p:nvPr/>
        </p:nvSpPr>
        <p:spPr>
          <a:xfrm>
            <a:off x="812800" y="6238255"/>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DM Sans" pitchFamily="34" charset="0"/>
                <a:ea typeface="DM Sans" pitchFamily="34" charset="-122"/>
                <a:cs typeface="DM Sans" pitchFamily="34" charset="-120"/>
              </a:rPr>
              <a:t>G-CORE Training · Go-live</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1B2238"/>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2E9A4B"/>
          </a:solidFill>
          <a:ln/>
        </p:spPr>
      </p:sp>
      <p:sp>
        <p:nvSpPr>
          <p:cNvPr id="3" name="Text 1"/>
          <p:cNvSpPr/>
          <p:nvPr/>
        </p:nvSpPr>
        <p:spPr>
          <a:xfrm>
            <a:off x="812800" y="224537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kern="0" spc="200" dirty="0">
                <a:solidFill>
                  <a:srgbClr val="9FD3AE"/>
                </a:solidFill>
                <a:latin typeface="DM Sans" pitchFamily="34" charset="0"/>
                <a:ea typeface="DM Sans" pitchFamily="34" charset="-122"/>
                <a:cs typeface="DM Sans" pitchFamily="34" charset="-120"/>
              </a:rPr>
              <a:t>QUESTIONS</a:t>
            </a:r>
            <a:endParaRPr lang="en-US" sz="1400" dirty="0"/>
          </a:p>
        </p:txBody>
      </p:sp>
      <p:sp>
        <p:nvSpPr>
          <p:cNvPr id="4" name="Text 2"/>
          <p:cNvSpPr>
            <a:spLocks noGrp="1"/>
          </p:cNvSpPr>
          <p:nvPr>
            <p:ph type="title"/>
          </p:nvPr>
        </p:nvSpPr>
        <p:spPr>
          <a:xfrm>
            <a:off x="812800" y="2722885"/>
            <a:ext cx="10883392" cy="1366520"/>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F7F5F0"/>
                </a:solidFill>
                <a:latin typeface="Domine" pitchFamily="18" charset="0"/>
                <a:ea typeface="Domine" pitchFamily="18" charset="-122"/>
                <a:cs typeface="Domine" pitchFamily="18" charset="-120"/>
              </a:rPr>
              <a:t>Documents move the money.</a:t>
            </a:r>
            <a:endParaRPr lang="en-US" sz="4800" dirty="0"/>
          </a:p>
          <a:p>
            <a:pPr marL="0" indent="0" algn="l">
              <a:lnSpc>
                <a:spcPts val="5280"/>
              </a:lnSpc>
              <a:buNone/>
            </a:pPr>
            <a:r>
              <a:rPr lang="en-US" sz="4800" b="1" i="0" dirty="0">
                <a:solidFill>
                  <a:srgbClr val="F7F5F0"/>
                </a:solidFill>
                <a:latin typeface="Domine" pitchFamily="18" charset="0"/>
                <a:ea typeface="Domine" pitchFamily="18" charset="-122"/>
                <a:cs typeface="Domine" pitchFamily="18" charset="-120"/>
              </a:rPr>
              <a:t>Approvals move the documents.</a:t>
            </a:r>
            <a:endParaRPr lang="en-US" sz="4800" dirty="0"/>
          </a:p>
        </p:txBody>
      </p:sp>
      <p:sp>
        <p:nvSpPr>
          <p:cNvPr id="5" name="Text 3"/>
          <p:cNvSpPr/>
          <p:nvPr/>
        </p:nvSpPr>
        <p:spPr>
          <a:xfrm>
            <a:off x="812800" y="4292600"/>
            <a:ext cx="10883392" cy="34544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C9CEDB"/>
                </a:solidFill>
                <a:latin typeface="DM Sans" pitchFamily="34" charset="0"/>
                <a:ea typeface="DM Sans" pitchFamily="34" charset="-122"/>
                <a:cs typeface="DM Sans" pitchFamily="34" charset="-120"/>
              </a:rPr>
              <a:t>Lunch, then we build the project together.</a:t>
            </a:r>
            <a:endParaRPr lang="en-US" sz="1800" dirty="0"/>
          </a:p>
        </p:txBody>
      </p:sp>
      <p:sp>
        <p:nvSpPr>
          <p:cNvPr id="6" name="Text 4"/>
          <p:cNvSpPr/>
          <p:nvPr/>
        </p:nvSpPr>
        <p:spPr>
          <a:xfrm>
            <a:off x="812800" y="623823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3B8"/>
                </a:solidFill>
                <a:latin typeface="DM Sans" pitchFamily="34" charset="0"/>
                <a:ea typeface="DM Sans" pitchFamily="34" charset="-122"/>
                <a:cs typeface="DM Sans" pitchFamily="34" charset="-120"/>
              </a:rPr>
              <a:t>gruntech.gcore.tech · ? Help in the top bar · Trainer: [Name]</a:t>
            </a:r>
            <a:endParaRPr lang="en-US" sz="1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1B2238"/>
        </a:solidFill>
        <a:effectLst/>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9A6EE"/>
                </a:solidFill>
                <a:latin typeface="DM Sans" pitchFamily="34" charset="0"/>
                <a:ea typeface="DM Sans" pitchFamily="34" charset="-122"/>
                <a:cs typeface="DM Sans" pitchFamily="34" charset="-120"/>
              </a:rPr>
              <a:t>ON SCREEN · PROJECT MANAGEMENT</a:t>
            </a:r>
            <a:endParaRPr lang="en-US" sz="1200" dirty="0"/>
          </a:p>
        </p:txBody>
      </p:sp>
      <p:sp>
        <p:nvSpPr>
          <p:cNvPr id="3" name="Text 1"/>
          <p:cNvSpPr>
            <a:spLocks noGrp="1"/>
          </p:cNvSpPr>
          <p:nvPr>
            <p:ph type="title"/>
          </p:nvPr>
        </p:nvSpPr>
        <p:spPr>
          <a:xfrm>
            <a:off x="609600" y="746770"/>
            <a:ext cx="11301984"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F7F5F0"/>
                </a:solidFill>
                <a:latin typeface="Domine" pitchFamily="18" charset="0"/>
                <a:ea typeface="Domine" pitchFamily="18" charset="-122"/>
                <a:cs typeface="Domine" pitchFamily="18" charset="-120"/>
              </a:rPr>
              <a:t>Progress &amp; Billing tab</a:t>
            </a:r>
            <a:endParaRPr lang="en-US" sz="2400" dirty="0"/>
          </a:p>
        </p:txBody>
      </p:sp>
      <p:sp>
        <p:nvSpPr>
          <p:cNvPr id="4" name="Shape 2"/>
          <p:cNvSpPr/>
          <p:nvPr/>
        </p:nvSpPr>
        <p:spPr>
          <a:xfrm>
            <a:off x="609600" y="1173510"/>
            <a:ext cx="8001000" cy="4502150"/>
          </a:xfrm>
          <a:prstGeom prst="roundRect">
            <a:avLst>
              <a:gd name="adj" fmla="val 1693"/>
            </a:avLst>
          </a:prstGeom>
          <a:solidFill>
            <a:srgbClr val="F7F5F0"/>
          </a:solidFill>
          <a:ln/>
        </p:spPr>
      </p:sp>
      <p:pic>
        <p:nvPicPr>
          <p:cNvPr id="5" name="Image 0" descr="G-CORE screen: Progress &amp; Billing tab"/>
          <p:cNvPicPr>
            <a:picLocks noChangeAspect="1"/>
          </p:cNvPicPr>
          <p:nvPr/>
        </p:nvPicPr>
        <p:blipFill>
          <a:blip r:embed="rId3"/>
          <a:srcRect l="-106" r="-106"/>
          <a:stretch/>
        </p:blipFill>
        <p:spPr>
          <a:xfrm>
            <a:off x="622300" y="1186210"/>
            <a:ext cx="7975600" cy="4476750"/>
          </a:xfrm>
          <a:prstGeom prst="roundRect">
            <a:avLst>
              <a:gd name="adj" fmla="val 1418"/>
            </a:avLst>
          </a:prstGeom>
        </p:spPr>
      </p:pic>
      <p:sp>
        <p:nvSpPr>
          <p:cNvPr id="6" name="Shape 3"/>
          <p:cNvSpPr/>
          <p:nvPr/>
        </p:nvSpPr>
        <p:spPr>
          <a:xfrm>
            <a:off x="615950" y="1179860"/>
            <a:ext cx="7988300" cy="4489450"/>
          </a:xfrm>
          <a:prstGeom prst="roundRect">
            <a:avLst>
              <a:gd name="adj" fmla="val 1556"/>
            </a:avLst>
          </a:prstGeom>
          <a:noFill/>
          <a:ln w="12700">
            <a:solidFill>
              <a:srgbClr val="3A4466"/>
            </a:solidFill>
            <a:prstDash val="solid"/>
          </a:ln>
        </p:spPr>
      </p:sp>
      <p:sp>
        <p:nvSpPr>
          <p:cNvPr id="7" name="Text 4"/>
          <p:cNvSpPr/>
          <p:nvPr/>
        </p:nvSpPr>
        <p:spPr>
          <a:xfrm>
            <a:off x="8864600" y="1275110"/>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C9A6E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1</a:t>
            </a:r>
            <a:endParaRPr lang="en-US" sz="1300" dirty="0"/>
          </a:p>
        </p:txBody>
      </p:sp>
      <p:sp>
        <p:nvSpPr>
          <p:cNvPr id="8" name="Text 5"/>
          <p:cNvSpPr/>
          <p:nvPr/>
        </p:nvSpPr>
        <p:spPr>
          <a:xfrm>
            <a:off x="9283700" y="1275110"/>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Every report of the project, numbered in order.</a:t>
            </a:r>
            <a:endParaRPr lang="en-US" sz="1400" dirty="0"/>
          </a:p>
        </p:txBody>
      </p:sp>
      <p:sp>
        <p:nvSpPr>
          <p:cNvPr id="9" name="Text 6"/>
          <p:cNvSpPr/>
          <p:nvPr/>
        </p:nvSpPr>
        <p:spPr>
          <a:xfrm>
            <a:off x="8864600" y="1976140"/>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C9A6E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2</a:t>
            </a:r>
            <a:endParaRPr lang="en-US" sz="1300" dirty="0"/>
          </a:p>
        </p:txBody>
      </p:sp>
      <p:sp>
        <p:nvSpPr>
          <p:cNvPr id="10" name="Text 7"/>
          <p:cNvSpPr/>
          <p:nvPr/>
        </p:nvSpPr>
        <p:spPr>
          <a:xfrm>
            <a:off x="9283700" y="1976140"/>
            <a:ext cx="2367661"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 New progress report carries the last figures forward.</a:t>
            </a:r>
            <a:endParaRPr lang="en-US" sz="1400" dirty="0"/>
          </a:p>
        </p:txBody>
      </p:sp>
      <p:sp>
        <p:nvSpPr>
          <p:cNvPr id="11" name="Text 8"/>
          <p:cNvSpPr/>
          <p:nvPr/>
        </p:nvSpPr>
        <p:spPr>
          <a:xfrm>
            <a:off x="8864600" y="2926110"/>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C9A6EE"/>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3</a:t>
            </a:r>
            <a:endParaRPr lang="en-US" sz="1300" dirty="0"/>
          </a:p>
        </p:txBody>
      </p:sp>
      <p:sp>
        <p:nvSpPr>
          <p:cNvPr id="12" name="Text 9"/>
          <p:cNvSpPr/>
          <p:nvPr/>
        </p:nvSpPr>
        <p:spPr>
          <a:xfrm>
            <a:off x="9283700" y="2926110"/>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Billings raised from approved reports.</a:t>
            </a:r>
            <a:endParaRPr lang="en-US" sz="14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B2238"/>
        </a:solidFill>
        <a:effectLst/>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B872"/>
                </a:solidFill>
                <a:latin typeface="DM Sans" pitchFamily="34" charset="0"/>
                <a:ea typeface="DM Sans" pitchFamily="34" charset="-122"/>
                <a:cs typeface="DM Sans" pitchFamily="34" charset="-120"/>
              </a:rPr>
              <a:t>ON SCREEN · G-FIN MONEY OUT</a:t>
            </a:r>
            <a:endParaRPr lang="en-US" sz="1200" dirty="0"/>
          </a:p>
        </p:txBody>
      </p:sp>
      <p:sp>
        <p:nvSpPr>
          <p:cNvPr id="3" name="Text 1"/>
          <p:cNvSpPr>
            <a:spLocks noGrp="1"/>
          </p:cNvSpPr>
          <p:nvPr>
            <p:ph type="title"/>
          </p:nvPr>
        </p:nvSpPr>
        <p:spPr>
          <a:xfrm>
            <a:off x="609600" y="746770"/>
            <a:ext cx="11301984" cy="37592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F7F5F0"/>
                </a:solidFill>
                <a:latin typeface="Domine" pitchFamily="18" charset="0"/>
                <a:ea typeface="Domine" pitchFamily="18" charset="-122"/>
                <a:cs typeface="Domine" pitchFamily="18" charset="-120"/>
              </a:rPr>
              <a:t>The Reimbursements register</a:t>
            </a:r>
            <a:endParaRPr lang="en-US" sz="2400" dirty="0"/>
          </a:p>
        </p:txBody>
      </p:sp>
      <p:sp>
        <p:nvSpPr>
          <p:cNvPr id="4" name="Shape 2"/>
          <p:cNvSpPr/>
          <p:nvPr/>
        </p:nvSpPr>
        <p:spPr>
          <a:xfrm>
            <a:off x="609600" y="1173510"/>
            <a:ext cx="8001000" cy="4502150"/>
          </a:xfrm>
          <a:prstGeom prst="roundRect">
            <a:avLst>
              <a:gd name="adj" fmla="val 1693"/>
            </a:avLst>
          </a:prstGeom>
          <a:solidFill>
            <a:srgbClr val="F7F5F0"/>
          </a:solidFill>
          <a:ln/>
        </p:spPr>
      </p:sp>
      <p:pic>
        <p:nvPicPr>
          <p:cNvPr id="5" name="Image 0" descr="G-CORE screen: The Reimbursements register"/>
          <p:cNvPicPr>
            <a:picLocks noChangeAspect="1"/>
          </p:cNvPicPr>
          <p:nvPr/>
        </p:nvPicPr>
        <p:blipFill>
          <a:blip r:embed="rId3"/>
          <a:srcRect l="-106" r="-106"/>
          <a:stretch/>
        </p:blipFill>
        <p:spPr>
          <a:xfrm>
            <a:off x="622300" y="1186210"/>
            <a:ext cx="7975600" cy="4476750"/>
          </a:xfrm>
          <a:prstGeom prst="roundRect">
            <a:avLst>
              <a:gd name="adj" fmla="val 1418"/>
            </a:avLst>
          </a:prstGeom>
        </p:spPr>
      </p:pic>
      <p:sp>
        <p:nvSpPr>
          <p:cNvPr id="6" name="Shape 3"/>
          <p:cNvSpPr/>
          <p:nvPr/>
        </p:nvSpPr>
        <p:spPr>
          <a:xfrm>
            <a:off x="615950" y="1179860"/>
            <a:ext cx="7988300" cy="4489450"/>
          </a:xfrm>
          <a:prstGeom prst="roundRect">
            <a:avLst>
              <a:gd name="adj" fmla="val 1556"/>
            </a:avLst>
          </a:prstGeom>
          <a:noFill/>
          <a:ln w="12700">
            <a:solidFill>
              <a:srgbClr val="3A4466"/>
            </a:solidFill>
            <a:prstDash val="solid"/>
          </a:ln>
        </p:spPr>
      </p:sp>
      <p:sp>
        <p:nvSpPr>
          <p:cNvPr id="7" name="Text 4"/>
          <p:cNvSpPr/>
          <p:nvPr/>
        </p:nvSpPr>
        <p:spPr>
          <a:xfrm>
            <a:off x="8864600" y="1275110"/>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F2B872"/>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1</a:t>
            </a:r>
            <a:endParaRPr lang="en-US" sz="1300" dirty="0"/>
          </a:p>
        </p:txBody>
      </p:sp>
      <p:sp>
        <p:nvSpPr>
          <p:cNvPr id="8" name="Text 5"/>
          <p:cNvSpPr/>
          <p:nvPr/>
        </p:nvSpPr>
        <p:spPr>
          <a:xfrm>
            <a:off x="9283700" y="1275110"/>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Cards: total, pending, for release, paid out.</a:t>
            </a:r>
            <a:endParaRPr lang="en-US" sz="1400" dirty="0"/>
          </a:p>
        </p:txBody>
      </p:sp>
      <p:sp>
        <p:nvSpPr>
          <p:cNvPr id="9" name="Text 6"/>
          <p:cNvSpPr/>
          <p:nvPr/>
        </p:nvSpPr>
        <p:spPr>
          <a:xfrm>
            <a:off x="8864600" y="1976140"/>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F2B872"/>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2</a:t>
            </a:r>
            <a:endParaRPr lang="en-US" sz="1300" dirty="0"/>
          </a:p>
        </p:txBody>
      </p:sp>
      <p:sp>
        <p:nvSpPr>
          <p:cNvPr id="10" name="Text 7"/>
          <p:cNvSpPr/>
          <p:nvPr/>
        </p:nvSpPr>
        <p:spPr>
          <a:xfrm>
            <a:off x="9283700" y="1976140"/>
            <a:ext cx="236766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Status in plain words: TL Approval, Checking …</a:t>
            </a:r>
            <a:endParaRPr lang="en-US" sz="1400" dirty="0"/>
          </a:p>
        </p:txBody>
      </p:sp>
      <p:sp>
        <p:nvSpPr>
          <p:cNvPr id="11" name="Text 8"/>
          <p:cNvSpPr/>
          <p:nvPr/>
        </p:nvSpPr>
        <p:spPr>
          <a:xfrm>
            <a:off x="8864600" y="2677170"/>
            <a:ext cx="304800" cy="304800"/>
          </a:xfrm>
          <a:custGeom>
            <a:avLst/>
            <a:gdLst/>
            <a:ahLst/>
            <a:cxnLst/>
            <a:rect l="l" t="t" r="r" b="b"/>
            <a:pathLst>
              <a:path w="304800" h="304800">
                <a:moveTo>
                  <a:pt x="152400" y="0"/>
                </a:moveTo>
                <a:lnTo>
                  <a:pt x="152400" y="0"/>
                </a:lnTo>
                <a:arcTo wR="152400" hR="152400" stAng="16200000" swAng="5400000"/>
                <a:lnTo>
                  <a:pt x="304800" y="152400"/>
                </a:lnTo>
                <a:arcTo wR="152400" hR="152400" stAng="0" swAng="5400000"/>
                <a:lnTo>
                  <a:pt x="152400" y="304800"/>
                </a:lnTo>
                <a:arcTo wR="152400" hR="152400" stAng="5400000" swAng="5400000"/>
                <a:lnTo>
                  <a:pt x="0" y="152400"/>
                </a:lnTo>
                <a:arcTo wR="152400" hR="152400" stAng="10800000" swAng="5400000"/>
                <a:close/>
              </a:path>
            </a:pathLst>
          </a:custGeom>
          <a:solidFill>
            <a:srgbClr val="F2B872"/>
          </a:solidFill>
          <a:ln/>
        </p:spPr>
        <p:txBody>
          <a:bodyPr wrap="square" lIns="0" tIns="0" rIns="0" bIns="0" rtlCol="0" anchor="ctr">
            <a:normAutofit/>
          </a:bodyPr>
          <a:lstStyle/>
          <a:p>
            <a:pPr marL="0" indent="0" algn="ctr">
              <a:lnSpc>
                <a:spcPts val="1820"/>
              </a:lnSpc>
              <a:buNone/>
            </a:pPr>
            <a:r>
              <a:rPr lang="en-US" sz="1300" b="1" dirty="0">
                <a:solidFill>
                  <a:srgbClr val="1B2238"/>
                </a:solidFill>
                <a:latin typeface="DM Sans" pitchFamily="34" charset="0"/>
                <a:ea typeface="DM Sans" pitchFamily="34" charset="-122"/>
                <a:cs typeface="DM Sans" pitchFamily="34" charset="-120"/>
              </a:rPr>
              <a:t>3</a:t>
            </a:r>
            <a:endParaRPr lang="en-US" sz="1300" dirty="0"/>
          </a:p>
        </p:txBody>
      </p:sp>
      <p:sp>
        <p:nvSpPr>
          <p:cNvPr id="12" name="Text 9"/>
          <p:cNvSpPr/>
          <p:nvPr/>
        </p:nvSpPr>
        <p:spPr>
          <a:xfrm>
            <a:off x="9283700" y="2677170"/>
            <a:ext cx="2194465"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DM Sans" pitchFamily="34" charset="0"/>
                <a:ea typeface="DM Sans" pitchFamily="34" charset="-122"/>
                <a:cs typeface="DM Sans" pitchFamily="34" charset="-120"/>
              </a:rPr>
              <a:t>+ Add reimbursement.</a:t>
            </a:r>
            <a:endParaRPr lang="en-US" sz="1400" dirty="0"/>
          </a:p>
        </p:txBody>
      </p:sp>
    </p:spTree>
  </p:cSld>
  <p:clrMapOvr>
    <a:masterClrMapping/>
  </p:clrMapOvr>
</p:sld>
</file>

<file path=ppt/theme/theme1.xml><?xml version="1.0" encoding="utf-8"?>
<a:theme xmlns:a="http://schemas.openxmlformats.org/drawingml/2006/main" name="G-CORE Training — Projects, Procurement &amp; Money Out">
  <a:themeElements>
    <a:clrScheme name="G-CORE Training — Projects, Procurement &amp; Money Out">
      <a:dk1>
        <a:srgbClr val="1B2238"/>
      </a:dk1>
      <a:lt1>
        <a:srgbClr val="F7F5F0"/>
      </a:lt1>
      <a:dk2>
        <a:srgbClr val="525766"/>
      </a:dk2>
      <a:lt2>
        <a:srgbClr val="E1E0DE"/>
      </a:lt2>
      <a:accent1>
        <a:srgbClr val="C9A6EE"/>
      </a:accent1>
      <a:accent2>
        <a:srgbClr val="9FD3AE"/>
      </a:accent2>
      <a:accent3>
        <a:srgbClr val="5B2A8C"/>
      </a:accent3>
      <a:accent4>
        <a:srgbClr val="F2B872"/>
      </a:accent4>
      <a:accent5>
        <a:srgbClr val="2E7D41"/>
      </a:accent5>
      <a:accent6>
        <a:srgbClr val="A0560C"/>
      </a:accent6>
      <a:hlink>
        <a:srgbClr val="0563C1"/>
      </a:hlink>
      <a:folHlink>
        <a:srgbClr val="954F72"/>
      </a:folHlink>
    </a:clrScheme>
    <a:fontScheme name="G-CORE Training — Projects, Procurement &amp; Money Out">
      <a:majorFont>
        <a:latin typeface="Domin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6895</Words>
  <Application>Microsoft Office PowerPoint</Application>
  <PresentationFormat>Widescreen</PresentationFormat>
  <Paragraphs>798</Paragraphs>
  <Slides>63</Slides>
  <Notes>63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63</vt:i4>
      </vt:variant>
    </vt:vector>
  </HeadingPairs>
  <TitlesOfParts>
    <vt:vector size="67" baseType="lpstr">
      <vt:lpstr>Arial</vt:lpstr>
      <vt:lpstr>DM Sans</vt:lpstr>
      <vt:lpstr>Domine</vt:lpstr>
      <vt:lpstr>G-CORE Training — Projects, Procurement &amp; Money Out</vt:lpstr>
      <vt:lpstr>Projects, Procurement &amp; Money Out</vt:lpstr>
      <vt:lpstr>Today’s plan, block by block</vt:lpstr>
      <vt:lpstr>One sale, one project, one ledger</vt:lpstr>
      <vt:lpstr>Working in G-CORE</vt:lpstr>
      <vt:lpstr>Three screens you will meet everywhere</vt:lpstr>
      <vt:lpstr>The launcher: four divisions and My Work</vt:lpstr>
      <vt:lpstr>One approval path for every document</vt:lpstr>
      <vt:lpstr>My Work: every approval in one queue</vt:lpstr>
      <vt:lpstr>Project Management</vt:lpstr>
      <vt:lpstr>The project’s life in six steps</vt:lpstr>
      <vt:lpstr>The costing sheet: cost, margin, scope</vt:lpstr>
      <vt:lpstr>The costing sheet</vt:lpstr>
      <vt:lpstr>The job order is the project work order</vt:lpstr>
      <vt:lpstr>A job order waiting on its approver</vt:lpstr>
      <vt:lpstr>Everything about a project, one tab away</vt:lpstr>
      <vt:lpstr>The project workspace</vt:lpstr>
      <vt:lpstr>Plan the work on the Gantt chart</vt:lpstr>
      <vt:lpstr>Scope of Work as a Gantt chart</vt:lpstr>
      <vt:lpstr>CAD J.O. → Request for Approval</vt:lpstr>
      <vt:lpstr>A Request for Approval, still a draft</vt:lpstr>
      <vt:lpstr>One report per period, weighed by value</vt:lpstr>
      <vt:lpstr>The Accomplishment Report</vt:lpstr>
      <vt:lpstr>Bill only what the report added</vt:lpstr>
      <vt:lpstr>Budget Monitoring</vt:lpstr>
      <vt:lpstr>Meetings &amp; minutes</vt:lpstr>
      <vt:lpstr>Book it, link it, invite people</vt:lpstr>
      <vt:lpstr>A meeting page</vt:lpstr>
      <vt:lpstr>Recorded once, agreed by those who attended</vt:lpstr>
      <vt:lpstr>Minutes out for agreement</vt:lpstr>
      <vt:lpstr>10-minute break</vt:lpstr>
      <vt:lpstr>G-CHAIN procurement</vt:lpstr>
      <vt:lpstr>From a need to goods on site</vt:lpstr>
      <vt:lpstr>A full-page requisition with a live budget</vt:lpstr>
      <vt:lpstr>The purchase requisition page</vt:lpstr>
      <vt:lpstr>Ask suppliers, compare, award</vt:lpstr>
      <vt:lpstr>The canvass comparison sheet</vt:lpstr>
      <vt:lpstr>Order it, then receive it</vt:lpstr>
      <vt:lpstr>An issued purchase order</vt:lpstr>
      <vt:lpstr>An Incoming report, before approval</vt:lpstr>
      <vt:lpstr>Keeping and releasing stock</vt:lpstr>
      <vt:lpstr>Inventory</vt:lpstr>
      <vt:lpstr>An Outgoing slip (Delivery Receipt)</vt:lpstr>
      <vt:lpstr>A Report button on every list</vt:lpstr>
      <vt:lpstr>Supply Chain Reports</vt:lpstr>
      <vt:lpstr>G-FIN money out</vt:lpstr>
      <vt:lpstr>Three ways money goes out to people</vt:lpstr>
      <vt:lpstr>Project cash: request → release</vt:lpstr>
      <vt:lpstr>The Budget Requests register</vt:lpstr>
      <vt:lpstr>Account for every peso released</vt:lpstr>
      <vt:lpstr>A budget request page</vt:lpstr>
      <vt:lpstr>Five signatures, status in plain words</vt:lpstr>
      <vt:lpstr>A reimbursement waiting on its approver</vt:lpstr>
      <vt:lpstr>Money lent, repaid in payments</vt:lpstr>
      <vt:lpstr>Cash Advances</vt:lpstr>
      <vt:lpstr>Who signs what</vt:lpstr>
      <vt:lpstr>A step nobody holds is a document that stalls</vt:lpstr>
      <vt:lpstr>Build a real project, end to end</vt:lpstr>
      <vt:lpstr>Four rounds, one project</vt:lpstr>
      <vt:lpstr>Tick each step as it lands</vt:lpstr>
      <vt:lpstr>From tomorrow, it runs in G-CORE</vt:lpstr>
      <vt:lpstr>Documents move the money. Approvals move the documents.</vt:lpstr>
      <vt:lpstr>Progress &amp; Billing tab</vt:lpstr>
      <vt:lpstr>The Reimbursements register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G-CORE Training — Projects, Procurement &amp; Money Out</dc:title>
  <dc:subject/>
  <dc:creator/>
  <cp:lastModifiedBy>Jhon Russel Balicas</cp:lastModifiedBy>
  <cp:revision>2</cp:revision>
  <dcterms:created xsi:type="dcterms:W3CDTF">2026-10-15T00:12:34Z</dcterms:created>
  <dcterms:modified xsi:type="dcterms:W3CDTF">2026-10-15T00:13:40Z</dcterms:modified>
</cp:coreProperties>
</file>